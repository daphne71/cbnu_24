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9" r:id="rId1"/>
    <p:sldMasterId id="2147483795" r:id="rId2"/>
  </p:sldMasterIdLst>
  <p:notesMasterIdLst>
    <p:notesMasterId r:id="rId22"/>
  </p:notesMasterIdLst>
  <p:handoutMasterIdLst>
    <p:handoutMasterId r:id="rId23"/>
  </p:handoutMasterIdLst>
  <p:sldIdLst>
    <p:sldId id="449" r:id="rId3"/>
    <p:sldId id="1008" r:id="rId4"/>
    <p:sldId id="1026" r:id="rId5"/>
    <p:sldId id="999" r:id="rId6"/>
    <p:sldId id="1019" r:id="rId7"/>
    <p:sldId id="1033" r:id="rId8"/>
    <p:sldId id="1020" r:id="rId9"/>
    <p:sldId id="1035" r:id="rId10"/>
    <p:sldId id="1027" r:id="rId11"/>
    <p:sldId id="1028" r:id="rId12"/>
    <p:sldId id="1032" r:id="rId13"/>
    <p:sldId id="1021" r:id="rId14"/>
    <p:sldId id="1022" r:id="rId15"/>
    <p:sldId id="1030" r:id="rId16"/>
    <p:sldId id="1031" r:id="rId17"/>
    <p:sldId id="1023" r:id="rId18"/>
    <p:sldId id="1024" r:id="rId19"/>
    <p:sldId id="1013" r:id="rId20"/>
    <p:sldId id="1006" r:id="rId21"/>
  </p:sldIdLst>
  <p:sldSz cx="9144000" cy="6858000" type="screen4x3"/>
  <p:notesSz cx="6797675" cy="9926638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kern="1200">
        <a:solidFill>
          <a:srgbClr val="00C0C0"/>
        </a:solidFill>
        <a:latin typeface="Arial" pitchFamily="34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ern="1200">
        <a:solidFill>
          <a:srgbClr val="00C0C0"/>
        </a:solidFill>
        <a:latin typeface="Arial" pitchFamily="34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ern="1200">
        <a:solidFill>
          <a:srgbClr val="00C0C0"/>
        </a:solidFill>
        <a:latin typeface="Arial" pitchFamily="34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ern="1200">
        <a:solidFill>
          <a:srgbClr val="00C0C0"/>
        </a:solidFill>
        <a:latin typeface="Arial" pitchFamily="34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ern="1200">
        <a:solidFill>
          <a:srgbClr val="00C0C0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1" hangingPunct="1">
      <a:defRPr kern="1200">
        <a:solidFill>
          <a:srgbClr val="00C0C0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1" hangingPunct="1">
      <a:defRPr kern="1200">
        <a:solidFill>
          <a:srgbClr val="00C0C0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1" hangingPunct="1">
      <a:defRPr kern="1200">
        <a:solidFill>
          <a:srgbClr val="00C0C0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1" hangingPunct="1">
      <a:defRPr kern="1200">
        <a:solidFill>
          <a:srgbClr val="00C0C0"/>
        </a:solidFill>
        <a:latin typeface="Arial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4CEE8726-F9F3-41AF-B5F6-E34B9A5B6B90}">
          <p14:sldIdLst>
            <p14:sldId id="449"/>
            <p14:sldId id="1008"/>
            <p14:sldId id="1026"/>
            <p14:sldId id="999"/>
            <p14:sldId id="1019"/>
            <p14:sldId id="1033"/>
            <p14:sldId id="1020"/>
            <p14:sldId id="1035"/>
            <p14:sldId id="1027"/>
            <p14:sldId id="1028"/>
            <p14:sldId id="1032"/>
            <p14:sldId id="1021"/>
            <p14:sldId id="1022"/>
            <p14:sldId id="1030"/>
            <p14:sldId id="1031"/>
            <p14:sldId id="1023"/>
            <p14:sldId id="1024"/>
            <p14:sldId id="1013"/>
            <p14:sldId id="100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92" userDrawn="1">
          <p15:clr>
            <a:srgbClr val="A4A3A4"/>
          </p15:clr>
        </p15:guide>
        <p15:guide id="2" orient="horz" pos="813" userDrawn="1">
          <p15:clr>
            <a:srgbClr val="A4A3A4"/>
          </p15:clr>
        </p15:guide>
        <p15:guide id="3" orient="horz" pos="1122" userDrawn="1">
          <p15:clr>
            <a:srgbClr val="A4A3A4"/>
          </p15:clr>
        </p15:guide>
        <p15:guide id="4" orient="horz" pos="3537" userDrawn="1">
          <p15:clr>
            <a:srgbClr val="A4A3A4"/>
          </p15:clr>
        </p15:guide>
        <p15:guide id="5" orient="horz" pos="4199" userDrawn="1">
          <p15:clr>
            <a:srgbClr val="A4A3A4"/>
          </p15:clr>
        </p15:guide>
        <p15:guide id="6" orient="horz" pos="3921" userDrawn="1">
          <p15:clr>
            <a:srgbClr val="A4A3A4"/>
          </p15:clr>
        </p15:guide>
        <p15:guide id="7" orient="horz" pos="1952" userDrawn="1">
          <p15:clr>
            <a:srgbClr val="A4A3A4"/>
          </p15:clr>
        </p15:guide>
        <p15:guide id="8" pos="5551" userDrawn="1">
          <p15:clr>
            <a:srgbClr val="A4A3A4"/>
          </p15:clr>
        </p15:guide>
        <p15:guide id="9" pos="338" userDrawn="1">
          <p15:clr>
            <a:srgbClr val="A4A3A4"/>
          </p15:clr>
        </p15:guide>
        <p15:guide id="10" pos="4497" userDrawn="1">
          <p15:clr>
            <a:srgbClr val="A4A3A4"/>
          </p15:clr>
        </p15:guide>
        <p15:guide id="11" pos="2829" userDrawn="1">
          <p15:clr>
            <a:srgbClr val="A4A3A4"/>
          </p15:clr>
        </p15:guide>
        <p15:guide id="12" pos="1557" userDrawn="1">
          <p15:clr>
            <a:srgbClr val="A4A3A4"/>
          </p15:clr>
        </p15:guide>
        <p15:guide id="13" pos="3056" userDrawn="1">
          <p15:clr>
            <a:srgbClr val="A4A3A4"/>
          </p15:clr>
        </p15:guide>
        <p15:guide id="14" orient="horz" pos="1102">
          <p15:clr>
            <a:srgbClr val="A4A3A4"/>
          </p15:clr>
        </p15:guide>
        <p15:guide id="15" orient="horz" pos="3067">
          <p15:clr>
            <a:srgbClr val="A4A3A4"/>
          </p15:clr>
        </p15:guide>
        <p15:guide id="16" orient="horz" pos="4201">
          <p15:clr>
            <a:srgbClr val="A4A3A4"/>
          </p15:clr>
        </p15:guide>
        <p15:guide id="17" orient="horz" pos="1933">
          <p15:clr>
            <a:srgbClr val="A4A3A4"/>
          </p15:clr>
        </p15:guide>
        <p15:guide id="18" pos="552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0BAE8"/>
    <a:srgbClr val="D45045"/>
    <a:srgbClr val="506720"/>
    <a:srgbClr val="351EAD"/>
    <a:srgbClr val="0033CC"/>
    <a:srgbClr val="12275E"/>
    <a:srgbClr val="9A1F4E"/>
    <a:srgbClr val="E8E8E8"/>
    <a:srgbClr val="152B65"/>
    <a:srgbClr val="8FAA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34D0A1-00C2-7457-F14C-82AE68A7C6A9}" v="1904" dt="2025-06-15T12:00:15.185"/>
    <p1510:client id="{3E4AEFE4-A9BE-7A8C-D7ED-9984AC86502E}" v="240" dt="2025-06-16T09:02:01.144"/>
    <p1510:client id="{516C9C8F-A189-4F14-8EEC-A3194CD2C0E0}" v="514" dt="2025-06-16T09:05:54.127"/>
    <p1510:client id="{52320982-B602-4F05-90AC-45446CD89108}" v="6" dt="2025-06-16T10:37:35.831"/>
    <p1510:client id="{67D0C20F-6E75-29F1-7180-972D98199DE3}" v="21" dt="2025-06-16T10:17:39.431"/>
    <p1510:client id="{8211C167-81A6-0FF7-7ABC-73CAD9E5A3B4}" v="289" dt="2025-06-15T12:37:52.159"/>
    <p1510:client id="{8A57A309-E57B-11AD-54BD-8656BAD86765}" v="11" dt="2025-06-15T12:43:43.130"/>
    <p1510:client id="{AAACDF72-D9BC-B3D2-93E6-E4D483567C81}" v="998" dt="2025-06-15T12:07:14.315"/>
    <p1510:client id="{C5FBB7AC-32F7-0C68-DBA3-CDD7767051FB}" v="900" dt="2025-06-16T03:31:52.863"/>
    <p1510:client id="{F2961E32-E6A4-DE21-75C5-966F094901E5}" v="2300" dt="2025-06-15T11:59:57.595"/>
    <p1510:client id="{FB83F2D4-CBD7-B265-0593-E0C98D9D996B}" v="261" dt="2025-06-15T10:44:08.8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4C1A8A3-306A-4EB7-A6B1-4F7E0EB9C5D6}" styleName="보통 스타일 3 - 강조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27102A9-8310-4765-A935-A1911B00CA55}" styleName="밝은 스타일 1 - 강조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1474" y="58"/>
      </p:cViewPr>
      <p:guideLst>
        <p:guide orient="horz" pos="492"/>
        <p:guide orient="horz" pos="813"/>
        <p:guide orient="horz" pos="1122"/>
        <p:guide orient="horz" pos="3537"/>
        <p:guide orient="horz" pos="4199"/>
        <p:guide orient="horz" pos="3921"/>
        <p:guide orient="horz" pos="1952"/>
        <p:guide pos="5551"/>
        <p:guide pos="338"/>
        <p:guide pos="4497"/>
        <p:guide pos="2829"/>
        <p:guide pos="1557"/>
        <p:guide pos="3056"/>
        <p:guide orient="horz" pos="1102"/>
        <p:guide orient="horz" pos="3067"/>
        <p:guide orient="horz" pos="4201"/>
        <p:guide orient="horz" pos="1933"/>
        <p:guide pos="552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27"/>
        <p:guide pos="214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33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32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희권 신" userId="52b8f4062698d273" providerId="LiveId" clId="{52320982-B602-4F05-90AC-45446CD89108}"/>
    <pc:docChg chg="modSld">
      <pc:chgData name="희권 신" userId="52b8f4062698d273" providerId="LiveId" clId="{52320982-B602-4F05-90AC-45446CD89108}" dt="2025-06-16T10:37:42.103" v="49" actId="20577"/>
      <pc:docMkLst>
        <pc:docMk/>
      </pc:docMkLst>
      <pc:sldChg chg="addSp modSp">
        <pc:chgData name="희권 신" userId="52b8f4062698d273" providerId="LiveId" clId="{52320982-B602-4F05-90AC-45446CD89108}" dt="2025-06-16T10:37:33.090" v="18"/>
        <pc:sldMkLst>
          <pc:docMk/>
          <pc:sldMk cId="2118618646" sldId="1000"/>
        </pc:sldMkLst>
        <pc:spChg chg="mod">
          <ac:chgData name="희권 신" userId="52b8f4062698d273" providerId="LiveId" clId="{52320982-B602-4F05-90AC-45446CD89108}" dt="2025-06-16T10:37:33.090" v="18"/>
          <ac:spMkLst>
            <pc:docMk/>
            <pc:sldMk cId="2118618646" sldId="1000"/>
            <ac:spMk id="2" creationId="{BF358716-7972-2BEA-B95A-741786EBCD85}"/>
          </ac:spMkLst>
        </pc:spChg>
        <pc:spChg chg="add mod">
          <ac:chgData name="희권 신" userId="52b8f4062698d273" providerId="LiveId" clId="{52320982-B602-4F05-90AC-45446CD89108}" dt="2025-06-16T10:37:23.295" v="3"/>
          <ac:spMkLst>
            <pc:docMk/>
            <pc:sldMk cId="2118618646" sldId="1000"/>
            <ac:spMk id="3" creationId="{896C49E3-695A-0931-DC32-69B720D0A904}"/>
          </ac:spMkLst>
        </pc:spChg>
      </pc:sldChg>
      <pc:sldChg chg="modSp mod">
        <pc:chgData name="희권 신" userId="52b8f4062698d273" providerId="LiveId" clId="{52320982-B602-4F05-90AC-45446CD89108}" dt="2025-06-16T10:37:29.346" v="17" actId="20577"/>
        <pc:sldMkLst>
          <pc:docMk/>
          <pc:sldMk cId="2712607403" sldId="1034"/>
        </pc:sldMkLst>
        <pc:spChg chg="mod">
          <ac:chgData name="희권 신" userId="52b8f4062698d273" providerId="LiveId" clId="{52320982-B602-4F05-90AC-45446CD89108}" dt="2025-06-16T10:37:29.346" v="17" actId="20577"/>
          <ac:spMkLst>
            <pc:docMk/>
            <pc:sldMk cId="2712607403" sldId="1034"/>
            <ac:spMk id="2" creationId="{A94C633F-B60D-FEBA-ED2F-B3F10B030E78}"/>
          </ac:spMkLst>
        </pc:spChg>
      </pc:sldChg>
      <pc:sldChg chg="modSp mod">
        <pc:chgData name="희권 신" userId="52b8f4062698d273" providerId="LiveId" clId="{52320982-B602-4F05-90AC-45446CD89108}" dt="2025-06-16T10:37:38.634" v="33" actId="20577"/>
        <pc:sldMkLst>
          <pc:docMk/>
          <pc:sldMk cId="1157776343" sldId="1036"/>
        </pc:sldMkLst>
        <pc:spChg chg="mod">
          <ac:chgData name="희권 신" userId="52b8f4062698d273" providerId="LiveId" clId="{52320982-B602-4F05-90AC-45446CD89108}" dt="2025-06-16T10:37:38.634" v="33" actId="20577"/>
          <ac:spMkLst>
            <pc:docMk/>
            <pc:sldMk cId="1157776343" sldId="1036"/>
            <ac:spMk id="2" creationId="{A94C633F-B60D-FEBA-ED2F-B3F10B030E78}"/>
          </ac:spMkLst>
        </pc:spChg>
      </pc:sldChg>
      <pc:sldChg chg="modSp mod">
        <pc:chgData name="희권 신" userId="52b8f4062698d273" providerId="LiveId" clId="{52320982-B602-4F05-90AC-45446CD89108}" dt="2025-06-16T10:37:42.103" v="49" actId="20577"/>
        <pc:sldMkLst>
          <pc:docMk/>
          <pc:sldMk cId="395443263" sldId="1037"/>
        </pc:sldMkLst>
        <pc:spChg chg="mod">
          <ac:chgData name="희권 신" userId="52b8f4062698d273" providerId="LiveId" clId="{52320982-B602-4F05-90AC-45446CD89108}" dt="2025-06-16T10:37:42.103" v="49" actId="20577"/>
          <ac:spMkLst>
            <pc:docMk/>
            <pc:sldMk cId="395443263" sldId="1037"/>
            <ac:spMk id="2" creationId="{A94C633F-B60D-FEBA-ED2F-B3F10B030E7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714" tIns="45857" rIns="91714" bIns="45857" numCol="1" anchor="t" anchorCtr="0" compatLnSpc="1">
            <a:prstTxWarp prst="textNoShape">
              <a:avLst/>
            </a:prstTxWarp>
          </a:bodyPr>
          <a:lstStyle>
            <a:lvl1pPr algn="l" defTabSz="917575">
              <a:defRPr sz="1200">
                <a:solidFill>
                  <a:schemeClr val="tx1"/>
                </a:solidFill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6400" cy="496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714" tIns="45857" rIns="91714" bIns="45857" numCol="1" anchor="t" anchorCtr="0" compatLnSpc="1">
            <a:prstTxWarp prst="textNoShape">
              <a:avLst/>
            </a:prstTxWarp>
          </a:bodyPr>
          <a:lstStyle>
            <a:lvl1pPr algn="r" defTabSz="917575">
              <a:defRPr sz="1200">
                <a:solidFill>
                  <a:schemeClr val="tx1"/>
                </a:solidFill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13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428242"/>
            <a:ext cx="2946400" cy="496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714" tIns="45857" rIns="91714" bIns="45857" numCol="1" anchor="b" anchorCtr="0" compatLnSpc="1">
            <a:prstTxWarp prst="textNoShape">
              <a:avLst/>
            </a:prstTxWarp>
          </a:bodyPr>
          <a:lstStyle>
            <a:lvl1pPr algn="r" defTabSz="917575">
              <a:defRPr sz="1200">
                <a:solidFill>
                  <a:schemeClr val="tx1"/>
                </a:solidFill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fld id="{324A1115-9F2D-4D68-85C5-5EC1194C254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6929516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714" tIns="45857" rIns="91714" bIns="45857" numCol="1" anchor="t" anchorCtr="0" compatLnSpc="1">
            <a:prstTxWarp prst="textNoShape">
              <a:avLst/>
            </a:prstTxWarp>
          </a:bodyPr>
          <a:lstStyle>
            <a:lvl1pPr algn="l" defTabSz="917575">
              <a:defRPr sz="1200">
                <a:solidFill>
                  <a:schemeClr val="tx1"/>
                </a:solidFill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6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714" tIns="45857" rIns="91714" bIns="45857" numCol="1" anchor="t" anchorCtr="0" compatLnSpc="1">
            <a:prstTxWarp prst="textNoShape">
              <a:avLst/>
            </a:prstTxWarp>
          </a:bodyPr>
          <a:lstStyle>
            <a:lvl1pPr algn="r" defTabSz="917575">
              <a:defRPr sz="1200">
                <a:solidFill>
                  <a:schemeClr val="tx1"/>
                </a:solidFill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4113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22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1038" y="4715710"/>
            <a:ext cx="5435600" cy="44665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714" tIns="45857" rIns="91714" bIns="4585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/>
              <a:t>Click to edit Master text styles</a:t>
            </a:r>
          </a:p>
          <a:p>
            <a:pPr lvl="1"/>
            <a:r>
              <a:rPr lang="en-US" altLang="ko-KR" noProof="0"/>
              <a:t>Second level</a:t>
            </a:r>
          </a:p>
          <a:p>
            <a:pPr lvl="2"/>
            <a:r>
              <a:rPr lang="en-US" altLang="ko-KR" noProof="0"/>
              <a:t>Third level</a:t>
            </a:r>
          </a:p>
          <a:p>
            <a:pPr lvl="3"/>
            <a:r>
              <a:rPr lang="en-US" altLang="ko-KR" noProof="0"/>
              <a:t>Fourth level</a:t>
            </a:r>
          </a:p>
          <a:p>
            <a:pPr lvl="4"/>
            <a:r>
              <a:rPr lang="en-US" altLang="ko-KR" noProof="0"/>
              <a:t>Fifth level</a:t>
            </a:r>
          </a:p>
        </p:txBody>
      </p:sp>
      <p:sp>
        <p:nvSpPr>
          <p:cNvPr id="522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242"/>
            <a:ext cx="2946400" cy="496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714" tIns="45857" rIns="91714" bIns="45857" numCol="1" anchor="b" anchorCtr="0" compatLnSpc="1">
            <a:prstTxWarp prst="textNoShape">
              <a:avLst/>
            </a:prstTxWarp>
          </a:bodyPr>
          <a:lstStyle>
            <a:lvl1pPr algn="l" defTabSz="917575">
              <a:defRPr sz="1200">
                <a:solidFill>
                  <a:schemeClr val="tx1"/>
                </a:solidFill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22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28242"/>
            <a:ext cx="2946400" cy="496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714" tIns="45857" rIns="91714" bIns="45857" numCol="1" anchor="b" anchorCtr="0" compatLnSpc="1">
            <a:prstTxWarp prst="textNoShape">
              <a:avLst/>
            </a:prstTxWarp>
          </a:bodyPr>
          <a:lstStyle>
            <a:lvl1pPr algn="r" defTabSz="917575">
              <a:defRPr sz="1200">
                <a:solidFill>
                  <a:schemeClr val="tx1"/>
                </a:solidFill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fld id="{BDE6D3F4-B44C-4D4D-B492-8788D90AD2B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1658302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/>
              <a:ea typeface="맑은 고딕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04089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BBD44-7F29-4E49-97C7-26E178271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78E34C6-4200-1AF3-69DF-B0F125E853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6060860-0C1B-32DC-0EB7-CC65AD0C7C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AECC2E-A141-F59F-D484-14690DBA23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11473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BBD44-7F29-4E49-97C7-26E178271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78E34C6-4200-1AF3-69DF-B0F125E853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6060860-0C1B-32DC-0EB7-CC65AD0C7C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AECC2E-A141-F59F-D484-14690DBA23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11473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ea typeface="맑은 고딕"/>
              <a:cs typeface="Arial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95033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D9685-7F23-F9A1-1D80-B69453E4A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FB18B73-F5F0-7CEE-9B5E-2F8C8C15C3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B3804AA-160E-1CA6-8E8E-F3A911BCF8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04E12C-C88E-F1AC-EC6D-A59395EF89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32578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DBEA7-CF88-C1C0-3BF0-183CFB38F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B7A25D2-85EA-1AE1-C979-CB2418F468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F4DAD8D-1406-2404-D762-9FC58B7D25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B0C3D1-FD76-0E1E-2CD1-BC13BE18FF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98663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CEC3A-6E98-A112-7E89-E090C3E45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F64F0A2-E33E-2E97-6477-3B162698C0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ECD66C7-6C9A-0D7E-2FD9-ECD61DE127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456727-9B7A-498E-18C7-87C42DCE18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89784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3D7B8-29C1-6B45-1737-DC00D00CB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6224431-5CE1-A85E-06B1-89BD1B7648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D7F901F-5904-9DF7-CCCA-608F0FBF97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4AF029-67C9-3921-3D9F-1FFC125D9B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55655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CE0BE-4D3C-9E53-9BF5-08C4C733C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73C7FE3-F549-441C-54C0-A02F37D3A2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7B160E4-1561-BB43-85B8-1EDD998170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F0B29B-0D98-8362-09F6-AB5E2CD167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29177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22A1A-4466-3D59-B24E-2AAA6D9B4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80C73C-A003-0412-70D1-A1DFF8A054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8F2C537-E9EB-A332-EB06-4B4AD855B7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836E6BD-57C7-3E33-F017-B942D2AEA6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40464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CE3B9-9F07-F8F6-D1D7-0B91E1DA8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0C5A33D-2F25-C864-F7A2-ADD4E4A913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06AB899-1D22-4085-4995-7489F58055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0508C0C-DDAF-31C6-2ACB-DDC0832313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47899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E3868-6199-7B49-96E8-7C3A1CABB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5210A35-6C6C-E96A-5BAA-15C1E55768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A79546C-1E2E-F5BC-0723-5DDC6B504E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CDB774-F6AB-A30A-AEEC-5DB3F3E0B3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10250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82B1E-B9CF-E049-316D-27F0FFFD6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61890CF-4DD5-2A10-8495-72B3C10634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9EBB6A1-6AE1-66F0-4BC1-36183104C6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94FA4F-8B72-3D96-56EE-19C16790DA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07989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B71F2-BC79-FAD5-90BE-21FDD32FD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56C6581-F928-7E92-2F6B-9622B009EA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B27C862-210C-6C39-BFBF-E0018D9627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0BDE44-2BF4-90B5-0072-925B100879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76197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C1758-CA65-48D1-8AF1-D8A5D0AE2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355DA17-342A-3855-3C46-BAF3B5E23F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F2C10A4-F52B-CA4D-8707-BA42122E44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D8B2DB6-786A-54CB-CB38-06530125EB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51515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E3868-6199-7B49-96E8-7C3A1CABB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5210A35-6C6C-E96A-5BAA-15C1E55768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A79546C-1E2E-F5BC-0723-5DDC6B504E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CDB774-F6AB-A30A-AEEC-5DB3F3E0B3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10250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82B1E-B9CF-E049-316D-27F0FFFD6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61890CF-4DD5-2A10-8495-72B3C10634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9EBB6A1-6AE1-66F0-4BC1-36183104C6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94FA4F-8B72-3D96-56EE-19C16790DA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07989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8D07E-D475-740E-D774-B753BBC1A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C5E8493-48DB-1744-58F7-F4A4270597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37ADD73-8E63-AE13-0665-D29980FA9E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ADF6B07-78AD-5026-804A-309B2AE2A3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33785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/>
          <p:cNvSpPr/>
          <p:nvPr userDrawn="1"/>
        </p:nvSpPr>
        <p:spPr>
          <a:xfrm rot="10800000">
            <a:off x="695077" y="6262962"/>
            <a:ext cx="8448923" cy="4603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100000"/>
                </a:schemeClr>
              </a:gs>
              <a:gs pos="25000">
                <a:schemeClr val="accent1">
                  <a:lumMod val="100000"/>
                </a:schemeClr>
              </a:gs>
              <a:gs pos="75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pic>
        <p:nvPicPr>
          <p:cNvPr id="19" name="Picture 4" descr="C:\Users\msk\Desktop\abstract-blue-backgrounds-24_1920x1200_71465.jpg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32440"/>
          <a:stretch>
            <a:fillRect/>
          </a:stretch>
        </p:blipFill>
        <p:spPr bwMode="auto">
          <a:xfrm rot="10800000">
            <a:off x="-1" y="-4143"/>
            <a:ext cx="9144000" cy="4182802"/>
          </a:xfrm>
          <a:prstGeom prst="rect">
            <a:avLst/>
          </a:prstGeom>
          <a:noFill/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42FF581-74A3-4A97-A84D-A91C762C65D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952" y="6399033"/>
            <a:ext cx="1263900" cy="358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15619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09953" y="1206650"/>
            <a:ext cx="8042031" cy="4680000"/>
          </a:xfrm>
        </p:spPr>
        <p:txBody>
          <a:bodyPr/>
          <a:lstStyle>
            <a:lvl1pPr>
              <a:lnSpc>
                <a:spcPct val="150000"/>
              </a:lnSpc>
              <a:defRPr sz="1600">
                <a:latin typeface="Corbel" panose="020B0503020204020204" pitchFamily="34" charset="0"/>
                <a:ea typeface="맑은 고딕" panose="020B0503020000020004" pitchFamily="50" charset="-127"/>
              </a:defRPr>
            </a:lvl1pPr>
            <a:lvl2pPr marL="410318" indent="-167058">
              <a:lnSpc>
                <a:spcPct val="150000"/>
              </a:lnSpc>
              <a:buFont typeface="맑은 고딕" panose="020B0503020000020004" pitchFamily="50" charset="-127"/>
              <a:buChar char="√"/>
              <a:defRPr sz="1400"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>
              <a:lnSpc>
                <a:spcPct val="150000"/>
              </a:lnSpc>
              <a:buFont typeface="Arial" panose="020B0604020202020204" pitchFamily="34" charset="0"/>
              <a:buChar char="•"/>
              <a:defRPr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>
              <a:lnSpc>
                <a:spcPct val="150000"/>
              </a:lnSpc>
              <a:defRPr sz="1200"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>
              <a:lnSpc>
                <a:spcPct val="150000"/>
              </a:lnSpc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</p:txBody>
      </p:sp>
      <p:sp>
        <p:nvSpPr>
          <p:cNvPr id="9" name="슬라이드 번호 개체 틀 5"/>
          <p:cNvSpPr txBox="1">
            <a:spLocks/>
          </p:cNvSpPr>
          <p:nvPr userDrawn="1"/>
        </p:nvSpPr>
        <p:spPr>
          <a:xfrm>
            <a:off x="8077200" y="6459538"/>
            <a:ext cx="949569" cy="328612"/>
          </a:xfrm>
          <a:prstGeom prst="rect">
            <a:avLst/>
          </a:prstGeom>
        </p:spPr>
        <p:txBody>
          <a:bodyPr/>
          <a:lstStyle>
            <a:lvl1pPr algn="r">
              <a:defRPr sz="1100">
                <a:solidFill>
                  <a:schemeClr val="tx1">
                    <a:alpha val="50000"/>
                  </a:schemeClr>
                </a:solidFill>
                <a:latin typeface="Arial Black" pitchFamily="34" charset="0"/>
                <a:ea typeface="HY헤드라인M" pitchFamily="18" charset="-127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fld id="{90FC0BDF-B890-41DA-9838-AE8FE480B3D1}" type="slidenum">
              <a:rPr kumimoji="0" lang="ko-KR" altLang="en-US" sz="1200" b="0" smtClean="0">
                <a:solidFill>
                  <a:srgbClr val="002060"/>
                </a:solidFill>
                <a:latin typeface="+mn-ea"/>
                <a:ea typeface="+mn-ea"/>
              </a:rPr>
              <a:pPr fontAlgn="auto"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t>‹#›</a:t>
            </a:fld>
            <a:endParaRPr kumimoji="0" lang="en-US" altLang="ko-KR" sz="1200" b="0">
              <a:solidFill>
                <a:srgbClr val="002060"/>
              </a:solidFill>
              <a:latin typeface="+mn-ea"/>
              <a:ea typeface="+mn-ea"/>
            </a:endParaRPr>
          </a:p>
        </p:txBody>
      </p:sp>
      <p:sp>
        <p:nvSpPr>
          <p:cNvPr id="14" name="직사각형 13"/>
          <p:cNvSpPr/>
          <p:nvPr userDrawn="1"/>
        </p:nvSpPr>
        <p:spPr>
          <a:xfrm rot="10800000">
            <a:off x="695077" y="6262962"/>
            <a:ext cx="8448923" cy="4603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100000"/>
                </a:schemeClr>
              </a:gs>
              <a:gs pos="25000">
                <a:schemeClr val="accent1">
                  <a:lumMod val="100000"/>
                </a:schemeClr>
              </a:gs>
              <a:gs pos="75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B495BD8-64BC-4AE0-B09E-0B7436801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400" y="64800"/>
            <a:ext cx="8042031" cy="64135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C5095D5-CF54-4B73-A88B-2E207E0900C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952" y="6399033"/>
            <a:ext cx="1263900" cy="358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320740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3F254D-D485-4424-B9F6-B67A605DDF19}" type="slidenum">
              <a:rPr lang="en-GB" altLang="ko-KR"/>
              <a:pPr>
                <a:defRPr/>
              </a:pPr>
              <a:t>‹#›</a:t>
            </a:fld>
            <a:endParaRPr lang="en-GB" altLang="ko-KR"/>
          </a:p>
        </p:txBody>
      </p:sp>
      <p:pic>
        <p:nvPicPr>
          <p:cNvPr id="5" name="Picture 4" descr="C:\Users\msk\Desktop\abstract-blue-backgrounds-24_1920x1200_71465.jpg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43700" t="32440"/>
          <a:stretch>
            <a:fillRect/>
          </a:stretch>
        </p:blipFill>
        <p:spPr bwMode="auto">
          <a:xfrm rot="10800000">
            <a:off x="0" y="-1"/>
            <a:ext cx="9144000" cy="611675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39537642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58A4EB-2A1B-B60E-7C34-379AA946F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400" y="64800"/>
            <a:ext cx="8042031" cy="64135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3310797-E8F0-33FF-3EAC-DF0D297E0E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4B02B1F-C918-4EA9-8A71-4A69BA71DD78}" type="slidenum">
              <a:rPr lang="en-GB" altLang="ko-KR" smtClean="0"/>
              <a:pPr>
                <a:defRPr/>
              </a:pPr>
              <a:t>‹#›</a:t>
            </a:fld>
            <a:endParaRPr lang="en-GB" altLang="ko-KR"/>
          </a:p>
        </p:txBody>
      </p:sp>
    </p:spTree>
    <p:extLst>
      <p:ext uri="{BB962C8B-B14F-4D97-AF65-F5344CB8AC3E}">
        <p14:creationId xmlns:p14="http://schemas.microsoft.com/office/powerpoint/2010/main" val="3431357672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38400" y="64800"/>
            <a:ext cx="8042031" cy="64135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36332" y="1779588"/>
            <a:ext cx="4079631" cy="3840162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662"/>
            </a:lvl6pPr>
            <a:lvl7pPr>
              <a:defRPr sz="1662"/>
            </a:lvl7pPr>
            <a:lvl8pPr>
              <a:defRPr sz="1662"/>
            </a:lvl8pPr>
            <a:lvl9pPr>
              <a:defRPr sz="1662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638" y="1779588"/>
            <a:ext cx="4079631" cy="3840162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662"/>
            </a:lvl6pPr>
            <a:lvl7pPr>
              <a:defRPr sz="1662"/>
            </a:lvl7pPr>
            <a:lvl8pPr>
              <a:defRPr sz="1662"/>
            </a:lvl8pPr>
            <a:lvl9pPr>
              <a:defRPr sz="1662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4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34F184-09B5-43E3-9B7A-CC3A5F5FC70F}" type="slidenum">
              <a:rPr lang="en-GB" altLang="ko-KR"/>
              <a:pPr>
                <a:defRPr/>
              </a:pPr>
              <a:t>‹#›</a:t>
            </a:fld>
            <a:endParaRPr lang="en-GB" altLang="ko-KR"/>
          </a:p>
        </p:txBody>
      </p:sp>
    </p:spTree>
    <p:extLst>
      <p:ext uri="{BB962C8B-B14F-4D97-AF65-F5344CB8AC3E}">
        <p14:creationId xmlns:p14="http://schemas.microsoft.com/office/powerpoint/2010/main" val="3124109621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/>
          <p:cNvSpPr/>
          <p:nvPr userDrawn="1"/>
        </p:nvSpPr>
        <p:spPr>
          <a:xfrm rot="10800000">
            <a:off x="695077" y="6262962"/>
            <a:ext cx="8448923" cy="4603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100000"/>
                </a:schemeClr>
              </a:gs>
              <a:gs pos="25000">
                <a:schemeClr val="accent1">
                  <a:lumMod val="100000"/>
                </a:schemeClr>
              </a:gs>
              <a:gs pos="75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pic>
        <p:nvPicPr>
          <p:cNvPr id="19" name="Picture 4" descr="C:\Users\msk\Desktop\abstract-blue-backgrounds-24_1920x1200_71465.jpg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32440"/>
          <a:stretch>
            <a:fillRect/>
          </a:stretch>
        </p:blipFill>
        <p:spPr bwMode="auto">
          <a:xfrm rot="10800000">
            <a:off x="-1" y="-4143"/>
            <a:ext cx="9144000" cy="4182802"/>
          </a:xfrm>
          <a:prstGeom prst="rect">
            <a:avLst/>
          </a:prstGeom>
          <a:noFill/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42FF581-74A3-4A97-A84D-A91C762C65D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952" y="6399033"/>
            <a:ext cx="1263900" cy="358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269543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09953" y="1206650"/>
            <a:ext cx="8042031" cy="4680000"/>
          </a:xfrm>
        </p:spPr>
        <p:txBody>
          <a:bodyPr/>
          <a:lstStyle>
            <a:lvl1pPr>
              <a:lnSpc>
                <a:spcPct val="150000"/>
              </a:lnSpc>
              <a:defRPr sz="1600">
                <a:latin typeface="Corbel" panose="020B0503020204020204" pitchFamily="34" charset="0"/>
                <a:ea typeface="맑은 고딕" panose="020B0503020000020004" pitchFamily="50" charset="-127"/>
              </a:defRPr>
            </a:lvl1pPr>
            <a:lvl2pPr marL="410318" indent="-167058">
              <a:lnSpc>
                <a:spcPct val="150000"/>
              </a:lnSpc>
              <a:buFont typeface="맑은 고딕" panose="020B0503020000020004" pitchFamily="50" charset="-127"/>
              <a:buChar char="√"/>
              <a:defRPr sz="1400"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>
              <a:lnSpc>
                <a:spcPct val="150000"/>
              </a:lnSpc>
              <a:buFont typeface="Arial" panose="020B0604020202020204" pitchFamily="34" charset="0"/>
              <a:buChar char="•"/>
              <a:defRPr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>
              <a:lnSpc>
                <a:spcPct val="150000"/>
              </a:lnSpc>
              <a:defRPr sz="1200"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>
              <a:lnSpc>
                <a:spcPct val="150000"/>
              </a:lnSpc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B495BD8-64BC-4AE0-B09E-0B7436801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C5095D5-CF54-4B73-A88B-2E207E0900C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952" y="6399033"/>
            <a:ext cx="1263900" cy="358297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14037ABE-D605-7DC2-CD98-5957AE0F5873}"/>
              </a:ext>
            </a:extLst>
          </p:cNvPr>
          <p:cNvSpPr/>
          <p:nvPr userDrawn="1"/>
        </p:nvSpPr>
        <p:spPr>
          <a:xfrm rot="10800000">
            <a:off x="695077" y="6262962"/>
            <a:ext cx="8448923" cy="46038"/>
          </a:xfrm>
          <a:prstGeom prst="rect">
            <a:avLst/>
          </a:prstGeom>
          <a:gradFill flip="none" rotWithShape="1">
            <a:gsLst>
              <a:gs pos="0">
                <a:srgbClr val="9A1F4E"/>
              </a:gs>
              <a:gs pos="25000">
                <a:srgbClr val="9A1F4E"/>
              </a:gs>
              <a:gs pos="75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3167165615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:\Users\msk\Desktop\abstract-blue-backgrounds-24_1920x1200_71465.jpg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43700" t="32440"/>
          <a:stretch>
            <a:fillRect/>
          </a:stretch>
        </p:blipFill>
        <p:spPr bwMode="auto">
          <a:xfrm rot="10800000">
            <a:off x="0" y="-1"/>
            <a:ext cx="9144000" cy="611675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51408927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58A4EB-2A1B-B60E-7C34-379AA946F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178289344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36332" y="1779588"/>
            <a:ext cx="4079631" cy="3840162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662"/>
            </a:lvl6pPr>
            <a:lvl7pPr>
              <a:defRPr sz="1662"/>
            </a:lvl7pPr>
            <a:lvl8pPr>
              <a:defRPr sz="1662"/>
            </a:lvl8pPr>
            <a:lvl9pPr>
              <a:defRPr sz="1662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638" y="1779588"/>
            <a:ext cx="4079631" cy="3840162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662"/>
            </a:lvl6pPr>
            <a:lvl7pPr>
              <a:defRPr sz="1662"/>
            </a:lvl7pPr>
            <a:lvl8pPr>
              <a:defRPr sz="1662"/>
            </a:lvl8pPr>
            <a:lvl9pPr>
              <a:defRPr sz="1662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432982053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8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4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019BEA91-710F-4DA2-A57A-92029721C1A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/>
          <a:srcRect r="6054"/>
          <a:stretch/>
        </p:blipFill>
        <p:spPr>
          <a:xfrm>
            <a:off x="-1256" y="-3606"/>
            <a:ext cx="9144000" cy="792606"/>
          </a:xfrm>
          <a:prstGeom prst="rect">
            <a:avLst/>
          </a:prstGeom>
        </p:spPr>
      </p:pic>
      <p:sp>
        <p:nvSpPr>
          <p:cNvPr id="4137" name="Rectangle 4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0116" y="6560298"/>
            <a:ext cx="117020" cy="1135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b" anchorCtr="0" compatLnSpc="1">
            <a:prstTxWarp prst="textNoShape">
              <a:avLst/>
            </a:prstTxWarp>
            <a:spAutoFit/>
          </a:bodyPr>
          <a:lstStyle>
            <a:lvl1pPr algn="r" defTabSz="757623" eaLnBrk="0" hangingPunct="0">
              <a:defRPr sz="738">
                <a:solidFill>
                  <a:srgbClr val="000000"/>
                </a:solidFill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fld id="{64B02B1F-C918-4EA9-8A71-4A69BA71DD78}" type="slidenum">
              <a:rPr lang="en-GB" altLang="ko-KR"/>
              <a:pPr>
                <a:defRPr/>
              </a:pPr>
              <a:t>‹#›</a:t>
            </a:fld>
            <a:endParaRPr lang="en-GB" altLang="ko-KR"/>
          </a:p>
        </p:txBody>
      </p:sp>
      <p:sp>
        <p:nvSpPr>
          <p:cNvPr id="1031" name="Rectangle 109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6455" y="1149000"/>
            <a:ext cx="8016997" cy="48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0"/>
            <a:r>
              <a:rPr lang="en-US" altLang="ko-KR"/>
              <a:t>Second level, etc.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A9CADA37-7BDD-4B7C-8BAC-B00D343C19E7}"/>
              </a:ext>
            </a:extLst>
          </p:cNvPr>
          <p:cNvCxnSpPr>
            <a:cxnSpLocks/>
          </p:cNvCxnSpPr>
          <p:nvPr userDrawn="1"/>
        </p:nvCxnSpPr>
        <p:spPr>
          <a:xfrm>
            <a:off x="0" y="789000"/>
            <a:ext cx="914400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7591A48D-7862-4BD3-BDC0-4940E5CAC7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34" b="31683"/>
          <a:stretch/>
        </p:blipFill>
        <p:spPr>
          <a:xfrm>
            <a:off x="7452032" y="396649"/>
            <a:ext cx="1495572" cy="276754"/>
          </a:xfrm>
          <a:prstGeom prst="rect">
            <a:avLst/>
          </a:prstGeom>
        </p:spPr>
      </p:pic>
      <p:sp>
        <p:nvSpPr>
          <p:cNvPr id="3" name="Rectangle 6">
            <a:extLst>
              <a:ext uri="{FF2B5EF4-FFF2-40B4-BE49-F238E27FC236}">
                <a16:creationId xmlns:a16="http://schemas.microsoft.com/office/drawing/2014/main" id="{008097E2-E215-16CD-58E7-6BD7499887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39971" y="65100"/>
            <a:ext cx="8042031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E501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71" r:id="rId2"/>
    <p:sldLayoutId id="2147483772" r:id="rId3"/>
    <p:sldLayoutId id="2147483794" r:id="rId4"/>
    <p:sldLayoutId id="2147483773" r:id="rId5"/>
  </p:sldLayoutIdLst>
  <p:transition/>
  <p:hf hdr="0" ftr="0" dt="0"/>
  <p:txStyles>
    <p:titleStyle>
      <a:lvl1pPr algn="l" defTabSz="597892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Corbel" panose="020B0503020204020204" pitchFamily="34" charset="0"/>
          <a:ea typeface="+mj-ea"/>
          <a:cs typeface="+mj-cs"/>
        </a:defRPr>
      </a:lvl1pPr>
      <a:lvl2pPr algn="l" defTabSz="597892" rtl="0" eaLnBrk="0" fontAlgn="base" hangingPunct="0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2pPr>
      <a:lvl3pPr algn="l" defTabSz="597892" rtl="0" eaLnBrk="0" fontAlgn="base" hangingPunct="0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3pPr>
      <a:lvl4pPr algn="l" defTabSz="597892" rtl="0" eaLnBrk="0" fontAlgn="base" hangingPunct="0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4pPr>
      <a:lvl5pPr algn="l" defTabSz="597892" rtl="0" eaLnBrk="0" fontAlgn="base" hangingPunct="0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5pPr>
      <a:lvl6pPr marL="422041" algn="l" defTabSz="597892" rtl="0" fontAlgn="base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6pPr>
      <a:lvl7pPr marL="844083" algn="l" defTabSz="597892" rtl="0" fontAlgn="base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7pPr>
      <a:lvl8pPr marL="1266124" algn="l" defTabSz="597892" rtl="0" fontAlgn="base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8pPr>
      <a:lvl9pPr marL="1688165" algn="l" defTabSz="597892" rtl="0" fontAlgn="base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9pPr>
    </p:titleStyle>
    <p:bodyStyle>
      <a:lvl1pPr marL="241795" indent="-241795" algn="l" defTabSz="597892" rtl="0" eaLnBrk="0" fontAlgn="base" hangingPunct="0">
        <a:lnSpc>
          <a:spcPct val="150000"/>
        </a:lnSpc>
        <a:spcBef>
          <a:spcPct val="115000"/>
        </a:spcBef>
        <a:spcAft>
          <a:spcPct val="0"/>
        </a:spcAft>
        <a:buClr>
          <a:schemeClr val="tx2"/>
        </a:buClr>
        <a:buFont typeface="Wingdings" pitchFamily="2" charset="2"/>
        <a:buChar char="n"/>
        <a:defRPr sz="1600" b="1">
          <a:solidFill>
            <a:srgbClr val="000000"/>
          </a:solidFill>
          <a:latin typeface="Corbel" panose="020B0503020204020204" pitchFamily="34" charset="0"/>
          <a:ea typeface="+mn-ea"/>
          <a:cs typeface="+mn-cs"/>
        </a:defRPr>
      </a:lvl1pPr>
      <a:lvl2pPr marL="410318" indent="-167058" algn="l" defTabSz="597892" rtl="0" eaLnBrk="0" fontAlgn="base" hangingPunct="0">
        <a:lnSpc>
          <a:spcPct val="150000"/>
        </a:lnSpc>
        <a:spcBef>
          <a:spcPct val="5000"/>
        </a:spcBef>
        <a:spcAft>
          <a:spcPct val="0"/>
        </a:spcAft>
        <a:buClr>
          <a:schemeClr val="tx2"/>
        </a:buClr>
        <a:buFont typeface="맑은 고딕" panose="020B0503020000020004" pitchFamily="50" charset="-127"/>
        <a:buChar char="√"/>
        <a:defRPr sz="1400">
          <a:solidFill>
            <a:srgbClr val="000000"/>
          </a:solidFill>
          <a:latin typeface="Corbel" panose="020B0503020204020204" pitchFamily="34" charset="0"/>
        </a:defRPr>
      </a:lvl2pPr>
      <a:lvl3pPr marL="580307" indent="-168524" algn="l" defTabSz="597892" rtl="0" eaLnBrk="0" fontAlgn="base" hangingPunct="0">
        <a:lnSpc>
          <a:spcPct val="150000"/>
        </a:lnSpc>
        <a:spcBef>
          <a:spcPct val="80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defRPr sz="1200">
          <a:solidFill>
            <a:srgbClr val="000000"/>
          </a:solidFill>
          <a:latin typeface="Corbel" panose="020B0503020204020204" pitchFamily="34" charset="0"/>
        </a:defRPr>
      </a:lvl3pPr>
      <a:lvl4pPr marL="748831" indent="-167058" algn="l" defTabSz="597892" rtl="0" eaLnBrk="0" fontAlgn="base" hangingPunct="0">
        <a:lnSpc>
          <a:spcPct val="150000"/>
        </a:lnSpc>
        <a:spcBef>
          <a:spcPct val="8000"/>
        </a:spcBef>
        <a:spcAft>
          <a:spcPct val="0"/>
        </a:spcAft>
        <a:buClr>
          <a:schemeClr val="tx2"/>
        </a:buClr>
        <a:buFont typeface="Arial" pitchFamily="34" charset="0"/>
        <a:buChar char="-"/>
        <a:defRPr sz="1200">
          <a:solidFill>
            <a:srgbClr val="000000"/>
          </a:solidFill>
          <a:latin typeface="Corbel" panose="020B0503020204020204" pitchFamily="34" charset="0"/>
        </a:defRPr>
      </a:lvl4pPr>
      <a:lvl5pPr marL="917354" indent="-167058" algn="l" defTabSz="597892" rtl="0" eaLnBrk="0" fontAlgn="base" hangingPunct="0">
        <a:lnSpc>
          <a:spcPct val="150000"/>
        </a:lnSpc>
        <a:spcBef>
          <a:spcPct val="8000"/>
        </a:spcBef>
        <a:spcAft>
          <a:spcPct val="0"/>
        </a:spcAft>
        <a:buClr>
          <a:srgbClr val="F37121"/>
        </a:buClr>
        <a:buFont typeface="Wingdings" pitchFamily="2" charset="2"/>
        <a:buChar char="§"/>
        <a:defRPr sz="1292">
          <a:solidFill>
            <a:srgbClr val="000000"/>
          </a:solidFill>
          <a:latin typeface="Corbel" panose="020B0503020204020204" pitchFamily="34" charset="0"/>
        </a:defRPr>
      </a:lvl5pPr>
      <a:lvl6pPr marL="1339395" indent="-167058" algn="l" defTabSz="597892" rtl="0" fontAlgn="base">
        <a:lnSpc>
          <a:spcPct val="108000"/>
        </a:lnSpc>
        <a:spcBef>
          <a:spcPct val="8000"/>
        </a:spcBef>
        <a:spcAft>
          <a:spcPct val="0"/>
        </a:spcAft>
        <a:buClr>
          <a:srgbClr val="F37121"/>
        </a:buClr>
        <a:buFont typeface="Wingdings" pitchFamily="2" charset="2"/>
        <a:buChar char="§"/>
        <a:defRPr sz="1292">
          <a:solidFill>
            <a:srgbClr val="000000"/>
          </a:solidFill>
          <a:latin typeface="+mn-lt"/>
        </a:defRPr>
      </a:lvl6pPr>
      <a:lvl7pPr marL="1761436" indent="-167058" algn="l" defTabSz="597892" rtl="0" fontAlgn="base">
        <a:lnSpc>
          <a:spcPct val="108000"/>
        </a:lnSpc>
        <a:spcBef>
          <a:spcPct val="8000"/>
        </a:spcBef>
        <a:spcAft>
          <a:spcPct val="0"/>
        </a:spcAft>
        <a:buClr>
          <a:srgbClr val="F37121"/>
        </a:buClr>
        <a:buFont typeface="Wingdings" pitchFamily="2" charset="2"/>
        <a:buChar char="§"/>
        <a:defRPr sz="1292">
          <a:solidFill>
            <a:srgbClr val="000000"/>
          </a:solidFill>
          <a:latin typeface="+mn-lt"/>
        </a:defRPr>
      </a:lvl7pPr>
      <a:lvl8pPr marL="2183478" indent="-167058" algn="l" defTabSz="597892" rtl="0" fontAlgn="base">
        <a:lnSpc>
          <a:spcPct val="108000"/>
        </a:lnSpc>
        <a:spcBef>
          <a:spcPct val="8000"/>
        </a:spcBef>
        <a:spcAft>
          <a:spcPct val="0"/>
        </a:spcAft>
        <a:buClr>
          <a:srgbClr val="F37121"/>
        </a:buClr>
        <a:buFont typeface="Wingdings" pitchFamily="2" charset="2"/>
        <a:buChar char="§"/>
        <a:defRPr sz="1292">
          <a:solidFill>
            <a:srgbClr val="000000"/>
          </a:solidFill>
          <a:latin typeface="+mn-lt"/>
        </a:defRPr>
      </a:lvl8pPr>
      <a:lvl9pPr marL="2605519" indent="-167058" algn="l" defTabSz="597892" rtl="0" fontAlgn="base">
        <a:lnSpc>
          <a:spcPct val="108000"/>
        </a:lnSpc>
        <a:spcBef>
          <a:spcPct val="8000"/>
        </a:spcBef>
        <a:spcAft>
          <a:spcPct val="0"/>
        </a:spcAft>
        <a:buClr>
          <a:srgbClr val="F37121"/>
        </a:buClr>
        <a:buFont typeface="Wingdings" pitchFamily="2" charset="2"/>
        <a:buChar char="§"/>
        <a:defRPr sz="1292">
          <a:solidFill>
            <a:srgbClr val="000000"/>
          </a:solidFill>
          <a:latin typeface="+mn-lt"/>
        </a:defRPr>
      </a:lvl9pPr>
    </p:bodyStyle>
    <p:otherStyle>
      <a:defPPr>
        <a:defRPr lang="ko-KR"/>
      </a:defPPr>
      <a:lvl1pPr marL="0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41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83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124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165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207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248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289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331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6FF8754-B9F3-D76F-38C3-B0091EEFC5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rgbClr val="C00000">
                <a:tint val="45000"/>
                <a:satMod val="400000"/>
              </a:srgbClr>
            </a:duotone>
          </a:blip>
          <a:srcRect r="24209"/>
          <a:stretch/>
        </p:blipFill>
        <p:spPr>
          <a:xfrm>
            <a:off x="-1255" y="-3606"/>
            <a:ext cx="7376881" cy="792606"/>
          </a:xfrm>
          <a:custGeom>
            <a:avLst/>
            <a:gdLst>
              <a:gd name="connsiteX0" fmla="*/ 0 w 7376881"/>
              <a:gd name="connsiteY0" fmla="*/ 0 h 792606"/>
              <a:gd name="connsiteX1" fmla="*/ 7376881 w 7376881"/>
              <a:gd name="connsiteY1" fmla="*/ 0 h 792606"/>
              <a:gd name="connsiteX2" fmla="*/ 7335083 w 7376881"/>
              <a:gd name="connsiteY2" fmla="*/ 72101 h 792606"/>
              <a:gd name="connsiteX3" fmla="*/ 6478558 w 7376881"/>
              <a:gd name="connsiteY3" fmla="*/ 773769 h 792606"/>
              <a:gd name="connsiteX4" fmla="*/ 6439960 w 7376881"/>
              <a:gd name="connsiteY4" fmla="*/ 792606 h 792606"/>
              <a:gd name="connsiteX5" fmla="*/ 0 w 7376881"/>
              <a:gd name="connsiteY5" fmla="*/ 792606 h 792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376881" h="792606">
                <a:moveTo>
                  <a:pt x="0" y="0"/>
                </a:moveTo>
                <a:lnTo>
                  <a:pt x="7376881" y="0"/>
                </a:lnTo>
                <a:lnTo>
                  <a:pt x="7335083" y="72101"/>
                </a:lnTo>
                <a:cubicBezTo>
                  <a:pt x="7153136" y="331561"/>
                  <a:pt x="6859280" y="569153"/>
                  <a:pt x="6478558" y="773769"/>
                </a:cubicBezTo>
                <a:lnTo>
                  <a:pt x="6439960" y="792606"/>
                </a:lnTo>
                <a:lnTo>
                  <a:pt x="0" y="792606"/>
                </a:lnTo>
                <a:close/>
              </a:path>
            </a:pathLst>
          </a:custGeom>
        </p:spPr>
      </p:pic>
      <p:sp>
        <p:nvSpPr>
          <p:cNvPr id="1027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339971" y="65100"/>
            <a:ext cx="8042031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E501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title style</a:t>
            </a:r>
          </a:p>
        </p:txBody>
      </p:sp>
      <p:sp>
        <p:nvSpPr>
          <p:cNvPr id="1031" name="Rectangle 109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6455" y="1149000"/>
            <a:ext cx="8016997" cy="48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0"/>
            <a:r>
              <a:rPr lang="en-US" altLang="ko-KR"/>
              <a:t>Second level, etc.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A9CADA37-7BDD-4B7C-8BAC-B00D343C19E7}"/>
              </a:ext>
            </a:extLst>
          </p:cNvPr>
          <p:cNvCxnSpPr>
            <a:cxnSpLocks/>
          </p:cNvCxnSpPr>
          <p:nvPr userDrawn="1"/>
        </p:nvCxnSpPr>
        <p:spPr>
          <a:xfrm>
            <a:off x="0" y="789000"/>
            <a:ext cx="914400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7591A48D-7862-4BD3-BDC0-4940E5CAC7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34" b="31683"/>
          <a:stretch/>
        </p:blipFill>
        <p:spPr>
          <a:xfrm>
            <a:off x="7452032" y="396649"/>
            <a:ext cx="1495572" cy="276754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6617EA2C-9563-3A9C-CD52-0AE019419479}"/>
              </a:ext>
            </a:extLst>
          </p:cNvPr>
          <p:cNvSpPr/>
          <p:nvPr userDrawn="1"/>
        </p:nvSpPr>
        <p:spPr>
          <a:xfrm rot="10800000">
            <a:off x="695077" y="6262962"/>
            <a:ext cx="8448923" cy="46038"/>
          </a:xfrm>
          <a:prstGeom prst="rect">
            <a:avLst/>
          </a:prstGeom>
          <a:gradFill flip="none" rotWithShape="1">
            <a:gsLst>
              <a:gs pos="0">
                <a:srgbClr val="9A1F4E"/>
              </a:gs>
              <a:gs pos="25000">
                <a:srgbClr val="9A1F4E"/>
              </a:gs>
              <a:gs pos="75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BB15DAD-E0C6-A00C-DFBE-C16F6DB13731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952" y="6399033"/>
            <a:ext cx="1263900" cy="358297"/>
          </a:xfrm>
          <a:prstGeom prst="rect">
            <a:avLst/>
          </a:prstGeom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4BDD22-E678-EB87-D6D2-EB743F53AA76}"/>
              </a:ext>
            </a:extLst>
          </p:cNvPr>
          <p:cNvSpPr txBox="1">
            <a:spLocks/>
          </p:cNvSpPr>
          <p:nvPr userDrawn="1"/>
        </p:nvSpPr>
        <p:spPr>
          <a:xfrm>
            <a:off x="8077200" y="6459538"/>
            <a:ext cx="949569" cy="328612"/>
          </a:xfrm>
          <a:prstGeom prst="rect">
            <a:avLst/>
          </a:prstGeom>
        </p:spPr>
        <p:txBody>
          <a:bodyPr/>
          <a:lstStyle>
            <a:lvl1pPr algn="r">
              <a:defRPr sz="1100">
                <a:solidFill>
                  <a:schemeClr val="tx1">
                    <a:alpha val="50000"/>
                  </a:schemeClr>
                </a:solidFill>
                <a:latin typeface="Arial Black" pitchFamily="34" charset="0"/>
                <a:ea typeface="HY헤드라인M" pitchFamily="18" charset="-127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fld id="{90FC0BDF-B890-41DA-9838-AE8FE480B3D1}" type="slidenum">
              <a:rPr kumimoji="0" lang="ko-KR" altLang="en-US" sz="1200" b="0" smtClean="0">
                <a:solidFill>
                  <a:srgbClr val="002060"/>
                </a:solidFill>
                <a:latin typeface="+mn-ea"/>
                <a:ea typeface="+mn-ea"/>
              </a:rPr>
              <a:pPr fontAlgn="auto"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t>‹#›</a:t>
            </a:fld>
            <a:endParaRPr kumimoji="0" lang="en-US" altLang="ko-KR" sz="1200" b="0">
              <a:solidFill>
                <a:srgbClr val="00206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40662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6" r:id="rId1"/>
    <p:sldLayoutId id="2147483797" r:id="rId2"/>
    <p:sldLayoutId id="2147483798" r:id="rId3"/>
    <p:sldLayoutId id="2147483799" r:id="rId4"/>
    <p:sldLayoutId id="2147483800" r:id="rId5"/>
  </p:sldLayoutIdLst>
  <p:transition/>
  <p:hf hdr="0" ftr="0" dt="0"/>
  <p:txStyles>
    <p:titleStyle>
      <a:lvl1pPr algn="l" defTabSz="597892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Corbel" panose="020B0503020204020204" pitchFamily="34" charset="0"/>
          <a:ea typeface="+mj-ea"/>
          <a:cs typeface="+mj-cs"/>
        </a:defRPr>
      </a:lvl1pPr>
      <a:lvl2pPr algn="l" defTabSz="597892" rtl="0" eaLnBrk="0" fontAlgn="base" hangingPunct="0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2pPr>
      <a:lvl3pPr algn="l" defTabSz="597892" rtl="0" eaLnBrk="0" fontAlgn="base" hangingPunct="0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3pPr>
      <a:lvl4pPr algn="l" defTabSz="597892" rtl="0" eaLnBrk="0" fontAlgn="base" hangingPunct="0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4pPr>
      <a:lvl5pPr algn="l" defTabSz="597892" rtl="0" eaLnBrk="0" fontAlgn="base" hangingPunct="0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5pPr>
      <a:lvl6pPr marL="422041" algn="l" defTabSz="597892" rtl="0" fontAlgn="base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6pPr>
      <a:lvl7pPr marL="844083" algn="l" defTabSz="597892" rtl="0" fontAlgn="base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7pPr>
      <a:lvl8pPr marL="1266124" algn="l" defTabSz="597892" rtl="0" fontAlgn="base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8pPr>
      <a:lvl9pPr marL="1688165" algn="l" defTabSz="597892" rtl="0" fontAlgn="base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9pPr>
    </p:titleStyle>
    <p:bodyStyle>
      <a:lvl1pPr marL="241795" indent="-241795" algn="l" defTabSz="597892" rtl="0" eaLnBrk="0" fontAlgn="base" hangingPunct="0">
        <a:lnSpc>
          <a:spcPct val="150000"/>
        </a:lnSpc>
        <a:spcBef>
          <a:spcPct val="115000"/>
        </a:spcBef>
        <a:spcAft>
          <a:spcPct val="0"/>
        </a:spcAft>
        <a:buClr>
          <a:schemeClr val="tx2"/>
        </a:buClr>
        <a:buFont typeface="Wingdings" pitchFamily="2" charset="2"/>
        <a:buChar char="n"/>
        <a:defRPr sz="1600" b="1">
          <a:solidFill>
            <a:srgbClr val="000000"/>
          </a:solidFill>
          <a:latin typeface="Corbel" panose="020B0503020204020204" pitchFamily="34" charset="0"/>
          <a:ea typeface="+mn-ea"/>
          <a:cs typeface="+mn-cs"/>
        </a:defRPr>
      </a:lvl1pPr>
      <a:lvl2pPr marL="410318" indent="-167058" algn="l" defTabSz="597892" rtl="0" eaLnBrk="0" fontAlgn="base" hangingPunct="0">
        <a:lnSpc>
          <a:spcPct val="150000"/>
        </a:lnSpc>
        <a:spcBef>
          <a:spcPct val="5000"/>
        </a:spcBef>
        <a:spcAft>
          <a:spcPct val="0"/>
        </a:spcAft>
        <a:buClr>
          <a:schemeClr val="tx2"/>
        </a:buClr>
        <a:buFont typeface="맑은 고딕" panose="020B0503020000020004" pitchFamily="50" charset="-127"/>
        <a:buChar char="√"/>
        <a:defRPr sz="1400">
          <a:solidFill>
            <a:srgbClr val="000000"/>
          </a:solidFill>
          <a:latin typeface="Corbel" panose="020B0503020204020204" pitchFamily="34" charset="0"/>
        </a:defRPr>
      </a:lvl2pPr>
      <a:lvl3pPr marL="580307" indent="-168524" algn="l" defTabSz="597892" rtl="0" eaLnBrk="0" fontAlgn="base" hangingPunct="0">
        <a:lnSpc>
          <a:spcPct val="150000"/>
        </a:lnSpc>
        <a:spcBef>
          <a:spcPct val="80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defRPr sz="1200">
          <a:solidFill>
            <a:srgbClr val="000000"/>
          </a:solidFill>
          <a:latin typeface="Corbel" panose="020B0503020204020204" pitchFamily="34" charset="0"/>
        </a:defRPr>
      </a:lvl3pPr>
      <a:lvl4pPr marL="748831" indent="-167058" algn="l" defTabSz="597892" rtl="0" eaLnBrk="0" fontAlgn="base" hangingPunct="0">
        <a:lnSpc>
          <a:spcPct val="150000"/>
        </a:lnSpc>
        <a:spcBef>
          <a:spcPct val="8000"/>
        </a:spcBef>
        <a:spcAft>
          <a:spcPct val="0"/>
        </a:spcAft>
        <a:buClr>
          <a:schemeClr val="tx2"/>
        </a:buClr>
        <a:buFont typeface="Arial" pitchFamily="34" charset="0"/>
        <a:buChar char="-"/>
        <a:defRPr sz="1200">
          <a:solidFill>
            <a:srgbClr val="000000"/>
          </a:solidFill>
          <a:latin typeface="Corbel" panose="020B0503020204020204" pitchFamily="34" charset="0"/>
        </a:defRPr>
      </a:lvl4pPr>
      <a:lvl5pPr marL="917354" indent="-167058" algn="l" defTabSz="597892" rtl="0" eaLnBrk="0" fontAlgn="base" hangingPunct="0">
        <a:lnSpc>
          <a:spcPct val="150000"/>
        </a:lnSpc>
        <a:spcBef>
          <a:spcPct val="8000"/>
        </a:spcBef>
        <a:spcAft>
          <a:spcPct val="0"/>
        </a:spcAft>
        <a:buClr>
          <a:srgbClr val="F37121"/>
        </a:buClr>
        <a:buFont typeface="Wingdings" pitchFamily="2" charset="2"/>
        <a:buChar char="§"/>
        <a:defRPr sz="1292">
          <a:solidFill>
            <a:srgbClr val="000000"/>
          </a:solidFill>
          <a:latin typeface="Corbel" panose="020B0503020204020204" pitchFamily="34" charset="0"/>
        </a:defRPr>
      </a:lvl5pPr>
      <a:lvl6pPr marL="1339395" indent="-167058" algn="l" defTabSz="597892" rtl="0" fontAlgn="base">
        <a:lnSpc>
          <a:spcPct val="108000"/>
        </a:lnSpc>
        <a:spcBef>
          <a:spcPct val="8000"/>
        </a:spcBef>
        <a:spcAft>
          <a:spcPct val="0"/>
        </a:spcAft>
        <a:buClr>
          <a:srgbClr val="F37121"/>
        </a:buClr>
        <a:buFont typeface="Wingdings" pitchFamily="2" charset="2"/>
        <a:buChar char="§"/>
        <a:defRPr sz="1292">
          <a:solidFill>
            <a:srgbClr val="000000"/>
          </a:solidFill>
          <a:latin typeface="+mn-lt"/>
        </a:defRPr>
      </a:lvl6pPr>
      <a:lvl7pPr marL="1761436" indent="-167058" algn="l" defTabSz="597892" rtl="0" fontAlgn="base">
        <a:lnSpc>
          <a:spcPct val="108000"/>
        </a:lnSpc>
        <a:spcBef>
          <a:spcPct val="8000"/>
        </a:spcBef>
        <a:spcAft>
          <a:spcPct val="0"/>
        </a:spcAft>
        <a:buClr>
          <a:srgbClr val="F37121"/>
        </a:buClr>
        <a:buFont typeface="Wingdings" pitchFamily="2" charset="2"/>
        <a:buChar char="§"/>
        <a:defRPr sz="1292">
          <a:solidFill>
            <a:srgbClr val="000000"/>
          </a:solidFill>
          <a:latin typeface="+mn-lt"/>
        </a:defRPr>
      </a:lvl7pPr>
      <a:lvl8pPr marL="2183478" indent="-167058" algn="l" defTabSz="597892" rtl="0" fontAlgn="base">
        <a:lnSpc>
          <a:spcPct val="108000"/>
        </a:lnSpc>
        <a:spcBef>
          <a:spcPct val="8000"/>
        </a:spcBef>
        <a:spcAft>
          <a:spcPct val="0"/>
        </a:spcAft>
        <a:buClr>
          <a:srgbClr val="F37121"/>
        </a:buClr>
        <a:buFont typeface="Wingdings" pitchFamily="2" charset="2"/>
        <a:buChar char="§"/>
        <a:defRPr sz="1292">
          <a:solidFill>
            <a:srgbClr val="000000"/>
          </a:solidFill>
          <a:latin typeface="+mn-lt"/>
        </a:defRPr>
      </a:lvl8pPr>
      <a:lvl9pPr marL="2605519" indent="-167058" algn="l" defTabSz="597892" rtl="0" fontAlgn="base">
        <a:lnSpc>
          <a:spcPct val="108000"/>
        </a:lnSpc>
        <a:spcBef>
          <a:spcPct val="8000"/>
        </a:spcBef>
        <a:spcAft>
          <a:spcPct val="0"/>
        </a:spcAft>
        <a:buClr>
          <a:srgbClr val="F37121"/>
        </a:buClr>
        <a:buFont typeface="Wingdings" pitchFamily="2" charset="2"/>
        <a:buChar char="§"/>
        <a:defRPr sz="1292">
          <a:solidFill>
            <a:srgbClr val="000000"/>
          </a:solidFill>
          <a:latin typeface="+mn-lt"/>
        </a:defRPr>
      </a:lvl9pPr>
    </p:bodyStyle>
    <p:otherStyle>
      <a:defPPr>
        <a:defRPr lang="ko-KR"/>
      </a:defPPr>
      <a:lvl1pPr marL="0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41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83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124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165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207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248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289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331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9951C254-D3FE-4F55-B884-40C49A86022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34" b="31683"/>
          <a:stretch/>
        </p:blipFill>
        <p:spPr>
          <a:xfrm>
            <a:off x="7452032" y="6399033"/>
            <a:ext cx="1444806" cy="26736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A742296-B25A-27A7-7E69-7939DB0BA19F}"/>
              </a:ext>
            </a:extLst>
          </p:cNvPr>
          <p:cNvSpPr txBox="1"/>
          <p:nvPr/>
        </p:nvSpPr>
        <p:spPr>
          <a:xfrm>
            <a:off x="1016960" y="2193435"/>
            <a:ext cx="7110079" cy="875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100" marR="0" indent="0" algn="ctr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4400" b="1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프로젝트</a:t>
            </a:r>
            <a:r>
              <a:rPr lang="en-US" altLang="ko-KR" sz="4400" b="1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 #2 </a:t>
            </a:r>
            <a:r>
              <a:rPr lang="ko-KR" altLang="en-US" sz="4400" b="1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발표평가</a:t>
            </a:r>
            <a:endParaRPr lang="en-US" altLang="ko-KR" sz="4400" b="1">
              <a:solidFill>
                <a:srgbClr val="00206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7DA4912B-7505-A2FB-FBB8-4DF4D2A233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1963" y="4878004"/>
            <a:ext cx="6300072" cy="79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4406" tIns="42203" rIns="84406" bIns="42203" numCol="1" anchor="t" anchorCtr="0" compatLnSpc="1">
            <a:prstTxWarp prst="textNoShape">
              <a:avLst/>
            </a:prstTxWarp>
          </a:bodyPr>
          <a:lstStyle>
            <a:lvl1pPr marL="0" indent="0" algn="l" defTabSz="647700" rtl="0" eaLnBrk="0" fontAlgn="base" hangingPunct="0">
              <a:lnSpc>
                <a:spcPct val="100000"/>
              </a:lnSpc>
              <a:spcBef>
                <a:spcPct val="25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None/>
              <a:defRPr sz="1600" b="1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44500" indent="-180975" algn="l" defTabSz="647700" rtl="0" eaLnBrk="0" fontAlgn="base" hangingPunct="0">
              <a:lnSpc>
                <a:spcPct val="105000"/>
              </a:lnSpc>
              <a:spcBef>
                <a:spcPct val="5000"/>
              </a:spcBef>
              <a:spcAft>
                <a:spcPct val="0"/>
              </a:spcAft>
              <a:buClr>
                <a:srgbClr val="F37121"/>
              </a:buClr>
              <a:buFont typeface="Arial Unicode MS" pitchFamily="50" charset="-127"/>
              <a:buChar char="–"/>
              <a:defRPr sz="1400">
                <a:solidFill>
                  <a:srgbClr val="000000"/>
                </a:solidFill>
                <a:latin typeface="+mn-lt"/>
              </a:defRPr>
            </a:lvl2pPr>
            <a:lvl3pPr marL="628650" indent="-182563" algn="l" defTabSz="647700" rtl="0" eaLnBrk="0" fontAlgn="base" hangingPunct="0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400">
                <a:solidFill>
                  <a:srgbClr val="000000"/>
                </a:solidFill>
                <a:latin typeface="+mn-lt"/>
              </a:defRPr>
            </a:lvl3pPr>
            <a:lvl4pPr marL="811213" indent="-180975" algn="l" defTabSz="647700" rtl="0" eaLnBrk="0" fontAlgn="base" hangingPunct="0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Arial" pitchFamily="34" charset="0"/>
              <a:buChar char="-"/>
              <a:defRPr sz="1400">
                <a:solidFill>
                  <a:srgbClr val="000000"/>
                </a:solidFill>
                <a:latin typeface="+mn-lt"/>
              </a:defRPr>
            </a:lvl4pPr>
            <a:lvl5pPr marL="993775" indent="-180975" algn="l" defTabSz="647700" rtl="0" eaLnBrk="0" fontAlgn="base" hangingPunct="0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400">
                <a:solidFill>
                  <a:srgbClr val="000000"/>
                </a:solidFill>
                <a:latin typeface="+mn-lt"/>
              </a:defRPr>
            </a:lvl5pPr>
            <a:lvl6pPr marL="1450975" indent="-180975" algn="l" defTabSz="647700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400">
                <a:solidFill>
                  <a:srgbClr val="000000"/>
                </a:solidFill>
                <a:latin typeface="+mn-lt"/>
              </a:defRPr>
            </a:lvl6pPr>
            <a:lvl7pPr marL="1908175" indent="-180975" algn="l" defTabSz="647700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400">
                <a:solidFill>
                  <a:srgbClr val="000000"/>
                </a:solidFill>
                <a:latin typeface="+mn-lt"/>
              </a:defRPr>
            </a:lvl7pPr>
            <a:lvl8pPr marL="2365375" indent="-180975" algn="l" defTabSz="647700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400">
                <a:solidFill>
                  <a:srgbClr val="000000"/>
                </a:solidFill>
                <a:latin typeface="+mn-lt"/>
              </a:defRPr>
            </a:lvl8pPr>
            <a:lvl9pPr marL="2822575" indent="-180975" algn="l" defTabSz="647700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400">
                <a:solidFill>
                  <a:srgbClr val="000000"/>
                </a:solidFill>
                <a:latin typeface="+mn-lt"/>
              </a:defRPr>
            </a:lvl9pPr>
          </a:lstStyle>
          <a:p>
            <a:pPr algn="ctr" eaLnBrk="1" hangingPunct="1"/>
            <a:r>
              <a:rPr lang="en-US" altLang="ko-KR" b="0">
                <a:solidFill>
                  <a:srgbClr val="002060"/>
                </a:solidFill>
                <a:latin typeface="맑은 고딕"/>
                <a:ea typeface="맑은 고딕"/>
              </a:rPr>
              <a:t>[2</a:t>
            </a:r>
            <a:r>
              <a:rPr lang="ko-KR" altLang="en-US" b="0">
                <a:solidFill>
                  <a:srgbClr val="002060"/>
                </a:solidFill>
                <a:latin typeface="맑은 고딕"/>
                <a:ea typeface="맑은 고딕"/>
              </a:rPr>
              <a:t>조</a:t>
            </a:r>
            <a:r>
              <a:rPr lang="en-US" altLang="ko-KR" b="0">
                <a:solidFill>
                  <a:srgbClr val="002060"/>
                </a:solidFill>
                <a:latin typeface="맑은 고딕"/>
                <a:ea typeface="맑은 고딕"/>
              </a:rPr>
              <a:t>] </a:t>
            </a:r>
            <a:r>
              <a:rPr lang="en-US" altLang="ko-KR" b="0" err="1">
                <a:solidFill>
                  <a:srgbClr val="002060"/>
                </a:solidFill>
                <a:latin typeface="맑은 고딕"/>
                <a:ea typeface="맑은 고딕"/>
              </a:rPr>
              <a:t>신희권</a:t>
            </a:r>
            <a:r>
              <a:rPr lang="en-US" altLang="ko-KR" b="0">
                <a:solidFill>
                  <a:srgbClr val="002060"/>
                </a:solidFill>
                <a:latin typeface="맑은 고딕"/>
                <a:ea typeface="맑은 고딕"/>
              </a:rPr>
              <a:t>(</a:t>
            </a:r>
            <a:r>
              <a:rPr lang="ko-KR" altLang="en-US" b="0">
                <a:solidFill>
                  <a:srgbClr val="002060"/>
                </a:solidFill>
                <a:latin typeface="맑은 고딕"/>
                <a:ea typeface="맑은 고딕"/>
              </a:rPr>
              <a:t>팀장</a:t>
            </a:r>
            <a:r>
              <a:rPr lang="en-US" altLang="ko-KR" b="0">
                <a:solidFill>
                  <a:srgbClr val="002060"/>
                </a:solidFill>
                <a:latin typeface="맑은 고딕"/>
                <a:ea typeface="맑은 고딕"/>
              </a:rPr>
              <a:t>), </a:t>
            </a:r>
            <a:r>
              <a:rPr lang="en-US" altLang="ko-KR" b="0" err="1">
                <a:solidFill>
                  <a:srgbClr val="002060"/>
                </a:solidFill>
                <a:latin typeface="맑은 고딕"/>
                <a:ea typeface="맑은 고딕"/>
              </a:rPr>
              <a:t>박금나</a:t>
            </a:r>
            <a:r>
              <a:rPr lang="en-US" altLang="ko-KR" b="0">
                <a:solidFill>
                  <a:srgbClr val="002060"/>
                </a:solidFill>
                <a:latin typeface="맑은 고딕"/>
                <a:ea typeface="맑은 고딕"/>
              </a:rPr>
              <a:t>, </a:t>
            </a:r>
            <a:r>
              <a:rPr lang="en-US" altLang="ko-KR" b="0" err="1">
                <a:solidFill>
                  <a:srgbClr val="002060"/>
                </a:solidFill>
                <a:latin typeface="맑은 고딕"/>
                <a:ea typeface="맑은 고딕"/>
              </a:rPr>
              <a:t>김다현</a:t>
            </a:r>
            <a:endParaRPr lang="en-US" altLang="ko-KR" b="0">
              <a:solidFill>
                <a:srgbClr val="002060"/>
              </a:solidFill>
              <a:latin typeface="맑은 고딕"/>
              <a:ea typeface="맑은 고딕"/>
            </a:endParaRPr>
          </a:p>
          <a:p>
            <a:pPr algn="ctr"/>
            <a:r>
              <a:rPr lang="en-US" b="0">
                <a:solidFill>
                  <a:srgbClr val="002060"/>
                </a:solidFill>
                <a:latin typeface="Malgun Gothic"/>
                <a:ea typeface="Malgun Gothic"/>
              </a:rPr>
              <a:t>2024254008</a:t>
            </a:r>
            <a:r>
              <a:rPr lang="en-US" altLang="ko-KR" b="0">
                <a:solidFill>
                  <a:srgbClr val="002060"/>
                </a:solidFill>
                <a:latin typeface="맑은 고딕"/>
                <a:ea typeface="맑은 고딕"/>
              </a:rPr>
              <a:t>@cbnu.ac.kr, pgn@cbnu.ac.kr, </a:t>
            </a:r>
            <a:r>
              <a:rPr lang="en-US" b="0">
                <a:solidFill>
                  <a:srgbClr val="002060"/>
                </a:solidFill>
                <a:latin typeface="Malgun Gothic"/>
                <a:ea typeface="Malgun Gothic"/>
              </a:rPr>
              <a:t>dahyeon713</a:t>
            </a:r>
            <a:r>
              <a:rPr lang="en-US" altLang="ko-KR" b="0">
                <a:solidFill>
                  <a:srgbClr val="002060"/>
                </a:solidFill>
                <a:latin typeface="맑은 고딕"/>
                <a:ea typeface="맑은 고딕"/>
              </a:rPr>
              <a:t>@cbnu.ac.kr, </a:t>
            </a:r>
            <a:endParaRPr lang="en-US"/>
          </a:p>
          <a:p>
            <a:pPr algn="ctr" eaLnBrk="1" hangingPunct="1"/>
            <a:r>
              <a:rPr lang="ko-KR" altLang="en-US" b="0">
                <a:solidFill>
                  <a:srgbClr val="002060"/>
                </a:solidFill>
                <a:latin typeface="맑은 고딕"/>
                <a:ea typeface="맑은 고딕"/>
              </a:rPr>
              <a:t>충북대학교 산업인공지능학과</a:t>
            </a:r>
            <a:endParaRPr lang="en-US" altLang="ko-KR" b="0">
              <a:solidFill>
                <a:srgbClr val="002060"/>
              </a:solidFill>
              <a:latin typeface="맑은 고딕"/>
              <a:ea typeface="맑은 고딕"/>
            </a:endParaRPr>
          </a:p>
          <a:p>
            <a:pPr algn="ctr" eaLnBrk="1" hangingPunct="1"/>
            <a:endParaRPr lang="en-GB" altLang="ko-KR" b="0">
              <a:solidFill>
                <a:srgbClr val="00206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D12AAC-3E69-1D46-503B-5B89E4C8F6DA}"/>
              </a:ext>
            </a:extLst>
          </p:cNvPr>
          <p:cNvSpPr txBox="1"/>
          <p:nvPr/>
        </p:nvSpPr>
        <p:spPr>
          <a:xfrm>
            <a:off x="656956" y="3068996"/>
            <a:ext cx="7830088" cy="37869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8100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err="1">
                <a:solidFill>
                  <a:schemeClr val="tx1"/>
                </a:solidFill>
                <a:latin typeface="Arial"/>
                <a:ea typeface="맑은 고딕"/>
                <a:cs typeface="Arial"/>
              </a:rPr>
              <a:t>자동차</a:t>
            </a:r>
            <a:r>
              <a:rPr lang="en-US" sz="1600" b="1">
                <a:solidFill>
                  <a:schemeClr val="tx1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sz="1600" b="1" err="1">
                <a:solidFill>
                  <a:schemeClr val="tx1"/>
                </a:solidFill>
                <a:latin typeface="Arial"/>
                <a:ea typeface="맑은 고딕"/>
                <a:cs typeface="Arial"/>
              </a:rPr>
              <a:t>부품용</a:t>
            </a:r>
            <a:r>
              <a:rPr lang="en-US" sz="1600" b="1">
                <a:solidFill>
                  <a:schemeClr val="tx1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sz="1600" b="1" err="1">
                <a:solidFill>
                  <a:schemeClr val="tx1"/>
                </a:solidFill>
                <a:latin typeface="Arial"/>
                <a:ea typeface="맑은 고딕"/>
                <a:cs typeface="Arial"/>
              </a:rPr>
              <a:t>나사</a:t>
            </a:r>
            <a:r>
              <a:rPr lang="en-US" sz="1600" b="1">
                <a:solidFill>
                  <a:schemeClr val="tx1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sz="1600" b="1" err="1">
                <a:solidFill>
                  <a:schemeClr val="tx1"/>
                </a:solidFill>
                <a:latin typeface="Arial"/>
                <a:ea typeface="맑은 고딕"/>
                <a:cs typeface="Arial"/>
              </a:rPr>
              <a:t>이종품</a:t>
            </a:r>
            <a:r>
              <a:rPr lang="en-US" sz="1600" b="1">
                <a:solidFill>
                  <a:schemeClr val="tx1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sz="1600" b="1" err="1">
                <a:solidFill>
                  <a:schemeClr val="tx1"/>
                </a:solidFill>
                <a:latin typeface="Arial"/>
                <a:ea typeface="맑은 고딕"/>
                <a:cs typeface="Arial"/>
              </a:rPr>
              <a:t>검출을</a:t>
            </a:r>
            <a:r>
              <a:rPr lang="en-US" sz="1600" b="1">
                <a:solidFill>
                  <a:schemeClr val="tx1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sz="1600" b="1" err="1">
                <a:solidFill>
                  <a:schemeClr val="tx1"/>
                </a:solidFill>
                <a:latin typeface="Arial"/>
                <a:ea typeface="맑은 고딕"/>
                <a:cs typeface="Arial"/>
              </a:rPr>
              <a:t>위한</a:t>
            </a:r>
            <a:r>
              <a:rPr lang="en-US" altLang="ko-KR" sz="1600" b="1">
                <a:solidFill>
                  <a:schemeClr val="tx1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ko-KR" altLang="en-US" sz="1600" b="1">
                <a:solidFill>
                  <a:schemeClr val="tx1"/>
                </a:solidFill>
                <a:latin typeface="Arial"/>
                <a:ea typeface="맑은 고딕"/>
                <a:cs typeface="Arial"/>
              </a:rPr>
              <a:t>모델 </a:t>
            </a:r>
            <a:r>
              <a:rPr lang="ko-KR" altLang="en-US" sz="1600" b="1" err="1">
                <a:solidFill>
                  <a:schemeClr val="tx1"/>
                </a:solidFill>
                <a:latin typeface="Arial"/>
                <a:ea typeface="맑은 고딕"/>
                <a:cs typeface="Arial"/>
              </a:rPr>
              <a:t>드리프트</a:t>
            </a:r>
            <a:r>
              <a:rPr lang="ko-KR" altLang="en-US" sz="1600" b="1">
                <a:solidFill>
                  <a:schemeClr val="tx1"/>
                </a:solidFill>
                <a:latin typeface="Arial"/>
                <a:ea typeface="맑은 고딕"/>
                <a:cs typeface="Arial"/>
              </a:rPr>
              <a:t> 대응형 딥러닝 모델 연구</a:t>
            </a:r>
            <a:endParaRPr lang="en-US" altLang="ko-KR" sz="1600" b="1">
              <a:solidFill>
                <a:schemeClr val="tx1"/>
              </a:solidFill>
              <a:latin typeface="Arial"/>
              <a:ea typeface="맑은 고딕"/>
              <a:cs typeface="Arial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571C43D-1094-CBC8-93A7-E64A401C7D9C}"/>
              </a:ext>
            </a:extLst>
          </p:cNvPr>
          <p:cNvSpPr/>
          <p:nvPr/>
        </p:nvSpPr>
        <p:spPr bwMode="auto">
          <a:xfrm>
            <a:off x="115260" y="102298"/>
            <a:ext cx="2678427" cy="270003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200" b="1" i="0" u="none" strike="noStrike" cap="none" normalizeH="0" baseline="0" err="1">
                <a:ln>
                  <a:noFill/>
                </a:ln>
                <a:solidFill>
                  <a:schemeClr val="bg1"/>
                </a:solidFill>
                <a:effectLst/>
                <a:latin typeface="+mn-ea"/>
              </a:rPr>
              <a:t>지능화캡스톤프로젝트</a:t>
            </a:r>
            <a:r>
              <a:rPr kumimoji="0" lang="ko-KR" altLang="en-US" sz="12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+mn-ea"/>
              </a:rPr>
              <a:t> </a:t>
            </a:r>
            <a:r>
              <a:rPr kumimoji="0" lang="en-US" altLang="ko-KR" sz="12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+mn-ea"/>
              </a:rPr>
              <a:t>#</a:t>
            </a:r>
            <a:r>
              <a:rPr lang="en-US" altLang="ko-KR" sz="1200" b="1">
                <a:solidFill>
                  <a:schemeClr val="bg1"/>
                </a:solidFill>
                <a:latin typeface="+mn-ea"/>
              </a:rPr>
              <a:t>2 </a:t>
            </a:r>
            <a:r>
              <a:rPr kumimoji="0" lang="ko-KR" altLang="en-US" sz="12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+mn-ea"/>
              </a:rPr>
              <a:t>발표평가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70E02-3417-9313-EC23-20CF483FF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7E1CE6F-76AD-000F-FC26-1ED75C8B7A1E}"/>
              </a:ext>
            </a:extLst>
          </p:cNvPr>
          <p:cNvSpPr/>
          <p:nvPr/>
        </p:nvSpPr>
        <p:spPr bwMode="auto">
          <a:xfrm>
            <a:off x="1007441" y="1583763"/>
            <a:ext cx="7312657" cy="713515"/>
          </a:xfrm>
          <a:prstGeom prst="roundRect">
            <a:avLst>
              <a:gd name="adj" fmla="val 46219"/>
            </a:avLst>
          </a:prstGeom>
          <a:solidFill>
            <a:srgbClr val="E8E8E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rgbClr val="00C0C0"/>
              </a:solidFill>
              <a:effectLst/>
              <a:latin typeface="Arial" charset="0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844DB7F6-FF4D-9D0C-9F40-0FE318A46B04}"/>
              </a:ext>
            </a:extLst>
          </p:cNvPr>
          <p:cNvGrpSpPr/>
          <p:nvPr/>
        </p:nvGrpSpPr>
        <p:grpSpPr>
          <a:xfrm>
            <a:off x="684584" y="1494115"/>
            <a:ext cx="892810" cy="892810"/>
            <a:chOff x="611956" y="1268976"/>
            <a:chExt cx="772344" cy="772344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743373F4-2E7B-8903-8CE2-0B4727255424}"/>
                </a:ext>
              </a:extLst>
            </p:cNvPr>
            <p:cNvSpPr/>
            <p:nvPr/>
          </p:nvSpPr>
          <p:spPr bwMode="auto">
            <a:xfrm>
              <a:off x="611956" y="1268976"/>
              <a:ext cx="772344" cy="772344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2800" b="1" i="0" u="none" strike="noStrike" cap="none" normalizeH="0" baseline="0">
                  <a:ln>
                    <a:noFill/>
                  </a:ln>
                  <a:solidFill>
                    <a:srgbClr val="12275E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kumimoji="0" lang="ko-KR" altLang="en-US" sz="2800" b="1" i="0" u="none" strike="noStrike" cap="none" normalizeH="0" baseline="0">
                <a:ln>
                  <a:noFill/>
                </a:ln>
                <a:solidFill>
                  <a:srgbClr val="12275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원형: 비어 있음 9">
              <a:extLst>
                <a:ext uri="{FF2B5EF4-FFF2-40B4-BE49-F238E27FC236}">
                  <a16:creationId xmlns:a16="http://schemas.microsoft.com/office/drawing/2014/main" id="{2C433100-51C9-040F-E15D-ECEE4E91FD4B}"/>
                </a:ext>
              </a:extLst>
            </p:cNvPr>
            <p:cNvSpPr/>
            <p:nvPr/>
          </p:nvSpPr>
          <p:spPr bwMode="auto">
            <a:xfrm>
              <a:off x="641596" y="1298616"/>
              <a:ext cx="713064" cy="713064"/>
            </a:xfrm>
            <a:prstGeom prst="donut">
              <a:avLst>
                <a:gd name="adj" fmla="val 15399"/>
              </a:avLst>
            </a:prstGeom>
            <a:solidFill>
              <a:srgbClr val="12275E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400" b="0" i="0" u="none" strike="noStrike" cap="none" normalizeH="0" baseline="0">
                <a:ln>
                  <a:noFill/>
                </a:ln>
                <a:solidFill>
                  <a:srgbClr val="00C0C0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163AB9A9-9021-5A6F-0EA2-F269AB9BFEEB}"/>
              </a:ext>
            </a:extLst>
          </p:cNvPr>
          <p:cNvSpPr txBox="1"/>
          <p:nvPr/>
        </p:nvSpPr>
        <p:spPr>
          <a:xfrm>
            <a:off x="1016960" y="858239"/>
            <a:ext cx="7110079" cy="590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100" marR="0" indent="0" algn="ctr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800" b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CONTENTS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3185146-9791-486D-69D7-EF78025638B0}"/>
              </a:ext>
            </a:extLst>
          </p:cNvPr>
          <p:cNvSpPr txBox="1"/>
          <p:nvPr/>
        </p:nvSpPr>
        <p:spPr>
          <a:xfrm>
            <a:off x="1891949" y="1597641"/>
            <a:ext cx="20826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000" b="1">
                <a:solidFill>
                  <a:srgbClr val="12275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프로젝트 </a:t>
            </a:r>
            <a:r>
              <a:rPr lang="en-US" altLang="ko-KR" sz="2000" b="1">
                <a:solidFill>
                  <a:srgbClr val="12275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#2 </a:t>
            </a:r>
            <a:r>
              <a:rPr lang="ko-KR" altLang="en-US" sz="2000" b="1">
                <a:solidFill>
                  <a:srgbClr val="12275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개요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DB39E71-0A0A-BC03-2274-739250D53486}"/>
              </a:ext>
            </a:extLst>
          </p:cNvPr>
          <p:cNvSpPr txBox="1"/>
          <p:nvPr/>
        </p:nvSpPr>
        <p:spPr>
          <a:xfrm>
            <a:off x="1911844" y="1978237"/>
            <a:ext cx="51651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프로젝트</a:t>
            </a:r>
            <a:r>
              <a:rPr lang="en-US" altLang="ko-KR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개요 및 선정 논문 소개</a:t>
            </a:r>
            <a:r>
              <a:rPr lang="en-US" altLang="ko-KR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ko-KR" altLang="en-US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팀 구성원 소개</a:t>
            </a:r>
            <a:r>
              <a:rPr lang="en-US" altLang="ko-KR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및</a:t>
            </a:r>
            <a:r>
              <a:rPr lang="en-US" altLang="ko-KR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업무분장</a:t>
            </a:r>
          </a:p>
        </p:txBody>
      </p:sp>
      <p:sp>
        <p:nvSpPr>
          <p:cNvPr id="97" name="제목 96">
            <a:extLst>
              <a:ext uri="{FF2B5EF4-FFF2-40B4-BE49-F238E27FC236}">
                <a16:creationId xmlns:a16="http://schemas.microsoft.com/office/drawing/2014/main" id="{6449DDCE-00F9-EE78-73DB-E3DB540E5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목차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1F93FE2C-DA74-2AA9-0B81-0D5A5D9C12A6}"/>
              </a:ext>
            </a:extLst>
          </p:cNvPr>
          <p:cNvSpPr/>
          <p:nvPr/>
        </p:nvSpPr>
        <p:spPr bwMode="auto">
          <a:xfrm>
            <a:off x="1007441" y="2513122"/>
            <a:ext cx="7312657" cy="713515"/>
          </a:xfrm>
          <a:prstGeom prst="roundRect">
            <a:avLst>
              <a:gd name="adj" fmla="val 46219"/>
            </a:avLst>
          </a:prstGeom>
          <a:solidFill>
            <a:srgbClr val="E8E8E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rgbClr val="00C0C0"/>
              </a:solidFill>
              <a:effectLst/>
              <a:latin typeface="Arial" charset="0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C2ADC6E4-4338-D744-F65B-329AA8BDF69B}"/>
              </a:ext>
            </a:extLst>
          </p:cNvPr>
          <p:cNvGrpSpPr/>
          <p:nvPr/>
        </p:nvGrpSpPr>
        <p:grpSpPr>
          <a:xfrm>
            <a:off x="684584" y="2423474"/>
            <a:ext cx="892810" cy="892810"/>
            <a:chOff x="611956" y="1268976"/>
            <a:chExt cx="772344" cy="772344"/>
          </a:xfrm>
        </p:grpSpPr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F6B51E49-2B01-4A42-D67E-B2F6F95D0DD5}"/>
                </a:ext>
              </a:extLst>
            </p:cNvPr>
            <p:cNvSpPr/>
            <p:nvPr/>
          </p:nvSpPr>
          <p:spPr bwMode="auto">
            <a:xfrm>
              <a:off x="611956" y="1268976"/>
              <a:ext cx="772344" cy="772344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2800" b="1" i="0" u="none" strike="noStrike" cap="none" normalizeH="0" baseline="0">
                  <a:ln>
                    <a:noFill/>
                  </a:ln>
                  <a:solidFill>
                    <a:srgbClr val="12275E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II</a:t>
              </a:r>
              <a:endParaRPr kumimoji="0" lang="ko-KR" altLang="en-US" sz="2800" b="1" i="0" u="none" strike="noStrike" cap="none" normalizeH="0" baseline="0">
                <a:ln>
                  <a:noFill/>
                </a:ln>
                <a:solidFill>
                  <a:srgbClr val="12275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원형: 비어 있음 4">
              <a:extLst>
                <a:ext uri="{FF2B5EF4-FFF2-40B4-BE49-F238E27FC236}">
                  <a16:creationId xmlns:a16="http://schemas.microsoft.com/office/drawing/2014/main" id="{61F5A1B1-D133-A11E-F4CA-D1ECB93766F4}"/>
                </a:ext>
              </a:extLst>
            </p:cNvPr>
            <p:cNvSpPr/>
            <p:nvPr/>
          </p:nvSpPr>
          <p:spPr bwMode="auto">
            <a:xfrm>
              <a:off x="641596" y="1298616"/>
              <a:ext cx="713064" cy="713064"/>
            </a:xfrm>
            <a:prstGeom prst="donut">
              <a:avLst>
                <a:gd name="adj" fmla="val 15399"/>
              </a:avLst>
            </a:prstGeom>
            <a:solidFill>
              <a:srgbClr val="12275E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400" b="0" i="0" u="none" strike="noStrike" cap="none" normalizeH="0" baseline="0">
                <a:ln>
                  <a:noFill/>
                </a:ln>
                <a:solidFill>
                  <a:srgbClr val="00C0C0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E08BDFE7-A248-23BE-F854-63DBCA068A9B}"/>
              </a:ext>
            </a:extLst>
          </p:cNvPr>
          <p:cNvSpPr/>
          <p:nvPr/>
        </p:nvSpPr>
        <p:spPr bwMode="auto">
          <a:xfrm>
            <a:off x="1007441" y="3442481"/>
            <a:ext cx="7312657" cy="713515"/>
          </a:xfrm>
          <a:prstGeom prst="roundRect">
            <a:avLst>
              <a:gd name="adj" fmla="val 46219"/>
            </a:avLst>
          </a:prstGeom>
          <a:solidFill>
            <a:srgbClr val="E8E8E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rgbClr val="00C0C0"/>
              </a:solidFill>
              <a:effectLst/>
              <a:latin typeface="Arial" charset="0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A5B58988-5F62-FDCD-11A1-7E9E431827F4}"/>
              </a:ext>
            </a:extLst>
          </p:cNvPr>
          <p:cNvSpPr/>
          <p:nvPr/>
        </p:nvSpPr>
        <p:spPr bwMode="auto">
          <a:xfrm>
            <a:off x="684584" y="3352833"/>
            <a:ext cx="892810" cy="892810"/>
          </a:xfrm>
          <a:prstGeom prst="ellipse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2800" b="1" i="0" u="none" strike="noStrike" cap="none" normalizeH="0" baseline="0">
                <a:ln>
                  <a:noFill/>
                </a:ln>
                <a:solidFill>
                  <a:srgbClr val="12275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III</a:t>
            </a:r>
            <a:endParaRPr kumimoji="0" lang="ko-KR" altLang="en-US" sz="2800" b="1" i="0" u="none" strike="noStrike" cap="none" normalizeH="0" baseline="0">
              <a:ln>
                <a:noFill/>
              </a:ln>
              <a:solidFill>
                <a:srgbClr val="12275E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원형: 비어 있음 8">
            <a:extLst>
              <a:ext uri="{FF2B5EF4-FFF2-40B4-BE49-F238E27FC236}">
                <a16:creationId xmlns:a16="http://schemas.microsoft.com/office/drawing/2014/main" id="{1FCBD62C-886C-5509-5BBA-B5DE30E52BEB}"/>
              </a:ext>
            </a:extLst>
          </p:cNvPr>
          <p:cNvSpPr/>
          <p:nvPr/>
        </p:nvSpPr>
        <p:spPr bwMode="auto">
          <a:xfrm>
            <a:off x="718847" y="3387096"/>
            <a:ext cx="824284" cy="824284"/>
          </a:xfrm>
          <a:prstGeom prst="donut">
            <a:avLst>
              <a:gd name="adj" fmla="val 15399"/>
            </a:avLst>
          </a:prstGeom>
          <a:solidFill>
            <a:srgbClr val="12275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400" b="0" i="0" u="none" strike="noStrike" cap="none" normalizeH="0" baseline="0">
              <a:ln>
                <a:noFill/>
              </a:ln>
              <a:solidFill>
                <a:srgbClr val="9A1F4E"/>
              </a:solidFill>
              <a:effectLst/>
              <a:latin typeface="Arial" charset="0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514773D-AC32-F65A-75C1-0045B1BDE08E}"/>
              </a:ext>
            </a:extLst>
          </p:cNvPr>
          <p:cNvSpPr/>
          <p:nvPr/>
        </p:nvSpPr>
        <p:spPr bwMode="auto">
          <a:xfrm>
            <a:off x="1007441" y="4371840"/>
            <a:ext cx="7312657" cy="713515"/>
          </a:xfrm>
          <a:prstGeom prst="roundRect">
            <a:avLst>
              <a:gd name="adj" fmla="val 46219"/>
            </a:avLst>
          </a:prstGeom>
          <a:solidFill>
            <a:srgbClr val="E8E8E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rgbClr val="00C0C0"/>
              </a:solidFill>
              <a:effectLst/>
              <a:latin typeface="Arial" charset="0"/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B20EDCCF-EAF2-C91D-B441-58D027BF4921}"/>
              </a:ext>
            </a:extLst>
          </p:cNvPr>
          <p:cNvSpPr/>
          <p:nvPr/>
        </p:nvSpPr>
        <p:spPr bwMode="auto">
          <a:xfrm>
            <a:off x="684584" y="4282192"/>
            <a:ext cx="892810" cy="892810"/>
          </a:xfrm>
          <a:prstGeom prst="ellipse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2800" b="1" i="0" u="none" strike="noStrike" cap="none" normalizeH="0" baseline="0">
                <a:ln>
                  <a:noFill/>
                </a:ln>
                <a:solidFill>
                  <a:srgbClr val="12275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IV</a:t>
            </a:r>
            <a:endParaRPr kumimoji="0" lang="ko-KR" altLang="en-US" sz="2800" b="1" i="0" u="none" strike="noStrike" cap="none" normalizeH="0" baseline="0">
              <a:ln>
                <a:noFill/>
              </a:ln>
              <a:solidFill>
                <a:srgbClr val="12275E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원형: 비어 있음 15">
            <a:extLst>
              <a:ext uri="{FF2B5EF4-FFF2-40B4-BE49-F238E27FC236}">
                <a16:creationId xmlns:a16="http://schemas.microsoft.com/office/drawing/2014/main" id="{90955028-BE94-B618-D838-B8B73387ECEC}"/>
              </a:ext>
            </a:extLst>
          </p:cNvPr>
          <p:cNvSpPr/>
          <p:nvPr/>
        </p:nvSpPr>
        <p:spPr bwMode="auto">
          <a:xfrm>
            <a:off x="718847" y="4316455"/>
            <a:ext cx="824284" cy="824284"/>
          </a:xfrm>
          <a:prstGeom prst="donut">
            <a:avLst>
              <a:gd name="adj" fmla="val 15399"/>
            </a:avLst>
          </a:prstGeom>
          <a:solidFill>
            <a:srgbClr val="12275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400" b="0" i="0" u="none" strike="noStrike" cap="none" normalizeH="0" baseline="0">
              <a:ln>
                <a:noFill/>
              </a:ln>
              <a:solidFill>
                <a:srgbClr val="9A1F4E"/>
              </a:solidFill>
              <a:effectLst/>
              <a:latin typeface="Arial" charset="0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8DB0825B-E9A1-9CF6-266F-2C9DB6704DE3}"/>
              </a:ext>
            </a:extLst>
          </p:cNvPr>
          <p:cNvSpPr/>
          <p:nvPr/>
        </p:nvSpPr>
        <p:spPr bwMode="auto">
          <a:xfrm>
            <a:off x="1007441" y="5301201"/>
            <a:ext cx="7312657" cy="713515"/>
          </a:xfrm>
          <a:prstGeom prst="roundRect">
            <a:avLst>
              <a:gd name="adj" fmla="val 46219"/>
            </a:avLst>
          </a:prstGeom>
          <a:solidFill>
            <a:srgbClr val="E8E8E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rgbClr val="00C0C0"/>
              </a:solidFill>
              <a:effectLst/>
              <a:latin typeface="Arial" charset="0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1D9B9DF9-FF76-23B7-E5FA-DD2A2EAA132F}"/>
              </a:ext>
            </a:extLst>
          </p:cNvPr>
          <p:cNvSpPr/>
          <p:nvPr/>
        </p:nvSpPr>
        <p:spPr bwMode="auto">
          <a:xfrm>
            <a:off x="684584" y="5211553"/>
            <a:ext cx="892810" cy="892810"/>
          </a:xfrm>
          <a:prstGeom prst="ellipse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2800" b="1" i="0" u="none" strike="noStrike" cap="none" normalizeH="0" baseline="0">
                <a:ln>
                  <a:noFill/>
                </a:ln>
                <a:solidFill>
                  <a:srgbClr val="12275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endParaRPr kumimoji="0" lang="ko-KR" altLang="en-US" sz="2800" b="1" i="0" u="none" strike="noStrike" cap="none" normalizeH="0" baseline="0">
              <a:ln>
                <a:noFill/>
              </a:ln>
              <a:solidFill>
                <a:srgbClr val="12275E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원형: 비어 있음 18">
            <a:extLst>
              <a:ext uri="{FF2B5EF4-FFF2-40B4-BE49-F238E27FC236}">
                <a16:creationId xmlns:a16="http://schemas.microsoft.com/office/drawing/2014/main" id="{46EB414F-19F3-28BD-16CA-325D66881FE9}"/>
              </a:ext>
            </a:extLst>
          </p:cNvPr>
          <p:cNvSpPr/>
          <p:nvPr/>
        </p:nvSpPr>
        <p:spPr bwMode="auto">
          <a:xfrm>
            <a:off x="718847" y="5245816"/>
            <a:ext cx="824284" cy="824284"/>
          </a:xfrm>
          <a:prstGeom prst="donut">
            <a:avLst>
              <a:gd name="adj" fmla="val 15399"/>
            </a:avLst>
          </a:prstGeom>
          <a:solidFill>
            <a:srgbClr val="12275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400" b="0" i="0" u="none" strike="noStrike" cap="none" normalizeH="0" baseline="0">
              <a:ln>
                <a:noFill/>
              </a:ln>
              <a:solidFill>
                <a:srgbClr val="9A1F4E"/>
              </a:solidFill>
              <a:effectLst/>
              <a:latin typeface="Arial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54E1758-E07C-69E1-C322-E8C35C00DC4E}"/>
              </a:ext>
            </a:extLst>
          </p:cNvPr>
          <p:cNvSpPr txBox="1"/>
          <p:nvPr/>
        </p:nvSpPr>
        <p:spPr>
          <a:xfrm>
            <a:off x="1891949" y="2533813"/>
            <a:ext cx="23839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000" b="1">
                <a:solidFill>
                  <a:srgbClr val="12275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서론</a:t>
            </a:r>
            <a:r>
              <a:rPr lang="en-US" altLang="ko-KR" sz="2000" b="1">
                <a:solidFill>
                  <a:srgbClr val="12275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(Introduction)</a:t>
            </a:r>
            <a:endParaRPr lang="ko-KR" altLang="en-US" sz="2000" b="1">
              <a:solidFill>
                <a:srgbClr val="12275E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701B22-F965-7E7D-9FF6-D25BAC983E46}"/>
              </a:ext>
            </a:extLst>
          </p:cNvPr>
          <p:cNvSpPr txBox="1"/>
          <p:nvPr/>
        </p:nvSpPr>
        <p:spPr>
          <a:xfrm>
            <a:off x="1911844" y="2914409"/>
            <a:ext cx="29241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연구 배경</a:t>
            </a:r>
            <a:r>
              <a:rPr lang="en-US" altLang="ko-KR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ko-KR" altLang="en-US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연구 필요성</a:t>
            </a:r>
            <a:r>
              <a:rPr lang="en-US" altLang="ko-KR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ko-KR" altLang="en-US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문제 정의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96BC058-46E0-2952-9B4F-387894CE8FD0}"/>
              </a:ext>
            </a:extLst>
          </p:cNvPr>
          <p:cNvSpPr txBox="1"/>
          <p:nvPr/>
        </p:nvSpPr>
        <p:spPr>
          <a:xfrm>
            <a:off x="1891949" y="3458906"/>
            <a:ext cx="55931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000" b="1">
                <a:solidFill>
                  <a:srgbClr val="12275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방법</a:t>
            </a:r>
            <a:r>
              <a:rPr lang="en-US" altLang="ko-KR" sz="2000" b="1">
                <a:solidFill>
                  <a:srgbClr val="12275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ko-KR" altLang="en-US" sz="2000" b="1">
                <a:solidFill>
                  <a:srgbClr val="12275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및 구현 </a:t>
            </a:r>
            <a:r>
              <a:rPr lang="en-US" altLang="ko-KR" sz="2000" b="1">
                <a:solidFill>
                  <a:srgbClr val="12275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(Methodology &amp; Implementation)</a:t>
            </a:r>
            <a:endParaRPr lang="ko-KR" altLang="en-US" sz="2000" b="1">
              <a:solidFill>
                <a:srgbClr val="12275E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D7F745C-FC2F-4B62-3218-949DC2663E76}"/>
              </a:ext>
            </a:extLst>
          </p:cNvPr>
          <p:cNvSpPr txBox="1"/>
          <p:nvPr/>
        </p:nvSpPr>
        <p:spPr>
          <a:xfrm>
            <a:off x="1911844" y="3839502"/>
            <a:ext cx="21675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문제 해결을 위한 방법론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3C3CA4F-0CBA-089C-1EAA-299038D482E9}"/>
              </a:ext>
            </a:extLst>
          </p:cNvPr>
          <p:cNvSpPr txBox="1"/>
          <p:nvPr/>
        </p:nvSpPr>
        <p:spPr>
          <a:xfrm>
            <a:off x="1891949" y="4395078"/>
            <a:ext cx="52645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000" b="1">
                <a:solidFill>
                  <a:srgbClr val="12275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실험 구성 및 평가 방법 </a:t>
            </a:r>
            <a:r>
              <a:rPr lang="en-US" altLang="ko-KR" sz="2000" b="1">
                <a:solidFill>
                  <a:srgbClr val="12275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(Experiment Settings)</a:t>
            </a:r>
            <a:endParaRPr lang="ko-KR" altLang="en-US" sz="2000" b="1">
              <a:solidFill>
                <a:srgbClr val="12275E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56ED523-4BC4-A4E5-2990-A3FD6FCF930C}"/>
              </a:ext>
            </a:extLst>
          </p:cNvPr>
          <p:cNvSpPr txBox="1"/>
          <p:nvPr/>
        </p:nvSpPr>
        <p:spPr>
          <a:xfrm>
            <a:off x="1911844" y="4775674"/>
            <a:ext cx="41649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데이터셋</a:t>
            </a:r>
            <a:r>
              <a:rPr lang="en-US" altLang="ko-KR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ko-KR" altLang="en-US" sz="1400" b="1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하이퍼파라미터</a:t>
            </a:r>
            <a:r>
              <a:rPr lang="en-US" altLang="ko-KR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ko-KR" altLang="en-US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컴퓨팅 환경</a:t>
            </a:r>
            <a:r>
              <a:rPr lang="en-US" altLang="ko-KR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ko-KR" altLang="en-US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평가지표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DA95FF9-5722-C980-28D4-E77EDD5C63DB}"/>
              </a:ext>
            </a:extLst>
          </p:cNvPr>
          <p:cNvSpPr txBox="1"/>
          <p:nvPr/>
        </p:nvSpPr>
        <p:spPr>
          <a:xfrm>
            <a:off x="1891949" y="5317626"/>
            <a:ext cx="38908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000" b="1">
                <a:solidFill>
                  <a:srgbClr val="12275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결과 및 분석 </a:t>
            </a:r>
            <a:r>
              <a:rPr lang="en-US" altLang="ko-KR" sz="2000" b="1">
                <a:solidFill>
                  <a:srgbClr val="12275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(Results &amp; Analysis)</a:t>
            </a:r>
            <a:endParaRPr lang="ko-KR" altLang="en-US" sz="2000" b="1">
              <a:solidFill>
                <a:srgbClr val="12275E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B9763E6-807D-15BF-5376-CA9922414B47}"/>
              </a:ext>
            </a:extLst>
          </p:cNvPr>
          <p:cNvSpPr txBox="1"/>
          <p:nvPr/>
        </p:nvSpPr>
        <p:spPr>
          <a:xfrm>
            <a:off x="1911844" y="5698222"/>
            <a:ext cx="42194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학습 결과</a:t>
            </a:r>
            <a:r>
              <a:rPr lang="en-US" altLang="ko-KR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ko-KR" altLang="en-US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정확도</a:t>
            </a:r>
            <a:r>
              <a:rPr lang="en-US" altLang="ko-KR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ko-KR" altLang="en-US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혼동행렬</a:t>
            </a:r>
            <a:r>
              <a:rPr lang="en-US" altLang="ko-KR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ko-KR" altLang="en-US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비교 평가</a:t>
            </a:r>
            <a:r>
              <a:rPr lang="en-US" altLang="ko-KR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ko-KR" altLang="en-US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결과 분석</a:t>
            </a:r>
          </a:p>
        </p:txBody>
      </p:sp>
    </p:spTree>
    <p:extLst>
      <p:ext uri="{BB962C8B-B14F-4D97-AF65-F5344CB8AC3E}">
        <p14:creationId xmlns:p14="http://schemas.microsoft.com/office/powerpoint/2010/main" val="1888455305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70E02-3417-9313-EC23-20CF483FF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163AB9A9-9021-5A6F-0EA2-F269AB9BFEEB}"/>
              </a:ext>
            </a:extLst>
          </p:cNvPr>
          <p:cNvSpPr txBox="1"/>
          <p:nvPr/>
        </p:nvSpPr>
        <p:spPr>
          <a:xfrm>
            <a:off x="1016960" y="858239"/>
            <a:ext cx="7110079" cy="590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100" marR="0" indent="0" algn="ctr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800" b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CONTENTS</a:t>
            </a: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01452986-DABC-30DA-C446-FB53EF55A64E}"/>
              </a:ext>
            </a:extLst>
          </p:cNvPr>
          <p:cNvSpPr/>
          <p:nvPr/>
        </p:nvSpPr>
        <p:spPr bwMode="auto">
          <a:xfrm>
            <a:off x="1007441" y="1706622"/>
            <a:ext cx="7312657" cy="713515"/>
          </a:xfrm>
          <a:prstGeom prst="roundRect">
            <a:avLst>
              <a:gd name="adj" fmla="val 46219"/>
            </a:avLst>
          </a:prstGeom>
          <a:solidFill>
            <a:srgbClr val="E8E8E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rgbClr val="00C0C0"/>
              </a:solidFill>
              <a:effectLst/>
              <a:latin typeface="Arial" charset="0"/>
            </a:endParaRPr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A01D40BA-86E6-050D-8ED4-8652281AA359}"/>
              </a:ext>
            </a:extLst>
          </p:cNvPr>
          <p:cNvSpPr/>
          <p:nvPr/>
        </p:nvSpPr>
        <p:spPr bwMode="auto">
          <a:xfrm>
            <a:off x="684584" y="1616974"/>
            <a:ext cx="892810" cy="892810"/>
          </a:xfrm>
          <a:prstGeom prst="ellipse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2800" b="1" i="0" u="none" strike="noStrike" cap="none" normalizeH="0" baseline="0">
                <a:ln>
                  <a:noFill/>
                </a:ln>
                <a:solidFill>
                  <a:srgbClr val="12275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</a:t>
            </a:r>
            <a:endParaRPr kumimoji="0" lang="ko-KR" altLang="en-US" sz="2800" b="1" i="0" u="none" strike="noStrike" cap="none" normalizeH="0" baseline="0">
              <a:ln>
                <a:noFill/>
              </a:ln>
              <a:solidFill>
                <a:srgbClr val="12275E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원형: 비어 있음 79">
            <a:extLst>
              <a:ext uri="{FF2B5EF4-FFF2-40B4-BE49-F238E27FC236}">
                <a16:creationId xmlns:a16="http://schemas.microsoft.com/office/drawing/2014/main" id="{B4D7C20E-7284-6173-CF49-1DDE69650CE0}"/>
              </a:ext>
            </a:extLst>
          </p:cNvPr>
          <p:cNvSpPr/>
          <p:nvPr/>
        </p:nvSpPr>
        <p:spPr bwMode="auto">
          <a:xfrm>
            <a:off x="718847" y="1651237"/>
            <a:ext cx="824284" cy="824284"/>
          </a:xfrm>
          <a:prstGeom prst="donut">
            <a:avLst>
              <a:gd name="adj" fmla="val 15399"/>
            </a:avLst>
          </a:prstGeom>
          <a:solidFill>
            <a:srgbClr val="12275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400" b="0" i="0" u="none" strike="noStrike" cap="none" normalizeH="0" baseline="0">
              <a:ln>
                <a:noFill/>
              </a:ln>
              <a:solidFill>
                <a:srgbClr val="9A1F4E"/>
              </a:solidFill>
              <a:effectLst/>
              <a:latin typeface="Arial" charset="0"/>
            </a:endParaRPr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2BD59DEE-2319-7898-87A5-8370B2DBDCD8}"/>
              </a:ext>
            </a:extLst>
          </p:cNvPr>
          <p:cNvSpPr/>
          <p:nvPr/>
        </p:nvSpPr>
        <p:spPr bwMode="auto">
          <a:xfrm>
            <a:off x="1007441" y="2635983"/>
            <a:ext cx="7312657" cy="713515"/>
          </a:xfrm>
          <a:prstGeom prst="roundRect">
            <a:avLst>
              <a:gd name="adj" fmla="val 46219"/>
            </a:avLst>
          </a:prstGeom>
          <a:solidFill>
            <a:srgbClr val="E8E8E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rgbClr val="00C0C0"/>
              </a:solidFill>
              <a:effectLst/>
              <a:latin typeface="Arial" charset="0"/>
            </a:endParaRPr>
          </a:p>
        </p:txBody>
      </p:sp>
      <p:sp>
        <p:nvSpPr>
          <p:cNvPr id="84" name="타원 83">
            <a:extLst>
              <a:ext uri="{FF2B5EF4-FFF2-40B4-BE49-F238E27FC236}">
                <a16:creationId xmlns:a16="http://schemas.microsoft.com/office/drawing/2014/main" id="{4D1452B7-32FC-E53F-7ED7-9758B0E1F153}"/>
              </a:ext>
            </a:extLst>
          </p:cNvPr>
          <p:cNvSpPr/>
          <p:nvPr/>
        </p:nvSpPr>
        <p:spPr bwMode="auto">
          <a:xfrm>
            <a:off x="684584" y="2546335"/>
            <a:ext cx="892810" cy="892810"/>
          </a:xfrm>
          <a:prstGeom prst="ellipse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2800" b="1" i="0" u="none" strike="noStrike" cap="none" normalizeH="0" baseline="0">
                <a:ln>
                  <a:noFill/>
                </a:ln>
                <a:solidFill>
                  <a:srgbClr val="12275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VII</a:t>
            </a:r>
            <a:endParaRPr kumimoji="0" lang="ko-KR" altLang="en-US" sz="2800" b="1" i="0" u="none" strike="noStrike" cap="none" normalizeH="0" baseline="0">
              <a:ln>
                <a:noFill/>
              </a:ln>
              <a:solidFill>
                <a:srgbClr val="12275E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원형: 비어 있음 84">
            <a:extLst>
              <a:ext uri="{FF2B5EF4-FFF2-40B4-BE49-F238E27FC236}">
                <a16:creationId xmlns:a16="http://schemas.microsoft.com/office/drawing/2014/main" id="{157A5F63-566D-25E2-6244-A31A611B1811}"/>
              </a:ext>
            </a:extLst>
          </p:cNvPr>
          <p:cNvSpPr/>
          <p:nvPr/>
        </p:nvSpPr>
        <p:spPr bwMode="auto">
          <a:xfrm>
            <a:off x="718847" y="2580598"/>
            <a:ext cx="824284" cy="824284"/>
          </a:xfrm>
          <a:prstGeom prst="donut">
            <a:avLst>
              <a:gd name="adj" fmla="val 15399"/>
            </a:avLst>
          </a:prstGeom>
          <a:solidFill>
            <a:srgbClr val="12275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400" b="0" i="0" u="none" strike="noStrike" cap="none" normalizeH="0" baseline="0">
              <a:ln>
                <a:noFill/>
              </a:ln>
              <a:solidFill>
                <a:srgbClr val="9A1F4E"/>
              </a:solidFill>
              <a:effectLst/>
              <a:latin typeface="Arial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EB72F57-4BB7-5D88-569B-2F3FC2196FE6}"/>
              </a:ext>
            </a:extLst>
          </p:cNvPr>
          <p:cNvSpPr txBox="1"/>
          <p:nvPr/>
        </p:nvSpPr>
        <p:spPr>
          <a:xfrm>
            <a:off x="1891949" y="1729860"/>
            <a:ext cx="4985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000" b="1">
                <a:solidFill>
                  <a:srgbClr val="12275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한계점 및 토론 </a:t>
            </a:r>
            <a:r>
              <a:rPr lang="en-US" altLang="ko-KR" sz="2000" b="1">
                <a:solidFill>
                  <a:srgbClr val="12275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(Limitations &amp; Discussions)</a:t>
            </a:r>
            <a:endParaRPr lang="ko-KR" altLang="en-US" sz="2000" b="1">
              <a:solidFill>
                <a:srgbClr val="12275E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4A24CC2-FBB0-32F4-F482-1EE9DCE1AD24}"/>
              </a:ext>
            </a:extLst>
          </p:cNvPr>
          <p:cNvSpPr txBox="1"/>
          <p:nvPr/>
        </p:nvSpPr>
        <p:spPr>
          <a:xfrm>
            <a:off x="1911844" y="2110456"/>
            <a:ext cx="30732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본 연구의 한계점</a:t>
            </a:r>
            <a:r>
              <a:rPr lang="en-US" altLang="ko-KR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및 개선점</a:t>
            </a:r>
            <a:r>
              <a:rPr lang="en-US" altLang="ko-KR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등 논의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DCD9292-7992-5B6A-A39D-3F6EF1859311}"/>
              </a:ext>
            </a:extLst>
          </p:cNvPr>
          <p:cNvSpPr txBox="1"/>
          <p:nvPr/>
        </p:nvSpPr>
        <p:spPr>
          <a:xfrm>
            <a:off x="1891949" y="2652408"/>
            <a:ext cx="21563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000" b="1">
                <a:solidFill>
                  <a:srgbClr val="12275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결론 및 향후 연구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463D5396-8747-F0DB-A672-B9552FEC6550}"/>
              </a:ext>
            </a:extLst>
          </p:cNvPr>
          <p:cNvSpPr txBox="1"/>
          <p:nvPr/>
        </p:nvSpPr>
        <p:spPr>
          <a:xfrm>
            <a:off x="1911844" y="3033004"/>
            <a:ext cx="31357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본 연구의 결론</a:t>
            </a:r>
            <a:r>
              <a:rPr lang="en-US" altLang="ko-KR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및 향후 연구 등 논의</a:t>
            </a:r>
          </a:p>
        </p:txBody>
      </p:sp>
      <p:sp>
        <p:nvSpPr>
          <p:cNvPr id="97" name="제목 96">
            <a:extLst>
              <a:ext uri="{FF2B5EF4-FFF2-40B4-BE49-F238E27FC236}">
                <a16:creationId xmlns:a16="http://schemas.microsoft.com/office/drawing/2014/main" id="{6449DDCE-00F9-EE78-73DB-E3DB540E5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목차</a:t>
            </a:r>
          </a:p>
        </p:txBody>
      </p:sp>
    </p:spTree>
    <p:extLst>
      <p:ext uri="{BB962C8B-B14F-4D97-AF65-F5344CB8AC3E}">
        <p14:creationId xmlns:p14="http://schemas.microsoft.com/office/powerpoint/2010/main" val="1873866390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4C633F-B60D-FEBA-ED2F-B3F10B030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프로젝트 </a:t>
            </a:r>
            <a:r>
              <a:rPr lang="en-US" altLang="ko-KR"/>
              <a:t>#2 </a:t>
            </a:r>
            <a:r>
              <a:rPr lang="ko-KR" altLang="en-US"/>
              <a:t>개요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D2F34785-C5AA-F695-6941-A78FBC0FC2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647" y="1088974"/>
            <a:ext cx="8457947" cy="4750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 marL="241300" indent="-241300">
              <a:lnSpc>
                <a:spcPct val="130000"/>
              </a:lnSpc>
              <a:spcBef>
                <a:spcPts val="600"/>
              </a:spcBef>
            </a:pPr>
            <a:r>
              <a:rPr lang="ko-KR" altLang="en-US" sz="1800" kern="0">
                <a:solidFill>
                  <a:schemeClr val="accent1">
                    <a:lumMod val="75000"/>
                  </a:schemeClr>
                </a:solidFill>
                <a:latin typeface="맑은 고딕"/>
                <a:ea typeface="맑은 고딕"/>
              </a:rPr>
              <a:t>프로젝트 목표</a:t>
            </a:r>
            <a:endParaRPr lang="en-US" altLang="ko-KR" sz="1800" kern="0">
              <a:solidFill>
                <a:schemeClr val="accent1">
                  <a:lumMod val="75000"/>
                </a:schemeClr>
              </a:solidFill>
              <a:latin typeface="맑은 고딕"/>
              <a:ea typeface="맑은 고딕"/>
            </a:endParaRPr>
          </a:p>
          <a:p>
            <a:pPr marL="0" indent="0">
              <a:lnSpc>
                <a:spcPct val="130000"/>
              </a:lnSpc>
              <a:spcBef>
                <a:spcPts val="600"/>
              </a:spcBef>
              <a:buNone/>
            </a:pPr>
            <a:endParaRPr lang="en-US" altLang="ko-KR" sz="1800" kern="0">
              <a:solidFill>
                <a:schemeClr val="tx1"/>
              </a:solidFill>
              <a:latin typeface="+mn-ea"/>
              <a:ea typeface="+mn-ea"/>
            </a:endParaRPr>
          </a:p>
          <a:p>
            <a:pPr marL="0" indent="0">
              <a:lnSpc>
                <a:spcPct val="130000"/>
              </a:lnSpc>
              <a:spcBef>
                <a:spcPts val="600"/>
              </a:spcBef>
              <a:buNone/>
            </a:pPr>
            <a:endParaRPr lang="en-US" altLang="ko-KR" sz="1400" kern="0">
              <a:solidFill>
                <a:schemeClr val="tx1"/>
              </a:solidFill>
              <a:latin typeface="+mn-ea"/>
              <a:ea typeface="+mn-ea"/>
            </a:endParaRPr>
          </a:p>
          <a:p>
            <a:pPr marL="241300" indent="-241300">
              <a:lnSpc>
                <a:spcPct val="130000"/>
              </a:lnSpc>
              <a:spcBef>
                <a:spcPts val="600"/>
              </a:spcBef>
            </a:pPr>
            <a:r>
              <a:rPr lang="ko-KR" altLang="en-US" sz="1800" kern="0">
                <a:solidFill>
                  <a:schemeClr val="accent1">
                    <a:lumMod val="75000"/>
                  </a:schemeClr>
                </a:solidFill>
                <a:latin typeface="맑은 고딕"/>
                <a:ea typeface="맑은 고딕"/>
              </a:rPr>
              <a:t>프로젝트 배경</a:t>
            </a:r>
            <a:r>
              <a:rPr lang="en-US" altLang="ko-KR" sz="1800" kern="0">
                <a:solidFill>
                  <a:schemeClr val="accent1">
                    <a:lumMod val="75000"/>
                  </a:schemeClr>
                </a:solidFill>
                <a:latin typeface="맑은 고딕"/>
                <a:ea typeface="맑은 고딕"/>
              </a:rPr>
              <a:t> </a:t>
            </a:r>
            <a:r>
              <a:rPr lang="ko-KR" altLang="en-US" sz="1800" kern="0">
                <a:solidFill>
                  <a:schemeClr val="accent1">
                    <a:lumMod val="75000"/>
                  </a:schemeClr>
                </a:solidFill>
                <a:latin typeface="맑은 고딕"/>
                <a:ea typeface="맑은 고딕"/>
              </a:rPr>
              <a:t>및 필요성</a:t>
            </a:r>
            <a:endParaRPr lang="en-US" altLang="ko-KR" sz="1800" kern="0">
              <a:solidFill>
                <a:schemeClr val="accent1">
                  <a:lumMod val="75000"/>
                </a:schemeClr>
              </a:solidFill>
              <a:latin typeface="맑은 고딕"/>
              <a:ea typeface="맑은 고딕"/>
            </a:endParaRPr>
          </a:p>
          <a:p>
            <a:pPr marL="586105" lvl="1" indent="-342900">
              <a:lnSpc>
                <a:spcPct val="130000"/>
              </a:lnSpc>
              <a:spcBef>
                <a:spcPts val="600"/>
              </a:spcBef>
              <a:buAutoNum type="arabicParenR"/>
            </a:pPr>
            <a:r>
              <a:rPr lang="ko-KR" sz="1500" kern="0">
                <a:solidFill>
                  <a:schemeClr val="tx1"/>
                </a:solidFill>
                <a:latin typeface="Malgun Gothic"/>
                <a:ea typeface="Malgun Gothic"/>
              </a:rPr>
              <a:t>프로젝트 배경</a:t>
            </a:r>
            <a:endParaRPr lang="en-US" sz="1600" kern="0">
              <a:solidFill>
                <a:schemeClr val="tx1"/>
              </a:solidFill>
              <a:latin typeface="Malgun Gothic"/>
              <a:ea typeface="Malgun Gothic"/>
            </a:endParaRPr>
          </a:p>
          <a:p>
            <a:pPr marL="806450" lvl="2" indent="-179070">
              <a:lnSpc>
                <a:spcPct val="130000"/>
              </a:lnSpc>
              <a:spcBef>
                <a:spcPts val="600"/>
              </a:spcBef>
              <a:buFont typeface="Wingdings,Sans-Serif"/>
              <a:buChar char="§"/>
            </a:pPr>
            <a:r>
              <a:rPr lang="ko-KR" sz="1300" kern="0">
                <a:solidFill>
                  <a:schemeClr val="tx1"/>
                </a:solidFill>
                <a:latin typeface="Corbel"/>
                <a:ea typeface="맑은 고딕"/>
              </a:rPr>
              <a:t>자동차 산업은 수만 가지의 부품으로 구성되어 있으며, 이 중 나사와 같은 작은 </a:t>
            </a:r>
            <a:r>
              <a:rPr lang="ko-KR" altLang="en-US" sz="1300" kern="0">
                <a:solidFill>
                  <a:schemeClr val="tx1"/>
                </a:solidFill>
                <a:latin typeface="Corbel"/>
                <a:ea typeface="맑은 고딕"/>
              </a:rPr>
              <a:t>부품</a:t>
            </a:r>
            <a:r>
              <a:rPr lang="ko-KR" altLang="en-US" sz="1300" kern="0">
                <a:latin typeface="Corbel"/>
                <a:ea typeface="맑은 고딕"/>
              </a:rPr>
              <a:t/>
            </a:r>
            <a:br>
              <a:rPr lang="ko-KR" altLang="en-US" sz="1300" kern="0">
                <a:latin typeface="Corbel"/>
                <a:ea typeface="맑은 고딕"/>
              </a:rPr>
            </a:br>
            <a:r>
              <a:rPr lang="ko-KR" altLang="en-US" sz="1300" b="1" kern="0">
                <a:solidFill>
                  <a:schemeClr val="tx1"/>
                </a:solidFill>
                <a:latin typeface="Corbel"/>
                <a:ea typeface="맑은 고딕"/>
              </a:rPr>
              <a:t>하나의</a:t>
            </a:r>
            <a:r>
              <a:rPr lang="ko-KR" sz="1300" b="1" kern="0">
                <a:solidFill>
                  <a:schemeClr val="tx1"/>
                </a:solidFill>
                <a:latin typeface="Corbel"/>
                <a:ea typeface="맑은 고딕"/>
              </a:rPr>
              <a:t> 결함</a:t>
            </a:r>
            <a:r>
              <a:rPr lang="ko-KR" sz="1300" kern="0">
                <a:solidFill>
                  <a:schemeClr val="tx1"/>
                </a:solidFill>
                <a:latin typeface="Corbel"/>
                <a:ea typeface="맑은 고딕"/>
              </a:rPr>
              <a:t>도 전체 차량의 안전성과 </a:t>
            </a:r>
            <a:r>
              <a:rPr lang="ko-KR" altLang="en-US" sz="1300" kern="0">
                <a:solidFill>
                  <a:schemeClr val="tx1"/>
                </a:solidFill>
                <a:latin typeface="Corbel"/>
                <a:ea typeface="맑은 고딕"/>
              </a:rPr>
              <a:t>성능에</a:t>
            </a:r>
            <a:r>
              <a:rPr lang="ko-KR" sz="1300" kern="0">
                <a:solidFill>
                  <a:schemeClr val="tx1"/>
                </a:solidFill>
                <a:latin typeface="Corbel"/>
                <a:ea typeface="맑은 고딕"/>
              </a:rPr>
              <a:t> </a:t>
            </a:r>
            <a:r>
              <a:rPr lang="ko-KR" sz="1300" b="1" kern="0">
                <a:solidFill>
                  <a:schemeClr val="tx1"/>
                </a:solidFill>
                <a:latin typeface="Corbel"/>
                <a:ea typeface="맑은 고딕"/>
              </a:rPr>
              <a:t>중대한 영향</a:t>
            </a:r>
            <a:r>
              <a:rPr lang="ko-KR" sz="1300" kern="0">
                <a:solidFill>
                  <a:schemeClr val="tx1"/>
                </a:solidFill>
                <a:latin typeface="Corbel"/>
                <a:ea typeface="맑은 고딕"/>
              </a:rPr>
              <a:t>을 미침 [</a:t>
            </a:r>
            <a:r>
              <a:rPr lang="en-US" altLang="ko-KR" sz="1300" kern="0">
                <a:solidFill>
                  <a:schemeClr val="tx1"/>
                </a:solidFill>
                <a:latin typeface="Corbel"/>
                <a:ea typeface="맑은 고딕"/>
              </a:rPr>
              <a:t>1]</a:t>
            </a:r>
          </a:p>
          <a:p>
            <a:pPr marL="806450" lvl="2" indent="-179070">
              <a:lnSpc>
                <a:spcPct val="130000"/>
              </a:lnSpc>
              <a:spcBef>
                <a:spcPts val="600"/>
              </a:spcBef>
              <a:buFont typeface="Wingdings,Sans-Serif"/>
              <a:buChar char="§"/>
            </a:pPr>
            <a:r>
              <a:rPr lang="ko-KR" sz="1300" kern="0">
                <a:solidFill>
                  <a:schemeClr val="tx1"/>
                </a:solidFill>
                <a:latin typeface="Corbel"/>
                <a:ea typeface="맑은 고딕"/>
              </a:rPr>
              <a:t>실제 자동차 나사 부품 공정에서는 </a:t>
            </a:r>
            <a:r>
              <a:rPr lang="ko-KR" sz="1300" b="1" kern="0">
                <a:solidFill>
                  <a:schemeClr val="tx1"/>
                </a:solidFill>
                <a:latin typeface="Corbel"/>
                <a:ea typeface="맑은 고딕"/>
              </a:rPr>
              <a:t>이종품</a:t>
            </a:r>
            <a:r>
              <a:rPr lang="ko-KR" sz="1300" kern="0">
                <a:solidFill>
                  <a:schemeClr val="tx1"/>
                </a:solidFill>
                <a:latin typeface="Corbel"/>
                <a:ea typeface="맑은 고딕"/>
              </a:rPr>
              <a:t>이 섞여 들어오는 사례가 발생하고 있고</a:t>
            </a:r>
            <a:r>
              <a:rPr lang="en-US" altLang="ko-KR" sz="1300" kern="0">
                <a:solidFill>
                  <a:schemeClr val="tx1"/>
                </a:solidFill>
                <a:latin typeface="Corbel"/>
                <a:ea typeface="맑은 고딕"/>
              </a:rPr>
              <a:t>,</a:t>
            </a:r>
            <a:r>
              <a:rPr lang="en-US" altLang="ko-KR" sz="1300" kern="0">
                <a:latin typeface="Corbel"/>
                <a:ea typeface="맑은 고딕"/>
              </a:rPr>
              <a:t/>
            </a:r>
            <a:br>
              <a:rPr lang="en-US" altLang="ko-KR" sz="1300" kern="0">
                <a:latin typeface="Corbel"/>
                <a:ea typeface="맑은 고딕"/>
              </a:rPr>
            </a:br>
            <a:r>
              <a:rPr lang="ko-KR" sz="1300" kern="0">
                <a:solidFill>
                  <a:schemeClr val="tx1"/>
                </a:solidFill>
                <a:latin typeface="Corbel"/>
                <a:ea typeface="맑은 고딕"/>
              </a:rPr>
              <a:t>이는 차량의 구조적 결함이나 안전 문제로 이어질 수 있음</a:t>
            </a:r>
            <a:r>
              <a:rPr lang="ko-KR" altLang="en-US" sz="1300" kern="0">
                <a:solidFill>
                  <a:schemeClr val="tx1"/>
                </a:solidFill>
                <a:latin typeface="Corbel"/>
                <a:ea typeface="맑은 고딕"/>
              </a:rPr>
              <a:t> [2]</a:t>
            </a:r>
            <a:endParaRPr lang="ko-KR" sz="1300" kern="0">
              <a:solidFill>
                <a:schemeClr val="tx1"/>
              </a:solidFill>
              <a:latin typeface="Corbel"/>
              <a:ea typeface="맑은 고딕"/>
            </a:endParaRPr>
          </a:p>
          <a:p>
            <a:pPr marL="586105" lvl="1" indent="-342900">
              <a:lnSpc>
                <a:spcPct val="130000"/>
              </a:lnSpc>
              <a:spcBef>
                <a:spcPts val="600"/>
              </a:spcBef>
              <a:buFont typeface="맑은 고딕" panose="020B0503020000020004" pitchFamily="50" charset="-127"/>
              <a:buAutoNum type="arabicParenR"/>
            </a:pPr>
            <a:r>
              <a:rPr lang="ko-KR" sz="1500" kern="0">
                <a:solidFill>
                  <a:schemeClr val="tx1"/>
                </a:solidFill>
                <a:latin typeface="Malgun Gothic"/>
                <a:ea typeface="Malgun Gothic"/>
              </a:rPr>
              <a:t>프로젝트 필요성</a:t>
            </a:r>
            <a:endParaRPr lang="en-US" altLang="ko-KR" sz="1500" kern="0">
              <a:solidFill>
                <a:schemeClr val="tx1"/>
              </a:solidFill>
              <a:latin typeface="Malgun Gothic"/>
              <a:ea typeface="Malgun Gothic"/>
            </a:endParaRPr>
          </a:p>
          <a:p>
            <a:pPr marL="806450" lvl="2" indent="-179070">
              <a:lnSpc>
                <a:spcPct val="130000"/>
              </a:lnSpc>
              <a:spcBef>
                <a:spcPts val="600"/>
              </a:spcBef>
              <a:buFont typeface="Wingdings,Sans-Serif" panose="020B0503020000020004" pitchFamily="50" charset="-127"/>
              <a:buChar char="§"/>
            </a:pPr>
            <a:r>
              <a:rPr lang="ko-KR" sz="1300" kern="0">
                <a:solidFill>
                  <a:schemeClr val="tx1"/>
                </a:solidFill>
                <a:latin typeface="Corbel"/>
                <a:ea typeface="Malgun Gothic"/>
              </a:rPr>
              <a:t>기존에는 숙련된 작업자에 의한 </a:t>
            </a:r>
            <a:r>
              <a:rPr lang="ko-KR" sz="1300" b="1" kern="0">
                <a:solidFill>
                  <a:schemeClr val="tx1"/>
                </a:solidFill>
                <a:latin typeface="Corbel"/>
                <a:ea typeface="Malgun Gothic"/>
              </a:rPr>
              <a:t>육안 검사</a:t>
            </a:r>
            <a:r>
              <a:rPr lang="ko-KR" sz="1300" kern="0">
                <a:solidFill>
                  <a:schemeClr val="tx1"/>
                </a:solidFill>
                <a:latin typeface="Corbel"/>
                <a:ea typeface="Malgun Gothic"/>
              </a:rPr>
              <a:t>나 </a:t>
            </a:r>
            <a:r>
              <a:rPr lang="ko-KR" sz="1300" b="1" kern="0">
                <a:solidFill>
                  <a:schemeClr val="tx1"/>
                </a:solidFill>
                <a:latin typeface="Corbel"/>
                <a:ea typeface="Malgun Gothic"/>
              </a:rPr>
              <a:t>단순 기계적 검출 방식</a:t>
            </a:r>
            <a:r>
              <a:rPr lang="ko-KR" sz="1300" kern="0">
                <a:solidFill>
                  <a:schemeClr val="tx1"/>
                </a:solidFill>
                <a:latin typeface="Corbel"/>
                <a:ea typeface="Malgun Gothic"/>
              </a:rPr>
              <a:t>이 주로 사용되어 왔으나,</a:t>
            </a:r>
            <a:r>
              <a:rPr lang="ko-KR" altLang="en-US" sz="1300" kern="0">
                <a:latin typeface="Corbel"/>
                <a:ea typeface="Malgun Gothic"/>
              </a:rPr>
              <a:t/>
            </a:r>
            <a:br>
              <a:rPr lang="ko-KR" altLang="en-US" sz="1300" kern="0">
                <a:latin typeface="Corbel"/>
                <a:ea typeface="Malgun Gothic"/>
              </a:rPr>
            </a:br>
            <a:r>
              <a:rPr lang="ko-KR" sz="1300" kern="0">
                <a:solidFill>
                  <a:schemeClr val="tx1"/>
                </a:solidFill>
                <a:latin typeface="Corbel"/>
                <a:ea typeface="Malgun Gothic"/>
              </a:rPr>
              <a:t>생산량 증가와 </a:t>
            </a:r>
            <a:r>
              <a:rPr lang="ko-KR" sz="1300" b="1" kern="0">
                <a:solidFill>
                  <a:schemeClr val="tx1"/>
                </a:solidFill>
                <a:latin typeface="Corbel"/>
                <a:ea typeface="Malgun Gothic"/>
              </a:rPr>
              <a:t>미세한 각도</a:t>
            </a:r>
            <a:r>
              <a:rPr lang="ko-KR" sz="1300" kern="0">
                <a:solidFill>
                  <a:schemeClr val="tx1"/>
                </a:solidFill>
                <a:latin typeface="Corbel"/>
                <a:ea typeface="Malgun Gothic"/>
              </a:rPr>
              <a:t> </a:t>
            </a:r>
            <a:r>
              <a:rPr lang="ko-KR" sz="1300" b="1" kern="0">
                <a:solidFill>
                  <a:schemeClr val="tx1"/>
                </a:solidFill>
                <a:latin typeface="Corbel"/>
                <a:ea typeface="Malgun Gothic"/>
              </a:rPr>
              <a:t>및 형태 </a:t>
            </a:r>
            <a:r>
              <a:rPr lang="ko-KR" sz="1300" kern="0">
                <a:solidFill>
                  <a:schemeClr val="tx1"/>
                </a:solidFill>
                <a:latin typeface="Corbel"/>
                <a:ea typeface="Malgun Gothic"/>
              </a:rPr>
              <a:t>차이로 인해 결함이나 </a:t>
            </a:r>
            <a:r>
              <a:rPr lang="ko-KR" altLang="en-US" sz="1300" kern="0">
                <a:solidFill>
                  <a:schemeClr val="tx1"/>
                </a:solidFill>
                <a:latin typeface="Corbel"/>
                <a:ea typeface="Malgun Gothic"/>
              </a:rPr>
              <a:t>이종품을 정확하게</a:t>
            </a:r>
            <a:r>
              <a:rPr lang="ko-KR" sz="1300" kern="0">
                <a:solidFill>
                  <a:schemeClr val="tx1"/>
                </a:solidFill>
                <a:latin typeface="Corbel"/>
                <a:ea typeface="Malgun Gothic"/>
              </a:rPr>
              <a:t> 식별하는 데 </a:t>
            </a:r>
            <a:r>
              <a:rPr lang="ko-KR" altLang="en-US" sz="1300" b="1" kern="0">
                <a:solidFill>
                  <a:schemeClr val="tx1"/>
                </a:solidFill>
                <a:latin typeface="Corbel"/>
                <a:ea typeface="Malgun Gothic"/>
              </a:rPr>
              <a:t>한계</a:t>
            </a:r>
            <a:r>
              <a:rPr lang="ko-KR" altLang="en-US" sz="1300" kern="0">
                <a:solidFill>
                  <a:schemeClr val="tx1"/>
                </a:solidFill>
                <a:latin typeface="Corbel"/>
                <a:ea typeface="Malgun Gothic"/>
              </a:rPr>
              <a:t> 존재 [2]</a:t>
            </a:r>
          </a:p>
          <a:p>
            <a:pPr marL="806450" lvl="2" indent="-179070">
              <a:lnSpc>
                <a:spcPct val="130000"/>
              </a:lnSpc>
              <a:spcBef>
                <a:spcPts val="600"/>
              </a:spcBef>
              <a:buFont typeface="Wingdings,Sans-Serif"/>
              <a:buChar char="§"/>
            </a:pPr>
            <a:r>
              <a:rPr lang="ko-KR" sz="1300" kern="0">
                <a:solidFill>
                  <a:schemeClr val="tx1"/>
                </a:solidFill>
                <a:latin typeface="Corbel"/>
                <a:ea typeface="맑은 고딕"/>
              </a:rPr>
              <a:t>현재 제조 기업에서</a:t>
            </a:r>
            <a:r>
              <a:rPr lang="ko-KR" altLang="en-US" sz="1300" kern="0">
                <a:solidFill>
                  <a:schemeClr val="tx1"/>
                </a:solidFill>
                <a:latin typeface="Corbel"/>
                <a:ea typeface="맑은 고딕"/>
              </a:rPr>
              <a:t> 나사의 </a:t>
            </a:r>
            <a:r>
              <a:rPr lang="ko-KR" sz="1300" kern="0" err="1">
                <a:solidFill>
                  <a:schemeClr val="tx1"/>
                </a:solidFill>
                <a:latin typeface="Corbel"/>
                <a:ea typeface="맑은 고딕"/>
              </a:rPr>
              <a:t>이종품</a:t>
            </a:r>
            <a:r>
              <a:rPr lang="ko-KR" sz="1300" kern="0">
                <a:solidFill>
                  <a:schemeClr val="tx1"/>
                </a:solidFill>
                <a:latin typeface="Corbel"/>
                <a:ea typeface="맑은 고딕"/>
              </a:rPr>
              <a:t> 혼입을 신속하고 정확하게 검출하기 위해</a:t>
            </a:r>
            <a:r>
              <a:rPr lang="ko-KR" altLang="en-US" sz="1300" kern="0">
                <a:solidFill>
                  <a:schemeClr val="tx1"/>
                </a:solidFill>
                <a:latin typeface="Corbel"/>
                <a:ea typeface="맑은 고딕"/>
              </a:rPr>
              <a:t> </a:t>
            </a:r>
            <a:r>
              <a:rPr lang="ko-KR" altLang="en-US" sz="1300" b="1" kern="0">
                <a:solidFill>
                  <a:schemeClr val="tx1"/>
                </a:solidFill>
                <a:latin typeface="Corbel"/>
                <a:ea typeface="맑은 고딕"/>
              </a:rPr>
              <a:t>산 수 및 각도를 분류</a:t>
            </a:r>
            <a:r>
              <a:rPr lang="ko-KR" altLang="en-US" sz="1300" kern="0">
                <a:solidFill>
                  <a:schemeClr val="tx1"/>
                </a:solidFill>
                <a:latin typeface="Corbel"/>
                <a:ea typeface="맑은 고딕"/>
              </a:rPr>
              <a:t>하는 </a:t>
            </a:r>
            <a:r>
              <a:rPr lang="en-US" altLang="ko-KR" sz="1300" kern="0">
                <a:solidFill>
                  <a:schemeClr val="tx1"/>
                </a:solidFill>
                <a:latin typeface="Corbel"/>
                <a:ea typeface="맑은 고딕"/>
              </a:rPr>
              <a:t>AI</a:t>
            </a:r>
            <a:r>
              <a:rPr lang="ko-KR" sz="1300" kern="0">
                <a:solidFill>
                  <a:schemeClr val="tx1"/>
                </a:solidFill>
                <a:latin typeface="Corbel"/>
                <a:ea typeface="맑은 고딕"/>
              </a:rPr>
              <a:t> 기반 비전 검사 솔루션을 도입하고 있음 </a:t>
            </a:r>
            <a:r>
              <a:rPr lang="en-US" altLang="ko-KR" sz="1300" kern="0">
                <a:solidFill>
                  <a:schemeClr val="tx1"/>
                </a:solidFill>
                <a:latin typeface="Corbel"/>
                <a:ea typeface="맑은 고딕"/>
              </a:rPr>
              <a:t>[3]</a:t>
            </a:r>
            <a:endParaRPr lang="en-US" sz="130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B2F95EB-334A-08BE-293F-F085586C932F}"/>
              </a:ext>
            </a:extLst>
          </p:cNvPr>
          <p:cNvSpPr/>
          <p:nvPr/>
        </p:nvSpPr>
        <p:spPr bwMode="auto">
          <a:xfrm>
            <a:off x="748275" y="1451798"/>
            <a:ext cx="7628919" cy="6634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381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600">
                <a:solidFill>
                  <a:schemeClr val="tx1"/>
                </a:solidFill>
                <a:latin typeface="Arial"/>
                <a:ea typeface="Malgun Gothic"/>
                <a:cs typeface="Arial"/>
              </a:rPr>
              <a:t>자동차</a:t>
            </a:r>
            <a:r>
              <a:rPr lang="ko-KR" altLang="en-US" sz="1600">
                <a:solidFill>
                  <a:schemeClr val="tx1"/>
                </a:solidFill>
                <a:latin typeface="Arial"/>
                <a:ea typeface="Malgun Gothic"/>
                <a:cs typeface="Arial"/>
              </a:rPr>
              <a:t> </a:t>
            </a:r>
            <a:r>
              <a:rPr lang="ko-KR" sz="1600">
                <a:solidFill>
                  <a:schemeClr val="tx1"/>
                </a:solidFill>
                <a:latin typeface="Arial"/>
                <a:ea typeface="Malgun Gothic"/>
                <a:cs typeface="Arial"/>
              </a:rPr>
              <a:t>부품용</a:t>
            </a:r>
            <a:r>
              <a:rPr lang="ko-KR" altLang="en-US" sz="1600">
                <a:solidFill>
                  <a:schemeClr val="tx1"/>
                </a:solidFill>
                <a:latin typeface="Arial"/>
                <a:ea typeface="Malgun Gothic"/>
                <a:cs typeface="Arial"/>
              </a:rPr>
              <a:t> </a:t>
            </a:r>
            <a:r>
              <a:rPr lang="ko-KR" sz="1600">
                <a:solidFill>
                  <a:schemeClr val="tx1"/>
                </a:solidFill>
                <a:latin typeface="Arial"/>
                <a:ea typeface="Malgun Gothic"/>
                <a:cs typeface="Arial"/>
              </a:rPr>
              <a:t>나사</a:t>
            </a:r>
            <a:r>
              <a:rPr lang="ko-KR" altLang="en-US" sz="1600">
                <a:solidFill>
                  <a:schemeClr val="tx1"/>
                </a:solidFill>
                <a:latin typeface="Arial"/>
                <a:ea typeface="Malgun Gothic"/>
                <a:cs typeface="Arial"/>
              </a:rPr>
              <a:t> </a:t>
            </a:r>
            <a:r>
              <a:rPr lang="ko-KR" sz="1600" err="1">
                <a:solidFill>
                  <a:schemeClr val="tx1"/>
                </a:solidFill>
                <a:latin typeface="Arial"/>
                <a:ea typeface="Malgun Gothic"/>
                <a:cs typeface="Arial"/>
              </a:rPr>
              <a:t>이종품</a:t>
            </a:r>
            <a:r>
              <a:rPr lang="ko-KR" altLang="en-US" sz="1600">
                <a:solidFill>
                  <a:schemeClr val="tx1"/>
                </a:solidFill>
                <a:latin typeface="Arial"/>
                <a:ea typeface="Malgun Gothic"/>
                <a:cs typeface="Arial"/>
              </a:rPr>
              <a:t> </a:t>
            </a:r>
            <a:r>
              <a:rPr lang="ko-KR" sz="1600">
                <a:solidFill>
                  <a:schemeClr val="tx1"/>
                </a:solidFill>
                <a:latin typeface="Arial"/>
                <a:ea typeface="Malgun Gothic"/>
                <a:cs typeface="Arial"/>
              </a:rPr>
              <a:t>검출을</a:t>
            </a:r>
            <a:r>
              <a:rPr lang="ko-KR" altLang="en-US" sz="1600">
                <a:solidFill>
                  <a:schemeClr val="tx1"/>
                </a:solidFill>
                <a:latin typeface="Arial"/>
                <a:ea typeface="Malgun Gothic"/>
                <a:cs typeface="Arial"/>
              </a:rPr>
              <a:t> </a:t>
            </a:r>
            <a:r>
              <a:rPr lang="ko-KR" sz="1600">
                <a:solidFill>
                  <a:schemeClr val="tx1"/>
                </a:solidFill>
                <a:latin typeface="Arial"/>
                <a:ea typeface="Malgun Gothic"/>
                <a:cs typeface="Arial"/>
              </a:rPr>
              <a:t>위한 </a:t>
            </a:r>
            <a:r>
              <a:rPr lang="ko-KR" altLang="en-US" sz="1600">
                <a:solidFill>
                  <a:schemeClr val="tx1"/>
                </a:solidFill>
                <a:latin typeface="Arial"/>
                <a:ea typeface="Malgun Gothic"/>
                <a:cs typeface="Arial"/>
              </a:rPr>
              <a:t>모델</a:t>
            </a:r>
            <a:r>
              <a:rPr lang="ko-KR" sz="1600">
                <a:solidFill>
                  <a:schemeClr val="tx1"/>
                </a:solidFill>
                <a:latin typeface="Arial"/>
                <a:ea typeface="Malgun Gothic"/>
                <a:cs typeface="Arial"/>
              </a:rPr>
              <a:t> </a:t>
            </a:r>
            <a:r>
              <a:rPr lang="ko-KR" sz="1600" err="1">
                <a:solidFill>
                  <a:schemeClr val="tx1"/>
                </a:solidFill>
                <a:latin typeface="Arial"/>
                <a:ea typeface="Malgun Gothic"/>
                <a:cs typeface="Arial"/>
              </a:rPr>
              <a:t>드리프트</a:t>
            </a:r>
            <a:r>
              <a:rPr lang="ko-KR" altLang="en-US" sz="1600">
                <a:solidFill>
                  <a:schemeClr val="tx1"/>
                </a:solidFill>
                <a:latin typeface="Arial"/>
                <a:ea typeface="Malgun Gothic"/>
                <a:cs typeface="Arial"/>
              </a:rPr>
              <a:t> </a:t>
            </a:r>
            <a:r>
              <a:rPr lang="ko-KR" sz="1600">
                <a:solidFill>
                  <a:schemeClr val="tx1"/>
                </a:solidFill>
                <a:latin typeface="Arial"/>
                <a:ea typeface="Malgun Gothic"/>
                <a:cs typeface="Arial"/>
              </a:rPr>
              <a:t>대응형 딥러닝 모델</a:t>
            </a:r>
            <a:r>
              <a:rPr lang="ko-KR" altLang="en-US" sz="1600">
                <a:solidFill>
                  <a:schemeClr val="tx1"/>
                </a:solidFill>
                <a:latin typeface="Arial"/>
                <a:ea typeface="Malgun Gothic"/>
                <a:cs typeface="Arial"/>
              </a:rPr>
              <a:t> </a:t>
            </a:r>
            <a:r>
              <a:rPr lang="ko-KR" sz="1600">
                <a:solidFill>
                  <a:schemeClr val="tx1"/>
                </a:solidFill>
                <a:latin typeface="Arial"/>
                <a:ea typeface="Malgun Gothic"/>
                <a:cs typeface="Arial"/>
              </a:rPr>
              <a:t>연구</a:t>
            </a:r>
            <a:endParaRPr lang="ko-KR" altLang="en-US" sz="1600">
              <a:solidFill>
                <a:schemeClr val="tx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4AF272-A6AB-4A9B-CA05-9560F492DF40}"/>
              </a:ext>
            </a:extLst>
          </p:cNvPr>
          <p:cNvSpPr txBox="1"/>
          <p:nvPr/>
        </p:nvSpPr>
        <p:spPr>
          <a:xfrm>
            <a:off x="1595336" y="6305490"/>
            <a:ext cx="7723760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sz="10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[1] </a:t>
            </a:r>
            <a:r>
              <a:rPr lang="en-US" sz="1000" err="1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미래차</a:t>
            </a:r>
            <a:r>
              <a:rPr lang="en-US" sz="10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 </a:t>
            </a:r>
            <a:r>
              <a:rPr lang="en-US" sz="1000" err="1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신뢰성</a:t>
            </a:r>
            <a:r>
              <a:rPr lang="en-US" sz="10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 </a:t>
            </a:r>
            <a:r>
              <a:rPr lang="en-US" sz="1000" err="1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기술</a:t>
            </a:r>
            <a:r>
              <a:rPr lang="en-US" sz="10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 </a:t>
            </a:r>
            <a:r>
              <a:rPr lang="en-US" sz="1000" err="1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동향과</a:t>
            </a:r>
            <a:r>
              <a:rPr lang="en-US" sz="10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 </a:t>
            </a:r>
            <a:r>
              <a:rPr lang="en-US" sz="1000" err="1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대응</a:t>
            </a:r>
            <a:r>
              <a:rPr lang="en-US" sz="10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 </a:t>
            </a:r>
            <a:r>
              <a:rPr lang="en-US" sz="1000" err="1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방향</a:t>
            </a:r>
            <a:r>
              <a:rPr lang="en-US" sz="10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 </a:t>
            </a:r>
            <a:endParaRPr lang="en-US" altLang="ko-KR" sz="1000">
              <a:solidFill>
                <a:srgbClr val="000000"/>
              </a:solidFill>
              <a:latin typeface="맑은 고딕"/>
              <a:ea typeface="맑은 고딕"/>
              <a:cs typeface="Arial"/>
            </a:endParaRPr>
          </a:p>
          <a:p>
            <a:pPr algn="l"/>
            <a:r>
              <a:rPr lang="en-US" altLang="ko-KR" sz="10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[2] </a:t>
            </a:r>
            <a:r>
              <a:rPr lang="en-US" altLang="ko-KR" sz="1000" err="1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자동차</a:t>
            </a:r>
            <a:r>
              <a:rPr lang="en-US" altLang="ko-KR" sz="10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 </a:t>
            </a:r>
            <a:r>
              <a:rPr lang="en-US" altLang="ko-KR" sz="1000" err="1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부품</a:t>
            </a:r>
            <a:r>
              <a:rPr lang="en-US" altLang="ko-KR" sz="10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 </a:t>
            </a:r>
            <a:r>
              <a:rPr lang="en-US" altLang="ko-KR" sz="1000" err="1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사출제조공정의</a:t>
            </a:r>
            <a:r>
              <a:rPr lang="en-US" altLang="ko-KR" sz="10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 AI </a:t>
            </a:r>
            <a:r>
              <a:rPr lang="en-US" altLang="ko-KR" sz="1000" err="1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기반</a:t>
            </a:r>
            <a:r>
              <a:rPr lang="en-US" altLang="ko-KR" sz="10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 Vision </a:t>
            </a:r>
            <a:r>
              <a:rPr lang="en-US" altLang="ko-KR" sz="1000" err="1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불량검출</a:t>
            </a:r>
            <a:r>
              <a:rPr lang="en-US" altLang="ko-KR" sz="10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 </a:t>
            </a:r>
            <a:r>
              <a:rPr lang="en-US" altLang="ko-KR" sz="1000" err="1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연구</a:t>
            </a:r>
            <a:r>
              <a:rPr lang="en-US" altLang="ko-KR" sz="10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, </a:t>
            </a:r>
            <a:r>
              <a:rPr lang="en-US" altLang="ko-KR" sz="1000" err="1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김용민</a:t>
            </a:r>
            <a:r>
              <a:rPr lang="en-US" altLang="ko-KR" sz="10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 (</a:t>
            </a:r>
            <a:r>
              <a:rPr lang="en-US" altLang="ko-KR" sz="1000" err="1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한국공학대학교</a:t>
            </a:r>
            <a:r>
              <a:rPr lang="en-US" altLang="ko-KR" sz="10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 </a:t>
            </a:r>
            <a:r>
              <a:rPr lang="en-US" altLang="ko-KR" sz="1000" err="1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컴퓨터공학과</a:t>
            </a:r>
            <a:r>
              <a:rPr lang="en-US" altLang="ko-KR" sz="10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 </a:t>
            </a:r>
            <a:r>
              <a:rPr lang="en-US" altLang="ko-KR" sz="1000" err="1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국내석사</a:t>
            </a:r>
            <a:r>
              <a:rPr lang="en-US" altLang="ko-KR" sz="10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), 2022</a:t>
            </a:r>
          </a:p>
          <a:p>
            <a:pPr algn="l"/>
            <a:r>
              <a:rPr lang="en-US" altLang="ko-KR" sz="10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[3] </a:t>
            </a:r>
            <a:r>
              <a:rPr lang="en-US" altLang="ko-KR" sz="1000" err="1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선택이</a:t>
            </a:r>
            <a:r>
              <a:rPr lang="en-US" altLang="ko-KR" sz="10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 </a:t>
            </a:r>
            <a:r>
              <a:rPr lang="en-US" altLang="ko-KR" sz="1000" err="1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아닌</a:t>
            </a:r>
            <a:r>
              <a:rPr lang="en-US" altLang="ko-KR" sz="10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 </a:t>
            </a:r>
            <a:r>
              <a:rPr lang="en-US" altLang="ko-KR" sz="1000" err="1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필수</a:t>
            </a:r>
            <a:r>
              <a:rPr lang="en-US" altLang="ko-KR" sz="10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, </a:t>
            </a:r>
            <a:r>
              <a:rPr lang="en-US" altLang="ko-KR" sz="1000" err="1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제조업계의</a:t>
            </a:r>
            <a:r>
              <a:rPr lang="en-US" altLang="ko-KR" sz="10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 </a:t>
            </a:r>
            <a:r>
              <a:rPr lang="en-US" altLang="ko-KR" sz="1000" err="1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생성형</a:t>
            </a:r>
            <a:r>
              <a:rPr lang="en-US" altLang="ko-KR" sz="10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 AI </a:t>
            </a:r>
            <a:r>
              <a:rPr lang="en-US" altLang="ko-KR" sz="1000" err="1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도입</a:t>
            </a:r>
            <a:r>
              <a:rPr lang="en-US" altLang="ko-KR" sz="10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 </a:t>
            </a:r>
            <a:r>
              <a:rPr lang="en-US" altLang="ko-KR" sz="1000" err="1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사례</a:t>
            </a:r>
            <a:r>
              <a:rPr lang="en-US" altLang="ko-KR" sz="10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 </a:t>
            </a:r>
            <a:r>
              <a:rPr lang="en-US" altLang="ko-KR" sz="1000" err="1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살펴보기</a:t>
            </a:r>
            <a:r>
              <a:rPr lang="en-US" altLang="ko-KR" sz="10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, </a:t>
            </a:r>
            <a:r>
              <a:rPr lang="en-US" altLang="ko-KR" sz="1000" err="1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sk</a:t>
            </a:r>
            <a:r>
              <a:rPr lang="en-US" altLang="ko-KR" sz="10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 </a:t>
            </a:r>
            <a:r>
              <a:rPr lang="en-US" altLang="ko-KR" sz="1000" err="1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주식회사</a:t>
            </a:r>
            <a:r>
              <a:rPr lang="en-US" altLang="ko-KR" sz="10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, 2024.11.12</a:t>
            </a:r>
          </a:p>
        </p:txBody>
      </p:sp>
    </p:spTree>
    <p:extLst>
      <p:ext uri="{BB962C8B-B14F-4D97-AF65-F5344CB8AC3E}">
        <p14:creationId xmlns:p14="http://schemas.microsoft.com/office/powerpoint/2010/main" val="2397894742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10D13-A7F8-4502-DD65-20B5774B9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6ADA9890-26D2-8E29-0383-8BD35A6072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12" y="1088974"/>
            <a:ext cx="4060579" cy="330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 marL="241300" indent="-241300">
              <a:lnSpc>
                <a:spcPct val="130000"/>
              </a:lnSpc>
              <a:spcBef>
                <a:spcPts val="600"/>
              </a:spcBef>
            </a:pPr>
            <a:r>
              <a:rPr lang="ko-KR" altLang="en-US" sz="1800" kern="0">
                <a:solidFill>
                  <a:schemeClr val="accent1">
                    <a:lumMod val="75000"/>
                  </a:schemeClr>
                </a:solidFill>
                <a:latin typeface="Corbel"/>
                <a:ea typeface="맑은 고딕"/>
              </a:rPr>
              <a:t>연구배경</a:t>
            </a:r>
            <a:r>
              <a:rPr lang="en-US" altLang="ko-KR" sz="1800" kern="0">
                <a:solidFill>
                  <a:schemeClr val="accent1">
                    <a:lumMod val="75000"/>
                  </a:schemeClr>
                </a:solidFill>
                <a:latin typeface="Corbel"/>
                <a:ea typeface="맑은 고딕"/>
              </a:rPr>
              <a:t>/</a:t>
            </a:r>
            <a:r>
              <a:rPr lang="ko-KR" altLang="en-US" sz="1800" kern="0">
                <a:solidFill>
                  <a:schemeClr val="accent1">
                    <a:lumMod val="75000"/>
                  </a:schemeClr>
                </a:solidFill>
                <a:latin typeface="Corbel"/>
                <a:ea typeface="맑은 고딕"/>
              </a:rPr>
              <a:t>필요성</a:t>
            </a:r>
            <a:endParaRPr lang="en-US" altLang="ko-KR" sz="1800" kern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DE800F3-E48B-C1FF-262C-90F450174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서론 </a:t>
            </a:r>
            <a:r>
              <a:rPr lang="en-US" altLang="ko-KR"/>
              <a:t>(Introduction)</a:t>
            </a:r>
            <a:endParaRPr lang="ko-KR" alt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E50F337-FD71-B63D-2A66-5D3094C44D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542" y="1592685"/>
            <a:ext cx="7529491" cy="1510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ko-KR" altLang="en-US" sz="14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1) </a:t>
            </a:r>
            <a:r>
              <a:rPr lang="ko-KR" altLang="en-US" sz="15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연구배경 및 필요성</a:t>
            </a:r>
            <a:endParaRPr lang="ko-KR" altLang="en-US" sz="1500">
              <a:latin typeface="Malgun Gothic"/>
              <a:ea typeface="Malgun Gothic"/>
              <a:cs typeface="Arial"/>
            </a:endParaRPr>
          </a:p>
          <a:p>
            <a:pPr marL="628650" lvl="1" indent="-171450" algn="l">
              <a:lnSpc>
                <a:spcPct val="150000"/>
              </a:lnSpc>
              <a:buFont typeface="Wingdings"/>
              <a:buChar char="§"/>
            </a:pPr>
            <a:r>
              <a:rPr lang="en-US" altLang="ko-KR" sz="1200" err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제조기업에서</a:t>
            </a:r>
            <a:r>
              <a:rPr lang="en-US" altLang="ko-KR" sz="12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 </a:t>
            </a:r>
            <a:r>
              <a:rPr lang="en-US" altLang="ko-KR" sz="1200" err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딥러닝</a:t>
            </a:r>
            <a:r>
              <a:rPr lang="en-US" altLang="ko-KR" sz="12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 </a:t>
            </a:r>
            <a:r>
              <a:rPr lang="en-US" altLang="ko-KR" sz="1200" err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기반</a:t>
            </a:r>
            <a:r>
              <a:rPr lang="en-US" altLang="ko-KR" sz="12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 </a:t>
            </a:r>
            <a:r>
              <a:rPr lang="en-US" altLang="ko-KR" sz="1200" err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분류</a:t>
            </a:r>
            <a:r>
              <a:rPr lang="en-US" altLang="ko-KR" sz="12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 </a:t>
            </a:r>
            <a:r>
              <a:rPr lang="en-US" altLang="ko-KR" sz="1200" err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모델을</a:t>
            </a:r>
            <a:r>
              <a:rPr lang="en-US" altLang="ko-KR" sz="12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 </a:t>
            </a:r>
            <a:r>
              <a:rPr lang="en-US" altLang="ko-KR" sz="1200" err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도입해</a:t>
            </a:r>
            <a:r>
              <a:rPr lang="en-US" altLang="ko-KR" sz="12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 </a:t>
            </a:r>
            <a:r>
              <a:rPr lang="en-US" altLang="ko-KR" sz="1200" err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이종품</a:t>
            </a:r>
            <a:r>
              <a:rPr lang="en-US" altLang="ko-KR" sz="12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 </a:t>
            </a:r>
            <a:r>
              <a:rPr lang="en-US" altLang="ko-KR" sz="1200" err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이미지</a:t>
            </a:r>
            <a:r>
              <a:rPr lang="en-US" altLang="ko-KR" sz="12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 </a:t>
            </a:r>
            <a:r>
              <a:rPr lang="en-US" altLang="ko-KR" sz="1200" err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분류</a:t>
            </a:r>
            <a:r>
              <a:rPr lang="en-US" altLang="ko-KR" sz="12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 </a:t>
            </a:r>
            <a:r>
              <a:rPr lang="en-US" altLang="ko-KR" sz="1200" err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작업에서</a:t>
            </a:r>
            <a:r>
              <a:rPr lang="en-US" altLang="ko-KR" sz="12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 </a:t>
            </a:r>
            <a:r>
              <a:rPr lang="en-US" altLang="ko-KR" sz="1200" err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우수한</a:t>
            </a:r>
            <a:r>
              <a:rPr lang="en-US" altLang="ko-KR" sz="12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 </a:t>
            </a:r>
            <a:r>
              <a:rPr lang="en-US" altLang="ko-KR" sz="1200" err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성능을</a:t>
            </a:r>
            <a:r>
              <a:rPr lang="en-US" altLang="ko-KR" sz="12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 </a:t>
            </a:r>
            <a:r>
              <a:rPr lang="en-US" altLang="ko-KR" sz="1200" err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보임</a:t>
            </a:r>
            <a:endParaRPr lang="en-US" altLang="ko-KR" sz="1200">
              <a:solidFill>
                <a:srgbClr val="000000"/>
              </a:solidFill>
              <a:highlight>
                <a:srgbClr val="FFFFFF"/>
              </a:highlight>
              <a:latin typeface="Malgun Gothic"/>
              <a:ea typeface="Malgun Gothic"/>
              <a:cs typeface="Arial"/>
            </a:endParaRPr>
          </a:p>
          <a:p>
            <a:pPr marL="628650" lvl="1" indent="-171450" algn="l">
              <a:lnSpc>
                <a:spcPct val="150000"/>
              </a:lnSpc>
              <a:buFont typeface="Wingdings"/>
              <a:buChar char="§"/>
            </a:pPr>
            <a:r>
              <a:rPr lang="ko-KR" altLang="en-US" sz="12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하지만 </a:t>
            </a:r>
            <a:r>
              <a:rPr lang="en-US" altLang="ko-KR" sz="1200" err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실제</a:t>
            </a:r>
            <a:r>
              <a:rPr lang="en-US" altLang="ko-KR" sz="12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 </a:t>
            </a:r>
            <a:r>
              <a:rPr lang="en-US" altLang="ko-KR" sz="1200" err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생산</a:t>
            </a:r>
            <a:r>
              <a:rPr lang="en-US" altLang="ko-KR" sz="12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 </a:t>
            </a:r>
            <a:r>
              <a:rPr lang="en-US" altLang="ko-KR" sz="1200" err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환경에서</a:t>
            </a:r>
            <a:r>
              <a:rPr lang="en-US" altLang="ko-KR" sz="12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 </a:t>
            </a:r>
            <a:r>
              <a:rPr lang="en-US" altLang="ko-KR" sz="1200" err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카메라</a:t>
            </a:r>
            <a:r>
              <a:rPr lang="en-US" altLang="ko-KR" sz="12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 </a:t>
            </a:r>
            <a:r>
              <a:rPr lang="en-US" altLang="ko-KR" sz="1200" err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위치</a:t>
            </a:r>
            <a:r>
              <a:rPr lang="en-US" altLang="ko-KR" sz="12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 </a:t>
            </a:r>
            <a:r>
              <a:rPr lang="en-US" altLang="ko-KR" sz="1200" err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변화와</a:t>
            </a:r>
            <a:r>
              <a:rPr lang="en-US" altLang="ko-KR" sz="12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 </a:t>
            </a:r>
            <a:r>
              <a:rPr lang="en-US" altLang="ko-KR" sz="1200" err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부품</a:t>
            </a:r>
            <a:r>
              <a:rPr lang="en-US" altLang="ko-KR" sz="12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 </a:t>
            </a:r>
            <a:r>
              <a:rPr lang="en-US" altLang="ko-KR" sz="1200" err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각도</a:t>
            </a:r>
            <a:r>
              <a:rPr lang="en-US" altLang="ko-KR" sz="12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 등 </a:t>
            </a:r>
            <a:r>
              <a:rPr lang="en-US" altLang="ko-KR" sz="1200" b="1" err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외부</a:t>
            </a:r>
            <a:r>
              <a:rPr lang="en-US" altLang="ko-KR" sz="1200" b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 </a:t>
            </a:r>
            <a:r>
              <a:rPr lang="en-US" altLang="ko-KR" sz="1200" b="1" err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요인</a:t>
            </a:r>
            <a:r>
              <a:rPr lang="en-US" altLang="ko-KR" sz="1200" err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으로</a:t>
            </a:r>
            <a:r>
              <a:rPr lang="en-US" altLang="ko-KR" sz="12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 </a:t>
            </a:r>
            <a:r>
              <a:rPr lang="en-US" altLang="ko-KR" sz="1200" err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인해</a:t>
            </a:r>
            <a:r>
              <a:rPr lang="en-US" altLang="ko-KR" sz="12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 </a:t>
            </a:r>
            <a:r>
              <a:rPr lang="en-US" altLang="ko-KR" sz="1200" err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모델의</a:t>
            </a:r>
            <a:r>
              <a:rPr lang="en-US" altLang="ko-KR" sz="12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 </a:t>
            </a:r>
            <a:r>
              <a:rPr lang="en-US" altLang="ko-KR" sz="1200" err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성능이</a:t>
            </a:r>
            <a:r>
              <a:rPr lang="en-US" altLang="ko-KR" sz="12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 </a:t>
            </a:r>
            <a:r>
              <a:rPr lang="en-US" altLang="ko-KR" sz="1200" err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저하되는</a:t>
            </a:r>
            <a:r>
              <a:rPr lang="en-US" altLang="ko-KR" sz="12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 </a:t>
            </a:r>
            <a:r>
              <a:rPr lang="en-US" altLang="ko-KR" sz="1200" err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모델</a:t>
            </a:r>
            <a:r>
              <a:rPr lang="en-US" altLang="ko-KR" sz="12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 </a:t>
            </a:r>
            <a:r>
              <a:rPr lang="en-US" altLang="ko-KR" sz="1200" b="1" err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드리프트</a:t>
            </a:r>
            <a:r>
              <a:rPr lang="en-US" altLang="ko-KR" sz="1200" b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 </a:t>
            </a:r>
            <a:r>
              <a:rPr lang="en-US" altLang="ko-KR" sz="1200" b="1" err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현상</a:t>
            </a:r>
            <a:r>
              <a:rPr lang="en-US" altLang="ko-KR" sz="12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 </a:t>
            </a:r>
            <a:r>
              <a:rPr lang="en-US" altLang="ko-KR" sz="1200" err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발생</a:t>
            </a:r>
            <a:endParaRPr lang="en-US" altLang="ko-KR" sz="1200">
              <a:solidFill>
                <a:srgbClr val="000000"/>
              </a:solidFill>
              <a:highlight>
                <a:srgbClr val="FFFFFF"/>
              </a:highlight>
              <a:latin typeface="Malgun Gothic"/>
              <a:ea typeface="Malgun Gothic"/>
              <a:cs typeface="Arial"/>
            </a:endParaRPr>
          </a:p>
          <a:p>
            <a:pPr marL="628650" lvl="1" indent="-171450" algn="l">
              <a:lnSpc>
                <a:spcPct val="150000"/>
              </a:lnSpc>
              <a:buFont typeface="Wingdings"/>
              <a:buChar char="§"/>
            </a:pPr>
            <a:r>
              <a:rPr lang="en-US" altLang="ko-KR" sz="1200" err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이에</a:t>
            </a:r>
            <a:r>
              <a:rPr lang="en-US" altLang="ko-KR" sz="12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 </a:t>
            </a:r>
            <a:r>
              <a:rPr lang="ko-KR" altLang="ko-KR" sz="12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따라</a:t>
            </a:r>
            <a:r>
              <a:rPr lang="en-US" altLang="ko-KR" sz="12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, </a:t>
            </a:r>
            <a:r>
              <a:rPr lang="en-US" altLang="ko-KR" sz="1200" err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환경</a:t>
            </a:r>
            <a:r>
              <a:rPr lang="en-US" altLang="ko-KR" sz="12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 </a:t>
            </a:r>
            <a:r>
              <a:rPr lang="en-US" altLang="ko-KR" sz="1200" err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변화에</a:t>
            </a:r>
            <a:r>
              <a:rPr lang="en-US" altLang="ko-KR" sz="12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 </a:t>
            </a:r>
            <a:r>
              <a:rPr lang="en-US" altLang="ko-KR" sz="1200" err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따른</a:t>
            </a:r>
            <a:r>
              <a:rPr lang="en-US" altLang="ko-KR" sz="12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 </a:t>
            </a:r>
            <a:r>
              <a:rPr lang="en-US" altLang="ko-KR" sz="1200" err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세밀한</a:t>
            </a:r>
            <a:r>
              <a:rPr lang="en-US" altLang="ko-KR" sz="12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 </a:t>
            </a:r>
            <a:r>
              <a:rPr lang="en-US" altLang="ko-KR" sz="1200" err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분류</a:t>
            </a:r>
            <a:r>
              <a:rPr lang="en-US" altLang="ko-KR" sz="12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 </a:t>
            </a:r>
            <a:r>
              <a:rPr lang="en-US" altLang="ko-KR" sz="1200" err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성능</a:t>
            </a:r>
            <a:r>
              <a:rPr lang="en-US" altLang="ko-KR" sz="12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 </a:t>
            </a:r>
            <a:r>
              <a:rPr lang="en-US" altLang="ko-KR" sz="1200" err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저하</a:t>
            </a:r>
            <a:r>
              <a:rPr lang="en-US" altLang="ko-KR" sz="12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 </a:t>
            </a:r>
            <a:r>
              <a:rPr lang="en-US" altLang="ko-KR" sz="1200" err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원인을</a:t>
            </a:r>
            <a:r>
              <a:rPr lang="en-US" altLang="ko-KR" sz="12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 </a:t>
            </a:r>
            <a:r>
              <a:rPr lang="en-US" altLang="ko-KR" sz="1200" err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분석하고</a:t>
            </a:r>
            <a:r>
              <a:rPr lang="en-US" altLang="ko-KR" sz="12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, </a:t>
            </a:r>
            <a:r>
              <a:rPr lang="en-US" altLang="ko-KR" sz="1200" err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대응하기</a:t>
            </a:r>
            <a:r>
              <a:rPr lang="en-US" altLang="ko-KR" sz="12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 </a:t>
            </a:r>
            <a:r>
              <a:rPr lang="en-US" altLang="ko-KR" sz="1200" err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위한</a:t>
            </a:r>
            <a:r>
              <a:rPr lang="en-US" altLang="ko-KR" sz="12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 </a:t>
            </a:r>
            <a:r>
              <a:rPr lang="en-US" altLang="ko-KR" sz="1200" err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방법</a:t>
            </a:r>
            <a:r>
              <a:rPr lang="en-US" altLang="ko-KR" sz="12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 </a:t>
            </a:r>
            <a:r>
              <a:rPr lang="en-US" altLang="ko-KR" sz="1200" err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제시</a:t>
            </a:r>
            <a:endParaRPr lang="en-US" altLang="ko-KR" sz="1200">
              <a:solidFill>
                <a:srgbClr val="000000"/>
              </a:solidFill>
              <a:highlight>
                <a:srgbClr val="FFFFFF"/>
              </a:highlight>
              <a:latin typeface="Malgun Gothic"/>
              <a:ea typeface="Malgun Gothic"/>
              <a:cs typeface="Arial"/>
            </a:endParaRPr>
          </a:p>
        </p:txBody>
      </p:sp>
      <p:pic>
        <p:nvPicPr>
          <p:cNvPr id="4" name="그림 3" descr="라인, 그래프, 도표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03C6E39-A8C3-6668-931B-B25AE1BDD9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0877" y="3405390"/>
            <a:ext cx="3333548" cy="2362403"/>
          </a:xfrm>
          <a:prstGeom prst="rect">
            <a:avLst/>
          </a:prstGeom>
        </p:spPr>
      </p:pic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CD02D84-0267-6F12-310B-5482CE1376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8209559"/>
              </p:ext>
            </p:extLst>
          </p:nvPr>
        </p:nvGraphicFramePr>
        <p:xfrm>
          <a:off x="561096" y="4067566"/>
          <a:ext cx="4830429" cy="10265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50094">
                  <a:extLst>
                    <a:ext uri="{9D8B030D-6E8A-4147-A177-3AD203B41FA5}">
                      <a16:colId xmlns:a16="http://schemas.microsoft.com/office/drawing/2014/main" val="1914118848"/>
                    </a:ext>
                  </a:extLst>
                </a:gridCol>
                <a:gridCol w="756067">
                  <a:extLst>
                    <a:ext uri="{9D8B030D-6E8A-4147-A177-3AD203B41FA5}">
                      <a16:colId xmlns:a16="http://schemas.microsoft.com/office/drawing/2014/main" val="3175326103"/>
                    </a:ext>
                  </a:extLst>
                </a:gridCol>
                <a:gridCol w="756067">
                  <a:extLst>
                    <a:ext uri="{9D8B030D-6E8A-4147-A177-3AD203B41FA5}">
                      <a16:colId xmlns:a16="http://schemas.microsoft.com/office/drawing/2014/main" val="1976758495"/>
                    </a:ext>
                  </a:extLst>
                </a:gridCol>
                <a:gridCol w="756067">
                  <a:extLst>
                    <a:ext uri="{9D8B030D-6E8A-4147-A177-3AD203B41FA5}">
                      <a16:colId xmlns:a16="http://schemas.microsoft.com/office/drawing/2014/main" val="29300508"/>
                    </a:ext>
                  </a:extLst>
                </a:gridCol>
                <a:gridCol w="756067">
                  <a:extLst>
                    <a:ext uri="{9D8B030D-6E8A-4147-A177-3AD203B41FA5}">
                      <a16:colId xmlns:a16="http://schemas.microsoft.com/office/drawing/2014/main" val="3207769136"/>
                    </a:ext>
                  </a:extLst>
                </a:gridCol>
                <a:gridCol w="756067">
                  <a:extLst>
                    <a:ext uri="{9D8B030D-6E8A-4147-A177-3AD203B41FA5}">
                      <a16:colId xmlns:a16="http://schemas.microsoft.com/office/drawing/2014/main" val="286227900"/>
                    </a:ext>
                  </a:extLst>
                </a:gridCol>
              </a:tblGrid>
              <a:tr h="256645"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buNone/>
                      </a:pPr>
                      <a:r>
                        <a:rPr lang="ko-KR" altLang="en-US" sz="1300" kern="120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구분</a:t>
                      </a:r>
                      <a:endParaRPr lang="ko-KR" altLang="en-US">
                        <a:effectLst/>
                        <a:latin typeface="맑은 고딕"/>
                      </a:endParaRPr>
                    </a:p>
                  </a:txBody>
                  <a:tcPr marL="0" marR="0" marT="0" marB="0" anchor="ctr">
                    <a:lnL w="3175">
                      <a:solidFill>
                        <a:schemeClr val="tx1"/>
                      </a:solidFill>
                    </a:lnL>
                    <a:lnR w="3175">
                      <a:solidFill>
                        <a:schemeClr val="tx1"/>
                      </a:solidFill>
                    </a:lnR>
                    <a:lnT w="3175">
                      <a:solidFill>
                        <a:schemeClr val="tx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buNone/>
                      </a:pPr>
                      <a:r>
                        <a:rPr lang="en-US" sz="1300" kern="120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24/09</a:t>
                      </a:r>
                      <a:endParaRPr lang="en-US" altLang="ko-KR">
                        <a:effectLst/>
                        <a:latin typeface="맑은 고딕"/>
                      </a:endParaRPr>
                    </a:p>
                  </a:txBody>
                  <a:tcPr marL="0" marR="0" marT="0" marB="0" anchor="ctr">
                    <a:lnL w="3175">
                      <a:solidFill>
                        <a:schemeClr val="tx1"/>
                      </a:solidFill>
                    </a:lnL>
                    <a:lnR w="3175">
                      <a:solidFill>
                        <a:schemeClr val="tx1"/>
                      </a:solidFill>
                    </a:lnR>
                    <a:lnT w="3175">
                      <a:solidFill>
                        <a:schemeClr val="tx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buNone/>
                      </a:pPr>
                      <a:r>
                        <a:rPr lang="en-US" sz="1300" kern="120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24/10</a:t>
                      </a:r>
                      <a:endParaRPr lang="en-US" altLang="ko-KR">
                        <a:effectLst/>
                        <a:latin typeface="맑은 고딕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chemeClr val="tx1"/>
                      </a:solidFill>
                    </a:lnR>
                    <a:lnT w="3175">
                      <a:solidFill>
                        <a:schemeClr val="tx1"/>
                      </a:solidFill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buNone/>
                      </a:pPr>
                      <a:r>
                        <a:rPr lang="en-US" sz="1300" kern="120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24/11</a:t>
                      </a:r>
                      <a:endParaRPr lang="en-US" altLang="ko-KR">
                        <a:effectLst/>
                        <a:latin typeface="맑은 고딕"/>
                      </a:endParaRPr>
                    </a:p>
                  </a:txBody>
                  <a:tcPr marL="0" marR="0" marT="0" marB="0" anchor="ctr">
                    <a:lnL w="3175">
                      <a:solidFill>
                        <a:schemeClr val="tx1"/>
                      </a:solidFill>
                    </a:lnL>
                    <a:lnR w="3175">
                      <a:solidFill>
                        <a:schemeClr val="tx1"/>
                      </a:solidFill>
                    </a:lnR>
                    <a:lnT w="3175">
                      <a:solidFill>
                        <a:schemeClr val="tx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buNone/>
                      </a:pPr>
                      <a:r>
                        <a:rPr lang="en-US" sz="1300" kern="120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24/12</a:t>
                      </a:r>
                      <a:endParaRPr lang="en-US" altLang="ko-KR">
                        <a:effectLst/>
                        <a:latin typeface="맑은 고딕"/>
                      </a:endParaRPr>
                    </a:p>
                  </a:txBody>
                  <a:tcPr marL="0" marR="0" marT="0" marB="0" anchor="ctr">
                    <a:lnL w="3175">
                      <a:solidFill>
                        <a:schemeClr val="tx1"/>
                      </a:solidFill>
                    </a:lnL>
                    <a:lnR w="3175">
                      <a:solidFill>
                        <a:schemeClr val="tx1"/>
                      </a:solidFill>
                    </a:lnR>
                    <a:lnT w="3175">
                      <a:solidFill>
                        <a:schemeClr val="tx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buNone/>
                      </a:pPr>
                      <a:r>
                        <a:rPr lang="en-US" sz="1300" b="0" i="0" kern="120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25/01</a:t>
                      </a:r>
                      <a:endParaRPr lang="en-US" altLang="ko-KR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chemeClr val="tx1"/>
                      </a:solidFill>
                    </a:lnR>
                    <a:lnT w="3175">
                      <a:solidFill>
                        <a:schemeClr val="tx1"/>
                      </a:solidFill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2749852"/>
                  </a:ext>
                </a:extLst>
              </a:tr>
              <a:tr h="256645"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buNone/>
                      </a:pPr>
                      <a:r>
                        <a:rPr lang="ko-KR" altLang="en-US" sz="1300" kern="120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총 </a:t>
                      </a:r>
                      <a:r>
                        <a:rPr lang="af-ZA" sz="1300" kern="120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NG</a:t>
                      </a:r>
                      <a:r>
                        <a:rPr lang="af-ZA" altLang="ko-KR" sz="1300" kern="120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ko-KR" altLang="en-US" sz="1300" kern="120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수</a:t>
                      </a:r>
                      <a:endParaRPr lang="ko-KR" altLang="en-US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0" marR="0" marT="0" marB="0" anchor="ctr">
                    <a:lnL w="3175">
                      <a:solidFill>
                        <a:schemeClr val="tx1"/>
                      </a:solidFill>
                    </a:lnL>
                    <a:lnR w="3175">
                      <a:solidFill>
                        <a:schemeClr val="tx1"/>
                      </a:solidFill>
                    </a:lnR>
                    <a:lnT w="3175">
                      <a:solidFill>
                        <a:schemeClr val="tx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buNone/>
                      </a:pPr>
                      <a:r>
                        <a:rPr lang="en-US" sz="1300" kern="120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66</a:t>
                      </a:r>
                      <a:endParaRPr lang="en-US" altLang="ko-KR">
                        <a:effectLst/>
                        <a:latin typeface="맑은 고딕"/>
                      </a:endParaRPr>
                    </a:p>
                  </a:txBody>
                  <a:tcPr marL="0" marR="0" marT="0" marB="0" anchor="ctr">
                    <a:lnL w="3175">
                      <a:solidFill>
                        <a:schemeClr val="tx1"/>
                      </a:solidFill>
                    </a:lnL>
                    <a:lnR w="3175">
                      <a:solidFill>
                        <a:schemeClr val="tx1"/>
                      </a:solidFill>
                    </a:lnR>
                    <a:lnT w="3175">
                      <a:solidFill>
                        <a:schemeClr val="tx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buNone/>
                      </a:pPr>
                      <a:r>
                        <a:rPr lang="en-US" sz="1300" kern="120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32</a:t>
                      </a:r>
                      <a:endParaRPr lang="en-US" altLang="ko-KR">
                        <a:effectLst/>
                        <a:latin typeface="맑은 고딕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chemeClr val="tx1"/>
                      </a:solidFill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buNone/>
                      </a:pPr>
                      <a:r>
                        <a:rPr lang="en-US" sz="1300" kern="120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49</a:t>
                      </a:r>
                      <a:endParaRPr lang="en-US" altLang="ko-KR">
                        <a:effectLst/>
                        <a:latin typeface="맑은 고딕"/>
                      </a:endParaRPr>
                    </a:p>
                  </a:txBody>
                  <a:tcPr marL="0" marR="0" marT="0" marB="0" anchor="ctr">
                    <a:lnL w="3175">
                      <a:solidFill>
                        <a:schemeClr val="tx1"/>
                      </a:solidFill>
                    </a:lnL>
                    <a:lnR w="3175">
                      <a:solidFill>
                        <a:schemeClr val="tx1"/>
                      </a:solidFill>
                    </a:lnR>
                    <a:lnT w="3175">
                      <a:solidFill>
                        <a:schemeClr val="tx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buNone/>
                      </a:pPr>
                      <a:r>
                        <a:rPr lang="en-US" sz="1300" kern="120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344</a:t>
                      </a:r>
                      <a:endParaRPr lang="en-US" altLang="ko-KR">
                        <a:effectLst/>
                        <a:latin typeface="맑은 고딕"/>
                      </a:endParaRPr>
                    </a:p>
                  </a:txBody>
                  <a:tcPr marL="0" marR="0" marT="0" marB="0" anchor="ctr">
                    <a:lnL w="3175">
                      <a:solidFill>
                        <a:schemeClr val="tx1"/>
                      </a:solidFill>
                    </a:lnL>
                    <a:lnR w="3175">
                      <a:solidFill>
                        <a:schemeClr val="tx1"/>
                      </a:solidFill>
                    </a:lnR>
                    <a:lnT w="3175">
                      <a:solidFill>
                        <a:schemeClr val="tx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buNone/>
                      </a:pPr>
                      <a:r>
                        <a:rPr lang="en-US" sz="1300" b="0" i="0" kern="120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205</a:t>
                      </a:r>
                      <a:endParaRPr lang="en-US" altLang="ko-KR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chemeClr val="tx1"/>
                      </a:solidFill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632996"/>
                  </a:ext>
                </a:extLst>
              </a:tr>
              <a:tr h="256645"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buNone/>
                      </a:pPr>
                      <a:r>
                        <a:rPr lang="ko-KR" altLang="en-US" sz="1300" kern="120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총 생산 수량</a:t>
                      </a:r>
                      <a:endParaRPr lang="ko-KR" altLang="en-US">
                        <a:effectLst/>
                        <a:latin typeface="맑은 고딕"/>
                      </a:endParaRPr>
                    </a:p>
                  </a:txBody>
                  <a:tcPr marL="0" marR="0" marT="0" marB="0" anchor="ctr">
                    <a:lnL w="3175">
                      <a:solidFill>
                        <a:schemeClr val="tx1"/>
                      </a:solidFill>
                    </a:lnL>
                    <a:lnR w="3175">
                      <a:solidFill>
                        <a:schemeClr val="tx1"/>
                      </a:solidFill>
                    </a:lnR>
                    <a:lnT w="3175">
                      <a:solidFill>
                        <a:schemeClr val="tx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buNone/>
                      </a:pPr>
                      <a:r>
                        <a:rPr lang="en-US" sz="1300" kern="120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70708</a:t>
                      </a:r>
                      <a:endParaRPr lang="en-US" altLang="ko-KR">
                        <a:effectLst/>
                        <a:latin typeface="맑은 고딕"/>
                      </a:endParaRPr>
                    </a:p>
                  </a:txBody>
                  <a:tcPr marL="0" marR="0" marT="0" marB="0" anchor="ctr">
                    <a:lnL w="3175">
                      <a:solidFill>
                        <a:schemeClr val="tx1"/>
                      </a:solidFill>
                    </a:lnL>
                    <a:lnR w="3175">
                      <a:solidFill>
                        <a:schemeClr val="tx1"/>
                      </a:solidFill>
                    </a:lnR>
                    <a:lnT w="3175">
                      <a:solidFill>
                        <a:schemeClr val="tx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buNone/>
                      </a:pPr>
                      <a:r>
                        <a:rPr lang="en-US" sz="1300" kern="120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85570</a:t>
                      </a:r>
                      <a:endParaRPr lang="en-US" altLang="ko-KR">
                        <a:effectLst/>
                        <a:latin typeface="맑은 고딕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chemeClr val="tx1"/>
                      </a:solidFill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buNone/>
                      </a:pPr>
                      <a:r>
                        <a:rPr lang="en-US" sz="1300" kern="120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64479</a:t>
                      </a:r>
                      <a:endParaRPr lang="en-US" altLang="ko-KR">
                        <a:effectLst/>
                        <a:latin typeface="맑은 고딕"/>
                      </a:endParaRPr>
                    </a:p>
                  </a:txBody>
                  <a:tcPr marL="0" marR="0" marT="0" marB="0" anchor="ctr">
                    <a:lnL w="3175">
                      <a:solidFill>
                        <a:schemeClr val="tx1"/>
                      </a:solidFill>
                    </a:lnL>
                    <a:lnR w="3175">
                      <a:solidFill>
                        <a:schemeClr val="tx1"/>
                      </a:solidFill>
                    </a:lnR>
                    <a:lnT w="3175">
                      <a:solidFill>
                        <a:schemeClr val="tx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buNone/>
                      </a:pPr>
                      <a:r>
                        <a:rPr lang="en-US" sz="1300" b="0" i="0" kern="120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65694</a:t>
                      </a:r>
                      <a:endParaRPr lang="en-US" altLang="ko-KR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0" marR="0" marT="0" marB="0" anchor="ctr">
                    <a:lnL w="3175">
                      <a:solidFill>
                        <a:schemeClr val="tx1"/>
                      </a:solidFill>
                    </a:lnL>
                    <a:lnR w="3175">
                      <a:solidFill>
                        <a:schemeClr val="tx1"/>
                      </a:solidFill>
                    </a:lnR>
                    <a:lnT w="3175">
                      <a:solidFill>
                        <a:schemeClr val="tx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buNone/>
                      </a:pPr>
                      <a:r>
                        <a:rPr lang="en-US" sz="1300" b="0" i="0" kern="120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25725</a:t>
                      </a:r>
                      <a:endParaRPr lang="en-US" altLang="ko-KR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chemeClr val="tx1"/>
                      </a:solidFill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7563666"/>
                  </a:ext>
                </a:extLst>
              </a:tr>
              <a:tr h="256645"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buNone/>
                      </a:pPr>
                      <a:r>
                        <a:rPr lang="ko-KR" altLang="en-US" sz="1300" b="0" i="0" kern="120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정확도</a:t>
                      </a:r>
                      <a:endParaRPr lang="ko-KR" altLang="en-US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0" marR="0" marT="0" marB="0" anchor="ctr">
                    <a:lnL w="3175">
                      <a:solidFill>
                        <a:schemeClr val="tx1"/>
                      </a:solidFill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buNone/>
                      </a:pPr>
                      <a:r>
                        <a:rPr lang="en-US" sz="1300" kern="120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99.91</a:t>
                      </a:r>
                      <a:endParaRPr lang="en-US" altLang="ko-KR">
                        <a:effectLst/>
                        <a:latin typeface="맑은 고딕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buNone/>
                      </a:pPr>
                      <a:r>
                        <a:rPr lang="en-US" sz="1300" kern="120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99.96</a:t>
                      </a:r>
                      <a:endParaRPr lang="en-US" altLang="ko-KR">
                        <a:effectLst/>
                        <a:latin typeface="맑은 고딕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buNone/>
                      </a:pPr>
                      <a:r>
                        <a:rPr lang="en-US" sz="1300" kern="120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99.92</a:t>
                      </a:r>
                      <a:endParaRPr lang="en-US" altLang="ko-KR">
                        <a:effectLst/>
                        <a:latin typeface="맑은 고딕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buNone/>
                      </a:pPr>
                      <a:r>
                        <a:rPr lang="en-US" sz="1300" kern="120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99.48</a:t>
                      </a:r>
                      <a:endParaRPr lang="en-US" altLang="ko-KR">
                        <a:effectLst/>
                        <a:latin typeface="맑은 고딕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>
                        <a:buNone/>
                      </a:pPr>
                      <a:r>
                        <a:rPr lang="en-US" sz="1300" b="0" i="0" kern="120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99.20</a:t>
                      </a:r>
                      <a:endParaRPr lang="en-US" altLang="ko-KR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chemeClr val="tx1"/>
                      </a:solidFill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0280967"/>
                  </a:ext>
                </a:extLst>
              </a:tr>
            </a:tbl>
          </a:graphicData>
        </a:graphic>
      </p:graphicFrame>
      <p:sp>
        <p:nvSpPr>
          <p:cNvPr id="3" name="Rectangle 3">
            <a:extLst>
              <a:ext uri="{FF2B5EF4-FFF2-40B4-BE49-F238E27FC236}">
                <a16:creationId xmlns:a16="http://schemas.microsoft.com/office/drawing/2014/main" id="{80579962-1164-1A0E-A048-4207727551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541" y="3339938"/>
            <a:ext cx="3025585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3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- 모델 </a:t>
            </a:r>
            <a:r>
              <a:rPr lang="ko-KR" altLang="en-US" sz="1300" err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드리프트</a:t>
            </a:r>
            <a:r>
              <a:rPr lang="ko-KR" altLang="en-US" sz="13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 현상 발생</a:t>
            </a:r>
            <a:endParaRPr lang="ko-KR">
              <a:cs typeface="Arial" pitchFamily="34" charset="0"/>
            </a:endParaRPr>
          </a:p>
          <a:p>
            <a:pPr algn="l"/>
            <a:endParaRPr lang="ko-KR" altLang="en-US" sz="1200">
              <a:solidFill>
                <a:srgbClr val="000000"/>
              </a:solidFill>
              <a:highlight>
                <a:srgbClr val="FFFFFF"/>
              </a:highlight>
              <a:latin typeface="Malgun Gothic"/>
              <a:ea typeface="Malgun Gothic"/>
              <a:cs typeface="Arial"/>
            </a:endParaRPr>
          </a:p>
          <a:p>
            <a:pPr algn="l"/>
            <a:r>
              <a:rPr lang="ko-KR" sz="12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2025/01/13</a:t>
            </a:r>
            <a:r>
              <a:rPr lang="ko-KR" altLang="en-US" sz="12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 기준 </a:t>
            </a:r>
            <a:r>
              <a:rPr lang="en-US" altLang="ko-KR" sz="12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NG</a:t>
            </a:r>
            <a:r>
              <a:rPr lang="ko-KR" altLang="en-US" sz="12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율</a:t>
            </a:r>
            <a:endParaRPr lang="ko-KR" altLang="en-US" sz="1200">
              <a:ea typeface="맑은 고딕"/>
              <a:cs typeface="Arial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7D48153-BE63-5847-9092-CD0615F78F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536" y="5220503"/>
            <a:ext cx="6644272" cy="8848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2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모델 정확도가 </a:t>
            </a:r>
            <a:r>
              <a:rPr lang="en-US" altLang="ko-KR" sz="12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99.9%</a:t>
            </a:r>
            <a:r>
              <a:rPr lang="ko-KR" altLang="en-US" sz="12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 이상을 유지하다 </a:t>
            </a:r>
            <a:r>
              <a:rPr lang="en-US" altLang="ko-KR" sz="12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12</a:t>
            </a:r>
            <a:r>
              <a:rPr lang="ko-KR" altLang="en-US" sz="12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월부터 </a:t>
            </a:r>
            <a:r>
              <a:rPr lang="en-US" altLang="ko-KR" sz="1200" b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99.5%</a:t>
            </a:r>
            <a:r>
              <a:rPr lang="ko-KR" altLang="en-US" sz="1200" b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 </a:t>
            </a:r>
            <a:r>
              <a:rPr lang="ko-KR" sz="1200" b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이하</a:t>
            </a:r>
            <a:r>
              <a:rPr lang="ko-KR" sz="12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로 </a:t>
            </a:r>
            <a:r>
              <a:rPr lang="ko-KR" altLang="en-US" sz="12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떨어짐</a:t>
            </a:r>
            <a:endParaRPr lang="ko-KR" sz="1400"/>
          </a:p>
          <a:p>
            <a:pPr algn="l"/>
            <a:endParaRPr lang="ko-KR" altLang="en-US" sz="1050">
              <a:solidFill>
                <a:srgbClr val="000000"/>
              </a:solidFill>
              <a:highlight>
                <a:srgbClr val="FFFFFF"/>
              </a:highlight>
              <a:latin typeface="Malgun Gothic"/>
              <a:ea typeface="Malgun Gothic"/>
              <a:cs typeface="Arial"/>
            </a:endParaRPr>
          </a:p>
          <a:p>
            <a:pPr algn="l"/>
            <a:endParaRPr lang="ko-KR" altLang="en-US" sz="1100">
              <a:solidFill>
                <a:srgbClr val="000000"/>
              </a:solidFill>
              <a:highlight>
                <a:srgbClr val="FFFFFF"/>
              </a:highlight>
              <a:latin typeface="Malgun Gothic"/>
              <a:ea typeface="Malgun Gothic"/>
              <a:cs typeface="Arial"/>
            </a:endParaRPr>
          </a:p>
          <a:p>
            <a:pPr algn="l"/>
            <a:r>
              <a:rPr lang="ko-KR" sz="9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정확도가 99.9%에서 99.5% 이하로 떨어진 것은 수치상으로 작아 보일 수 있으나, </a:t>
            </a:r>
            <a:endParaRPr lang="ko-KR" sz="900">
              <a:ea typeface="맑은 고딕"/>
              <a:cs typeface="Arial"/>
            </a:endParaRPr>
          </a:p>
          <a:p>
            <a:pPr algn="l"/>
            <a:r>
              <a:rPr lang="ko-KR" sz="9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실제로는 잘못 분류되는 나사의 수가 </a:t>
            </a:r>
            <a:r>
              <a:rPr lang="ko-KR" sz="900" b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7배 이상 증가</a:t>
            </a:r>
            <a:r>
              <a:rPr lang="ko-KR" sz="9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하는 것으로, 스마트 공장의 엄격한 품질 기준에서는 매우 큰 위험 요소임</a:t>
            </a:r>
            <a:endParaRPr lang="ko-KR" sz="900">
              <a:ea typeface="맑은 고딕"/>
              <a:cs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7E365C-DFE9-01A1-3D05-1966390ED4DB}"/>
              </a:ext>
            </a:extLst>
          </p:cNvPr>
          <p:cNvSpPr txBox="1"/>
          <p:nvPr/>
        </p:nvSpPr>
        <p:spPr>
          <a:xfrm>
            <a:off x="3776674" y="858059"/>
            <a:ext cx="521168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>
                <a:solidFill>
                  <a:schemeClr val="tx1"/>
                </a:solidFill>
              </a:rPr>
              <a:t>* </a:t>
            </a:r>
            <a:r>
              <a:rPr lang="ko-KR" altLang="en-US" sz="900">
                <a:solidFill>
                  <a:schemeClr val="tx1"/>
                </a:solidFill>
              </a:rPr>
              <a:t>모델 </a:t>
            </a:r>
            <a:r>
              <a:rPr lang="ko-KR" altLang="en-US" sz="900" err="1">
                <a:solidFill>
                  <a:schemeClr val="tx1"/>
                </a:solidFill>
              </a:rPr>
              <a:t>드리프트</a:t>
            </a:r>
            <a:r>
              <a:rPr lang="en-US" altLang="ko-KR" sz="900">
                <a:solidFill>
                  <a:schemeClr val="tx1"/>
                </a:solidFill>
              </a:rPr>
              <a:t>(Model Drift)</a:t>
            </a:r>
            <a:r>
              <a:rPr lang="ko-KR" altLang="en-US" sz="900">
                <a:solidFill>
                  <a:schemeClr val="tx1"/>
                </a:solidFill>
              </a:rPr>
              <a:t>는 </a:t>
            </a:r>
            <a:r>
              <a:rPr lang="en-US" altLang="ko-KR" sz="900">
                <a:solidFill>
                  <a:schemeClr val="tx1"/>
                </a:solidFill>
              </a:rPr>
              <a:t>“</a:t>
            </a:r>
            <a:r>
              <a:rPr lang="ko-KR" altLang="en-US" sz="900">
                <a:solidFill>
                  <a:schemeClr val="tx1"/>
                </a:solidFill>
              </a:rPr>
              <a:t>모델을 배포한 이후 시간이 지남에 따라 모델 성능이 저하되는 현상</a:t>
            </a:r>
            <a:r>
              <a:rPr lang="en-US" altLang="ko-KR" sz="900">
                <a:solidFill>
                  <a:schemeClr val="tx1"/>
                </a:solidFill>
              </a:rPr>
              <a:t>”</a:t>
            </a:r>
            <a:endParaRPr lang="ko-KR" altLang="en-US" sz="9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8215363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60E71-BDC6-B3F0-BEB3-B0824E2E2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0076C048-D0F5-C4C1-CB16-A5C32BF6C1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12" y="1088974"/>
            <a:ext cx="4060579" cy="330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 marL="241300" indent="-241300">
              <a:lnSpc>
                <a:spcPct val="130000"/>
              </a:lnSpc>
              <a:spcBef>
                <a:spcPts val="600"/>
              </a:spcBef>
            </a:pPr>
            <a:r>
              <a:rPr lang="ko-KR" altLang="en-US" sz="1800" kern="0">
                <a:solidFill>
                  <a:schemeClr val="accent1">
                    <a:lumMod val="75000"/>
                  </a:schemeClr>
                </a:solidFill>
                <a:latin typeface="Corbel"/>
                <a:ea typeface="맑은 고딕"/>
              </a:rPr>
              <a:t>문제 정의</a:t>
            </a:r>
            <a:endParaRPr lang="en-US" altLang="ko-KR" sz="1800" kern="0">
              <a:solidFill>
                <a:schemeClr val="accent1">
                  <a:lumMod val="75000"/>
                </a:schemeClr>
              </a:solidFill>
              <a:latin typeface="Corbel"/>
              <a:ea typeface="맑은 고딕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4624843-578A-1DB6-9863-101EE8B04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서론 </a:t>
            </a:r>
            <a:r>
              <a:rPr lang="en-US" altLang="ko-KR"/>
              <a:t>(Introduction)</a:t>
            </a:r>
            <a:endParaRPr lang="ko-KR" alt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785F916-9CDF-AB6B-BABF-08AD50E729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899" y="1472461"/>
            <a:ext cx="7597585" cy="34741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altLang="ko-KR" sz="14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2) </a:t>
            </a:r>
            <a:r>
              <a:rPr lang="ko-KR" sz="14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문제정의</a:t>
            </a:r>
            <a:endParaRPr lang="en-US" altLang="ko-KR" sz="1400">
              <a:solidFill>
                <a:srgbClr val="000000"/>
              </a:solidFill>
              <a:highlight>
                <a:srgbClr val="FFFFFF"/>
              </a:highlight>
              <a:latin typeface="Malgun Gothic"/>
              <a:ea typeface="Malgun Gothic"/>
              <a:cs typeface="Arial"/>
            </a:endParaRPr>
          </a:p>
          <a:p>
            <a:pPr marL="628650" lvl="2" indent="-171450" algn="l">
              <a:lnSpc>
                <a:spcPct val="150000"/>
              </a:lnSpc>
              <a:buFont typeface="Wingdings"/>
              <a:buChar char="§"/>
            </a:pPr>
            <a:r>
              <a:rPr lang="en-US" altLang="ko-KR" sz="12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 </a:t>
            </a:r>
            <a:r>
              <a:rPr lang="en-US" altLang="ko-KR" sz="1200" err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카메라</a:t>
            </a:r>
            <a:r>
              <a:rPr lang="en-US" altLang="ko-KR" sz="12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 </a:t>
            </a:r>
            <a:r>
              <a:rPr lang="en-US" altLang="ko-KR" sz="1200" err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위치</a:t>
            </a:r>
            <a:r>
              <a:rPr lang="en-US" altLang="ko-KR" sz="12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 및 </a:t>
            </a:r>
            <a:r>
              <a:rPr lang="en-US" altLang="ko-KR" sz="1200" b="1" err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초점</a:t>
            </a:r>
            <a:r>
              <a:rPr lang="en-US" altLang="ko-KR" sz="1200" b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 </a:t>
            </a:r>
            <a:r>
              <a:rPr lang="en-US" altLang="ko-KR" sz="1200" b="1" err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변화</a:t>
            </a:r>
            <a:r>
              <a:rPr lang="en-US" altLang="ko-KR" sz="1200" err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에</a:t>
            </a:r>
            <a:r>
              <a:rPr lang="en-US" altLang="ko-KR" sz="12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 </a:t>
            </a:r>
            <a:r>
              <a:rPr lang="en-US" altLang="ko-KR" sz="1200" err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따른</a:t>
            </a:r>
            <a:r>
              <a:rPr lang="en-US" altLang="ko-KR" sz="12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 </a:t>
            </a:r>
            <a:r>
              <a:rPr lang="en-US" altLang="ko-KR" sz="1200" err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분류</a:t>
            </a:r>
            <a:r>
              <a:rPr lang="en-US" altLang="ko-KR" sz="12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 </a:t>
            </a:r>
            <a:r>
              <a:rPr lang="en-US" altLang="ko-KR" sz="1200" b="1" err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정확도</a:t>
            </a:r>
            <a:r>
              <a:rPr lang="en-US" altLang="ko-KR" sz="1200" b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 </a:t>
            </a:r>
            <a:r>
              <a:rPr lang="en-US" altLang="ko-KR" sz="1200" b="1" err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저하</a:t>
            </a:r>
            <a:endParaRPr lang="en-US" altLang="ko-KR" sz="1200" b="1">
              <a:solidFill>
                <a:srgbClr val="000000"/>
              </a:solidFill>
              <a:highlight>
                <a:srgbClr val="FFFFFF"/>
              </a:highlight>
              <a:latin typeface="Malgun Gothic"/>
              <a:ea typeface="Malgun Gothic"/>
              <a:cs typeface="Arial"/>
            </a:endParaRPr>
          </a:p>
          <a:p>
            <a:pPr marL="457200" lvl="2" algn="l">
              <a:lnSpc>
                <a:spcPct val="150000"/>
              </a:lnSpc>
            </a:pPr>
            <a:r>
              <a:rPr lang="en-US" altLang="ko-KR" sz="12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    (</a:t>
            </a:r>
            <a:r>
              <a:rPr lang="en-US" altLang="ko-KR" sz="1200" err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환경에</a:t>
            </a:r>
            <a:r>
              <a:rPr lang="en-US" altLang="ko-KR" sz="12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 </a:t>
            </a:r>
            <a:r>
              <a:rPr lang="en-US" altLang="ko-KR" sz="1200" err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따른</a:t>
            </a:r>
            <a:r>
              <a:rPr lang="en-US" altLang="ko-KR" sz="12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 </a:t>
            </a:r>
            <a:r>
              <a:rPr lang="ko-KR" altLang="en-US" sz="12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모델</a:t>
            </a:r>
            <a:r>
              <a:rPr lang="en-US" altLang="ko-KR" sz="12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 </a:t>
            </a:r>
            <a:r>
              <a:rPr lang="en-US" altLang="ko-KR" sz="1200" b="1" err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드리프트</a:t>
            </a:r>
            <a:r>
              <a:rPr lang="en-US" altLang="ko-KR" sz="12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 </a:t>
            </a:r>
            <a:r>
              <a:rPr lang="en-US" altLang="ko-KR" sz="1200" err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현상</a:t>
            </a:r>
            <a:r>
              <a:rPr lang="en-US" altLang="ko-KR" sz="12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)</a:t>
            </a:r>
            <a:endParaRPr lang="en-US">
              <a:cs typeface="Arial" pitchFamily="34" charset="0"/>
            </a:endParaRPr>
          </a:p>
          <a:p>
            <a:pPr marL="628650" lvl="2" indent="-171450" algn="l">
              <a:lnSpc>
                <a:spcPct val="150000"/>
              </a:lnSpc>
              <a:buFont typeface="Wingdings"/>
              <a:buChar char="§"/>
            </a:pPr>
            <a:r>
              <a:rPr lang="en-US" altLang="ko-KR" sz="12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 </a:t>
            </a:r>
            <a:r>
              <a:rPr lang="en-US" altLang="ko-KR" sz="1200" b="1" err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미세한</a:t>
            </a:r>
            <a:r>
              <a:rPr lang="en-US" altLang="ko-KR" sz="1200" b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 </a:t>
            </a:r>
            <a:r>
              <a:rPr lang="en-US" altLang="ko-KR" sz="1200" b="1" err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형태</a:t>
            </a:r>
            <a:r>
              <a:rPr lang="en-US" altLang="ko-KR" sz="12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 </a:t>
            </a:r>
            <a:r>
              <a:rPr lang="en-US" altLang="ko-KR" sz="1200" err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차이를</a:t>
            </a:r>
            <a:r>
              <a:rPr lang="en-US" altLang="ko-KR" sz="12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 </a:t>
            </a:r>
            <a:r>
              <a:rPr lang="en-US" altLang="ko-KR" sz="1200" err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분류하는</a:t>
            </a:r>
            <a:r>
              <a:rPr lang="en-US" altLang="ko-KR" sz="12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 </a:t>
            </a:r>
            <a:r>
              <a:rPr lang="en-US" altLang="ko-KR" sz="1200" err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민감도</a:t>
            </a:r>
            <a:r>
              <a:rPr lang="en-US" altLang="ko-KR" sz="12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 </a:t>
            </a:r>
            <a:r>
              <a:rPr lang="en-US" altLang="ko-KR" sz="1200" err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부족</a:t>
            </a:r>
            <a:endParaRPr lang="en-US" altLang="ko-KR" sz="1200">
              <a:solidFill>
                <a:srgbClr val="000000"/>
              </a:solidFill>
              <a:highlight>
                <a:srgbClr val="FFFFFF"/>
              </a:highlight>
              <a:latin typeface="Malgun Gothic"/>
              <a:ea typeface="Malgun Gothic"/>
              <a:cs typeface="Arial"/>
            </a:endParaRPr>
          </a:p>
          <a:p>
            <a:pPr marL="457200" lvl="2" algn="l">
              <a:lnSpc>
                <a:spcPct val="150000"/>
              </a:lnSpc>
            </a:pPr>
            <a:r>
              <a:rPr lang="en-US" altLang="ko-KR" sz="12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     (</a:t>
            </a:r>
            <a:r>
              <a:rPr lang="en-US" altLang="ko-KR" sz="1200" err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나사</a:t>
            </a:r>
            <a:r>
              <a:rPr lang="en-US" altLang="ko-KR" sz="12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 </a:t>
            </a:r>
            <a:r>
              <a:rPr lang="en-US" altLang="ko-KR" sz="1200" err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각도</a:t>
            </a:r>
            <a:r>
              <a:rPr lang="en-US" altLang="ko-KR" sz="12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 </a:t>
            </a:r>
            <a:r>
              <a:rPr lang="ko-KR" altLang="en-US" sz="12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분류 부분에서</a:t>
            </a:r>
            <a:r>
              <a:rPr lang="en-US" altLang="ko-KR" sz="12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 </a:t>
            </a:r>
            <a:r>
              <a:rPr lang="en-US" altLang="ko-KR" sz="1200" err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인식률이</a:t>
            </a:r>
            <a:r>
              <a:rPr lang="en-US" altLang="ko-KR" sz="12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 </a:t>
            </a:r>
            <a:r>
              <a:rPr lang="en-US" altLang="ko-KR" sz="1200" err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낮아짐</a:t>
            </a:r>
            <a:r>
              <a:rPr lang="en-US" altLang="ko-KR" sz="12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)</a:t>
            </a:r>
          </a:p>
          <a:p>
            <a:pPr marL="628650" lvl="2" indent="-171450" algn="l">
              <a:lnSpc>
                <a:spcPct val="150000"/>
              </a:lnSpc>
              <a:buFont typeface="Wingdings"/>
              <a:buChar char="§"/>
            </a:pPr>
            <a:r>
              <a:rPr lang="en-US" altLang="ko-KR" sz="12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 </a:t>
            </a:r>
            <a:r>
              <a:rPr lang="en-US" altLang="ko-KR" sz="1200" b="1" err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단일</a:t>
            </a:r>
            <a:r>
              <a:rPr lang="en-US" altLang="ko-KR" sz="1200" b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 </a:t>
            </a:r>
            <a:r>
              <a:rPr lang="en-US" altLang="ko-KR" sz="1200" b="1" err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모델</a:t>
            </a:r>
            <a:r>
              <a:rPr lang="en-US" altLang="ko-KR" sz="12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 </a:t>
            </a:r>
            <a:r>
              <a:rPr lang="en-US" altLang="ko-KR" sz="1200" err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구조의</a:t>
            </a:r>
            <a:r>
              <a:rPr lang="en-US" altLang="ko-KR" sz="12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 </a:t>
            </a:r>
            <a:r>
              <a:rPr lang="en-US" altLang="ko-KR" sz="1200" err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대응력</a:t>
            </a:r>
            <a:r>
              <a:rPr lang="en-US" altLang="ko-KR" sz="12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 </a:t>
            </a:r>
            <a:r>
              <a:rPr lang="en-US" altLang="ko-KR" sz="1200" err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부족</a:t>
            </a:r>
            <a:endParaRPr lang="en-US" altLang="ko-KR" sz="1200">
              <a:solidFill>
                <a:srgbClr val="000000"/>
              </a:solidFill>
              <a:highlight>
                <a:srgbClr val="FFFFFF"/>
              </a:highlight>
              <a:latin typeface="Malgun Gothic"/>
              <a:ea typeface="Malgun Gothic"/>
              <a:cs typeface="Arial"/>
            </a:endParaRPr>
          </a:p>
          <a:p>
            <a:pPr algn="l">
              <a:lnSpc>
                <a:spcPct val="150000"/>
              </a:lnSpc>
            </a:pPr>
            <a:endParaRPr lang="en-US" altLang="ko-KR" sz="1200">
              <a:solidFill>
                <a:srgbClr val="000000"/>
              </a:solidFill>
              <a:highlight>
                <a:srgbClr val="FFFFFF"/>
              </a:highlight>
              <a:latin typeface="Malgun Gothic"/>
              <a:ea typeface="Malgun Gothic"/>
              <a:cs typeface="Arial"/>
            </a:endParaRPr>
          </a:p>
          <a:p>
            <a:pPr algn="l">
              <a:lnSpc>
                <a:spcPct val="150000"/>
              </a:lnSpc>
            </a:pPr>
            <a:endParaRPr lang="en-US" altLang="ko-KR" sz="1200">
              <a:solidFill>
                <a:srgbClr val="000000"/>
              </a:solidFill>
              <a:highlight>
                <a:srgbClr val="FFFFFF"/>
              </a:highlight>
              <a:latin typeface="Malgun Gothic"/>
              <a:ea typeface="Malgun Gothic"/>
              <a:cs typeface="Arial"/>
            </a:endParaRPr>
          </a:p>
          <a:p>
            <a:pPr algn="l">
              <a:lnSpc>
                <a:spcPct val="150000"/>
              </a:lnSpc>
            </a:pPr>
            <a:r>
              <a:rPr lang="ko-KR" altLang="en-US" sz="14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3) 주요 </a:t>
            </a:r>
            <a:r>
              <a:rPr lang="ko-KR" altLang="en-US" sz="1400" err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기여점</a:t>
            </a:r>
            <a:endParaRPr lang="ko-KR" altLang="en-US" sz="1400">
              <a:solidFill>
                <a:srgbClr val="000000"/>
              </a:solidFill>
              <a:highlight>
                <a:srgbClr val="FFFFFF"/>
              </a:highlight>
              <a:latin typeface="Malgun Gothic"/>
              <a:ea typeface="Malgun Gothic"/>
              <a:cs typeface="Arial"/>
            </a:endParaRPr>
          </a:p>
          <a:p>
            <a:pPr marL="628650" lvl="1" indent="-171450" algn="l">
              <a:lnSpc>
                <a:spcPct val="150000"/>
              </a:lnSpc>
              <a:buFont typeface="Wingdings"/>
              <a:buChar char="§"/>
            </a:pPr>
            <a:r>
              <a:rPr lang="ko-KR" altLang="en-US" sz="12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모델 </a:t>
            </a:r>
            <a:r>
              <a:rPr lang="ko-KR" altLang="en-US" sz="1200" b="1" err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드리프트</a:t>
            </a:r>
            <a:r>
              <a:rPr lang="ko-KR" altLang="en-US" sz="12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 상황을 반영한 실험 설계 및 정량적 분석 수행</a:t>
            </a:r>
          </a:p>
          <a:p>
            <a:pPr marL="628650" lvl="1" indent="-171450" algn="l">
              <a:lnSpc>
                <a:spcPct val="150000"/>
              </a:lnSpc>
              <a:buFont typeface="Wingdings"/>
              <a:buChar char="§"/>
            </a:pPr>
            <a:r>
              <a:rPr lang="ko-KR" altLang="en-US" sz="1200" b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세밀한 분류 강화</a:t>
            </a:r>
            <a:r>
              <a:rPr lang="ko-KR" altLang="en-US" sz="12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를 위한 </a:t>
            </a:r>
            <a:r>
              <a:rPr lang="en-US" altLang="ko-KR" sz="1200">
                <a:solidFill>
                  <a:schemeClr val="tx1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Inception-</a:t>
            </a:r>
            <a:r>
              <a:rPr lang="en-US" altLang="ko-KR" sz="1200" err="1">
                <a:solidFill>
                  <a:schemeClr val="tx1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ResNet</a:t>
            </a:r>
            <a:r>
              <a:rPr lang="en-US" altLang="ko-KR" sz="1200">
                <a:solidFill>
                  <a:schemeClr val="tx1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 </a:t>
            </a:r>
            <a:r>
              <a:rPr lang="ko-KR" altLang="en-US" sz="1200">
                <a:solidFill>
                  <a:schemeClr val="tx1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기반 모델 적용 및 구성 최적화</a:t>
            </a:r>
            <a:endParaRPr lang="en-US" altLang="ko-KR" sz="1200">
              <a:solidFill>
                <a:schemeClr val="tx1"/>
              </a:solidFill>
              <a:highlight>
                <a:srgbClr val="FFFFFF"/>
              </a:highlight>
              <a:latin typeface="Arial"/>
              <a:ea typeface="맑은 고딕"/>
              <a:cs typeface="Arial"/>
            </a:endParaRPr>
          </a:p>
          <a:p>
            <a:pPr marL="628650" lvl="1" indent="-171450" algn="l">
              <a:lnSpc>
                <a:spcPct val="150000"/>
              </a:lnSpc>
              <a:buFont typeface="Wingdings"/>
              <a:buChar char="§"/>
            </a:pPr>
            <a:r>
              <a:rPr lang="ko-KR" altLang="en-US" sz="1200" b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듀얼 모델 프로세스</a:t>
            </a:r>
            <a:r>
              <a:rPr lang="ko-KR" altLang="en-US" sz="12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 기반 2단계 분류 시스템 제안 및 적용</a:t>
            </a:r>
            <a:endParaRPr lang="ko-KR">
              <a:ea typeface="맑은 고딕"/>
              <a:cs typeface="Arial" pitchFamily="34" charset="0"/>
            </a:endParaRPr>
          </a:p>
        </p:txBody>
      </p:sp>
      <p:pic>
        <p:nvPicPr>
          <p:cNvPr id="4" name="그림 3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3FEC8B4-58F0-CA73-F10A-F832B33CB2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4749" y="3008154"/>
            <a:ext cx="1737401" cy="197594"/>
          </a:xfrm>
          <a:prstGeom prst="rect">
            <a:avLst/>
          </a:prstGeom>
        </p:spPr>
      </p:pic>
      <p:pic>
        <p:nvPicPr>
          <p:cNvPr id="8" name="그림 7" descr="원, 자동차 부품, 흑백, 바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37635DC-B149-6F2B-0B11-FDED4EDCC6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7167" y="1735229"/>
            <a:ext cx="1429967" cy="110895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26F7102-719F-7AA3-160C-37B14DB308D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7995" y="1735229"/>
            <a:ext cx="1429968" cy="1108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157157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CD47B-444D-EC80-7F55-64A057840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B8FE2521-1511-BE8B-7D1E-2CC84840EC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12" y="1088974"/>
            <a:ext cx="4060579" cy="330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 marL="241300" indent="-241300">
              <a:lnSpc>
                <a:spcPct val="130000"/>
              </a:lnSpc>
              <a:spcBef>
                <a:spcPts val="600"/>
              </a:spcBef>
            </a:pPr>
            <a:r>
              <a:rPr lang="ko-KR" altLang="en-US" sz="1800" kern="0">
                <a:solidFill>
                  <a:schemeClr val="accent1">
                    <a:lumMod val="75000"/>
                  </a:schemeClr>
                </a:solidFill>
                <a:latin typeface="Corbel"/>
                <a:ea typeface="맑은 고딕"/>
              </a:rPr>
              <a:t>방법론 개요</a:t>
            </a:r>
            <a:endParaRPr lang="en-US" altLang="ko-KR" sz="1800" kern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A449515-D6E4-3AE9-CF37-C16DCC1CE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방법 및 구현 </a:t>
            </a:r>
            <a:r>
              <a:rPr lang="en-US" altLang="ko-KR"/>
              <a:t>(Methodology &amp; Implementation)</a:t>
            </a:r>
            <a:endParaRPr lang="ko-KR" altLang="en-US"/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C4D946F7-6D7B-C6EA-9770-E5EC06B664EB}"/>
              </a:ext>
            </a:extLst>
          </p:cNvPr>
          <p:cNvGrpSpPr/>
          <p:nvPr/>
        </p:nvGrpSpPr>
        <p:grpSpPr>
          <a:xfrm>
            <a:off x="1359358" y="4430681"/>
            <a:ext cx="6422777" cy="1403141"/>
            <a:chOff x="1098340" y="2927455"/>
            <a:chExt cx="6992739" cy="1470717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8981C41C-7864-9316-D299-FF4556708E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43031" y="2949068"/>
              <a:ext cx="1534000" cy="1150501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42D799B9-AE89-EFBD-9064-5E79687C1D7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57079" y="2939340"/>
              <a:ext cx="1534000" cy="1150501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619C7FFA-0181-7812-5CFE-6686242879D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8340" y="2943257"/>
              <a:ext cx="1534000" cy="1150501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E2A8ABD6-029E-EA53-821D-0B2C02391BE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30413" y="2927455"/>
              <a:ext cx="1534000" cy="1150501"/>
            </a:xfrm>
            <a:prstGeom prst="rect">
              <a:avLst/>
            </a:prstGeom>
          </p:spPr>
        </p:pic>
        <p:sp>
          <p:nvSpPr>
            <p:cNvPr id="16" name="TextBox 7">
              <a:extLst>
                <a:ext uri="{FF2B5EF4-FFF2-40B4-BE49-F238E27FC236}">
                  <a16:creationId xmlns:a16="http://schemas.microsoft.com/office/drawing/2014/main" id="{70B0CF27-1D91-5C4F-8D33-43324A6BFB83}"/>
                </a:ext>
              </a:extLst>
            </p:cNvPr>
            <p:cNvSpPr txBox="1"/>
            <p:nvPr/>
          </p:nvSpPr>
          <p:spPr>
            <a:xfrm>
              <a:off x="1383701" y="4020927"/>
              <a:ext cx="971947" cy="377245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C0C0"/>
                  </a:solidFill>
                  <a:latin typeface="Arial" pitchFamily="34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C0C0"/>
                  </a:solidFill>
                  <a:latin typeface="Arial" pitchFamily="34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C0C0"/>
                  </a:solidFill>
                  <a:latin typeface="Arial" pitchFamily="34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C0C0"/>
                  </a:solidFill>
                  <a:latin typeface="Arial" pitchFamily="34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C0C0"/>
                  </a:solidFill>
                  <a:latin typeface="Arial" pitchFamily="34" charset="0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ern="1200">
                  <a:solidFill>
                    <a:srgbClr val="00C0C0"/>
                  </a:solidFill>
                  <a:latin typeface="Arial" pitchFamily="34" charset="0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ern="1200">
                  <a:solidFill>
                    <a:srgbClr val="00C0C0"/>
                  </a:solidFill>
                  <a:latin typeface="Arial" pitchFamily="34" charset="0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ern="1200">
                  <a:solidFill>
                    <a:srgbClr val="00C0C0"/>
                  </a:solidFill>
                  <a:latin typeface="Arial" pitchFamily="34" charset="0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ern="1200">
                  <a:solidFill>
                    <a:srgbClr val="00C0C0"/>
                  </a:solidFill>
                  <a:latin typeface="Arial" pitchFamily="34" charset="0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ko-KR" sz="900">
                  <a:solidFill>
                    <a:srgbClr val="000000"/>
                  </a:solidFill>
                  <a:latin typeface="+mj-ea"/>
                  <a:cs typeface="Arial"/>
                </a:rPr>
                <a:t>27</a:t>
              </a:r>
              <a:r>
                <a:rPr lang="ko-KR" altLang="en-US" sz="900">
                  <a:solidFill>
                    <a:srgbClr val="000000"/>
                  </a:solidFill>
                  <a:latin typeface="+mj-ea"/>
                  <a:cs typeface="Arial"/>
                </a:rPr>
                <a:t>산 </a:t>
              </a:r>
              <a:r>
                <a:rPr lang="en-US" altLang="ko-KR" sz="900">
                  <a:solidFill>
                    <a:srgbClr val="000000"/>
                  </a:solidFill>
                  <a:latin typeface="+mj-ea"/>
                  <a:cs typeface="Arial"/>
                </a:rPr>
                <a:t>30</a:t>
              </a:r>
              <a:r>
                <a:rPr lang="ko-KR" altLang="en-US" sz="900">
                  <a:solidFill>
                    <a:srgbClr val="000000"/>
                  </a:solidFill>
                  <a:latin typeface="+mj-ea"/>
                  <a:cs typeface="Arial"/>
                </a:rPr>
                <a:t>도</a:t>
              </a:r>
              <a:endParaRPr lang="en-US" altLang="ko-KR" sz="900">
                <a:solidFill>
                  <a:srgbClr val="000000"/>
                </a:solidFill>
                <a:latin typeface="+mj-ea"/>
                <a:cs typeface="Arial"/>
              </a:endParaRPr>
            </a:p>
          </p:txBody>
        </p:sp>
        <p:sp>
          <p:nvSpPr>
            <p:cNvPr id="19" name="TextBox 7">
              <a:extLst>
                <a:ext uri="{FF2B5EF4-FFF2-40B4-BE49-F238E27FC236}">
                  <a16:creationId xmlns:a16="http://schemas.microsoft.com/office/drawing/2014/main" id="{07228762-E821-F90B-0FAD-1BB606806EEE}"/>
                </a:ext>
              </a:extLst>
            </p:cNvPr>
            <p:cNvSpPr txBox="1"/>
            <p:nvPr/>
          </p:nvSpPr>
          <p:spPr>
            <a:xfrm>
              <a:off x="3211624" y="4001469"/>
              <a:ext cx="971947" cy="377245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C0C0"/>
                  </a:solidFill>
                  <a:latin typeface="Arial" pitchFamily="34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C0C0"/>
                  </a:solidFill>
                  <a:latin typeface="Arial" pitchFamily="34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C0C0"/>
                  </a:solidFill>
                  <a:latin typeface="Arial" pitchFamily="34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C0C0"/>
                  </a:solidFill>
                  <a:latin typeface="Arial" pitchFamily="34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C0C0"/>
                  </a:solidFill>
                  <a:latin typeface="Arial" pitchFamily="34" charset="0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ern="1200">
                  <a:solidFill>
                    <a:srgbClr val="00C0C0"/>
                  </a:solidFill>
                  <a:latin typeface="Arial" pitchFamily="34" charset="0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ern="1200">
                  <a:solidFill>
                    <a:srgbClr val="00C0C0"/>
                  </a:solidFill>
                  <a:latin typeface="Arial" pitchFamily="34" charset="0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ern="1200">
                  <a:solidFill>
                    <a:srgbClr val="00C0C0"/>
                  </a:solidFill>
                  <a:latin typeface="Arial" pitchFamily="34" charset="0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ern="1200">
                  <a:solidFill>
                    <a:srgbClr val="00C0C0"/>
                  </a:solidFill>
                  <a:latin typeface="Arial" pitchFamily="34" charset="0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ko-KR" sz="900">
                  <a:solidFill>
                    <a:srgbClr val="000000"/>
                  </a:solidFill>
                  <a:latin typeface="+mj-ea"/>
                  <a:cs typeface="Arial"/>
                </a:rPr>
                <a:t>27</a:t>
              </a:r>
              <a:r>
                <a:rPr lang="ko-KR" altLang="en-US" sz="900">
                  <a:solidFill>
                    <a:srgbClr val="000000"/>
                  </a:solidFill>
                  <a:latin typeface="+mj-ea"/>
                  <a:cs typeface="Arial"/>
                </a:rPr>
                <a:t>산 </a:t>
              </a:r>
              <a:r>
                <a:rPr lang="en-US" altLang="ko-KR" sz="900">
                  <a:solidFill>
                    <a:srgbClr val="000000"/>
                  </a:solidFill>
                  <a:latin typeface="+mj-ea"/>
                  <a:cs typeface="Arial"/>
                </a:rPr>
                <a:t>45</a:t>
              </a:r>
              <a:r>
                <a:rPr lang="ko-KR" altLang="en-US" sz="900">
                  <a:solidFill>
                    <a:srgbClr val="000000"/>
                  </a:solidFill>
                  <a:latin typeface="+mj-ea"/>
                  <a:cs typeface="Arial"/>
                </a:rPr>
                <a:t>도</a:t>
              </a:r>
              <a:endParaRPr lang="en-US" altLang="ko-KR" sz="900">
                <a:solidFill>
                  <a:srgbClr val="000000"/>
                </a:solidFill>
                <a:latin typeface="+mj-ea"/>
                <a:cs typeface="Arial"/>
              </a:endParaRPr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6304A31C-D00E-8B65-C18E-FE466E43EB7B}"/>
                </a:ext>
              </a:extLst>
            </p:cNvPr>
            <p:cNvSpPr txBox="1"/>
            <p:nvPr/>
          </p:nvSpPr>
          <p:spPr>
            <a:xfrm>
              <a:off x="5104984" y="4006379"/>
              <a:ext cx="890848" cy="375239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C0C0"/>
                  </a:solidFill>
                  <a:latin typeface="Arial" pitchFamily="34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C0C0"/>
                  </a:solidFill>
                  <a:latin typeface="Arial" pitchFamily="34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C0C0"/>
                  </a:solidFill>
                  <a:latin typeface="Arial" pitchFamily="34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C0C0"/>
                  </a:solidFill>
                  <a:latin typeface="Arial" pitchFamily="34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C0C0"/>
                  </a:solidFill>
                  <a:latin typeface="Arial" pitchFamily="34" charset="0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ern="1200">
                  <a:solidFill>
                    <a:srgbClr val="00C0C0"/>
                  </a:solidFill>
                  <a:latin typeface="Arial" pitchFamily="34" charset="0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ern="1200">
                  <a:solidFill>
                    <a:srgbClr val="00C0C0"/>
                  </a:solidFill>
                  <a:latin typeface="Arial" pitchFamily="34" charset="0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ern="1200">
                  <a:solidFill>
                    <a:srgbClr val="00C0C0"/>
                  </a:solidFill>
                  <a:latin typeface="Arial" pitchFamily="34" charset="0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ern="1200">
                  <a:solidFill>
                    <a:srgbClr val="00C0C0"/>
                  </a:solidFill>
                  <a:latin typeface="Arial" pitchFamily="34" charset="0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ko-KR" sz="900">
                  <a:solidFill>
                    <a:srgbClr val="000000"/>
                  </a:solidFill>
                  <a:latin typeface="+mj-ea"/>
                  <a:cs typeface="Arial"/>
                </a:rPr>
                <a:t>28</a:t>
              </a:r>
              <a:r>
                <a:rPr lang="ko-KR" altLang="en-US" sz="900">
                  <a:solidFill>
                    <a:srgbClr val="000000"/>
                  </a:solidFill>
                  <a:latin typeface="+mj-ea"/>
                  <a:cs typeface="Arial"/>
                </a:rPr>
                <a:t>산</a:t>
              </a:r>
              <a:endParaRPr lang="en-US" altLang="ko-KR" sz="900">
                <a:solidFill>
                  <a:srgbClr val="000000"/>
                </a:solidFill>
                <a:latin typeface="+mj-ea"/>
                <a:cs typeface="Arial"/>
              </a:endParaRPr>
            </a:p>
          </p:txBody>
        </p:sp>
        <p:sp>
          <p:nvSpPr>
            <p:cNvPr id="27" name="TextBox 7">
              <a:extLst>
                <a:ext uri="{FF2B5EF4-FFF2-40B4-BE49-F238E27FC236}">
                  <a16:creationId xmlns:a16="http://schemas.microsoft.com/office/drawing/2014/main" id="{EB626953-63A0-A722-61EC-E6242508F611}"/>
                </a:ext>
              </a:extLst>
            </p:cNvPr>
            <p:cNvSpPr txBox="1"/>
            <p:nvPr/>
          </p:nvSpPr>
          <p:spPr>
            <a:xfrm>
              <a:off x="6881508" y="4001467"/>
              <a:ext cx="900575" cy="375239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C0C0"/>
                  </a:solidFill>
                  <a:latin typeface="Arial" pitchFamily="34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C0C0"/>
                  </a:solidFill>
                  <a:latin typeface="Arial" pitchFamily="34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C0C0"/>
                  </a:solidFill>
                  <a:latin typeface="Arial" pitchFamily="34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C0C0"/>
                  </a:solidFill>
                  <a:latin typeface="Arial" pitchFamily="34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C0C0"/>
                  </a:solidFill>
                  <a:latin typeface="Arial" pitchFamily="34" charset="0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ern="1200">
                  <a:solidFill>
                    <a:srgbClr val="00C0C0"/>
                  </a:solidFill>
                  <a:latin typeface="Arial" pitchFamily="34" charset="0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ern="1200">
                  <a:solidFill>
                    <a:srgbClr val="00C0C0"/>
                  </a:solidFill>
                  <a:latin typeface="Arial" pitchFamily="34" charset="0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ern="1200">
                  <a:solidFill>
                    <a:srgbClr val="00C0C0"/>
                  </a:solidFill>
                  <a:latin typeface="Arial" pitchFamily="34" charset="0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ern="1200">
                  <a:solidFill>
                    <a:srgbClr val="00C0C0"/>
                  </a:solidFill>
                  <a:latin typeface="Arial" pitchFamily="34" charset="0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ko-KR" sz="900">
                  <a:solidFill>
                    <a:srgbClr val="000000"/>
                  </a:solidFill>
                  <a:latin typeface="+mj-ea"/>
                  <a:cs typeface="Arial"/>
                </a:rPr>
                <a:t>31</a:t>
              </a:r>
              <a:r>
                <a:rPr lang="ko-KR" altLang="en-US" sz="900">
                  <a:solidFill>
                    <a:srgbClr val="000000"/>
                  </a:solidFill>
                  <a:latin typeface="+mj-ea"/>
                  <a:cs typeface="Arial"/>
                </a:rPr>
                <a:t>산</a:t>
              </a:r>
              <a:endParaRPr lang="en-US" altLang="ko-KR" sz="900">
                <a:solidFill>
                  <a:srgbClr val="000000"/>
                </a:solidFill>
                <a:latin typeface="+mj-ea"/>
                <a:cs typeface="Arial"/>
              </a:endParaRP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2D4142D0-47CE-CC94-3F63-44120B7D5F0C}"/>
              </a:ext>
            </a:extLst>
          </p:cNvPr>
          <p:cNvSpPr txBox="1"/>
          <p:nvPr/>
        </p:nvSpPr>
        <p:spPr>
          <a:xfrm>
            <a:off x="499752" y="1528058"/>
            <a:ext cx="274320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 algn="l">
              <a:buFont typeface="Calibri"/>
              <a:buChar char="-"/>
            </a:pPr>
            <a:r>
              <a:rPr lang="ko-KR" altLang="en-US" sz="1400">
                <a:solidFill>
                  <a:schemeClr val="tx1"/>
                </a:solidFill>
                <a:latin typeface="맑은 고딕"/>
                <a:ea typeface="맑은 고딕"/>
              </a:rPr>
              <a:t>나사 공정 종류</a:t>
            </a:r>
            <a:endParaRPr lang="ko-KR" sz="1400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63C60197-FE16-FA2D-BCEF-D6F59FCE7F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8881" y="5833478"/>
            <a:ext cx="7444333" cy="3752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ko-KR" sz="1400">
                <a:solidFill>
                  <a:schemeClr val="tx1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자동차 부품</a:t>
            </a:r>
            <a:r>
              <a:rPr lang="ko-KR" altLang="en-US" sz="14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 </a:t>
            </a:r>
            <a:r>
              <a:rPr lang="ko-KR" sz="14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조립 </a:t>
            </a:r>
            <a:r>
              <a:rPr lang="ko-KR" altLang="en-US" sz="14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공정에서 생산되는 나사로 나사의</a:t>
            </a:r>
            <a:r>
              <a:rPr lang="ko-KR" sz="14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 산 </a:t>
            </a:r>
            <a:r>
              <a:rPr lang="ko-KR" altLang="en-US" sz="14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수와 각도에 따라 </a:t>
            </a:r>
            <a:r>
              <a:rPr lang="ko-KR" sz="14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4가지로 </a:t>
            </a:r>
            <a:r>
              <a:rPr lang="ko-KR" altLang="en-US" sz="14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분류 됨</a:t>
            </a:r>
            <a:endParaRPr lang="ko-KR" altLang="en-US" sz="1400">
              <a:solidFill>
                <a:srgbClr val="000000"/>
              </a:solidFill>
              <a:highlight>
                <a:srgbClr val="FFFFFF"/>
              </a:highlight>
              <a:ea typeface="Malgun Gothic"/>
              <a:cs typeface="Arial"/>
            </a:endParaRPr>
          </a:p>
        </p:txBody>
      </p:sp>
      <p:pic>
        <p:nvPicPr>
          <p:cNvPr id="13" name="그림 12" descr="메탈웨어, 레버, 실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0501044-1091-CBDF-64EC-2594E59A86D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03389" y="1829094"/>
            <a:ext cx="4749995" cy="2497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002882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1F383-3D64-2293-657A-6683E8218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BFA01FC7-4D4D-F434-74E1-5DBDDE4FDE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12" y="1088974"/>
            <a:ext cx="4060579" cy="330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 marL="241300" indent="-241300">
              <a:lnSpc>
                <a:spcPct val="130000"/>
              </a:lnSpc>
              <a:spcBef>
                <a:spcPts val="600"/>
              </a:spcBef>
            </a:pPr>
            <a:r>
              <a:rPr lang="ko-KR" altLang="en-US" sz="1800" kern="0">
                <a:solidFill>
                  <a:schemeClr val="accent1">
                    <a:lumMod val="75000"/>
                  </a:schemeClr>
                </a:solidFill>
                <a:latin typeface="Corbel"/>
                <a:ea typeface="맑은 고딕"/>
              </a:rPr>
              <a:t>방법론 개요</a:t>
            </a:r>
            <a:endParaRPr lang="en-US" altLang="ko-KR" sz="1800" kern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E2D8760-1965-9A35-83F2-6E32331DE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방법 및 구현 </a:t>
            </a:r>
            <a:r>
              <a:rPr lang="en-US" altLang="ko-KR"/>
              <a:t>(Methodology &amp; Implementation)</a:t>
            </a:r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15DBBE-E7ED-3D3E-C3A6-1B7D26FBB50A}"/>
              </a:ext>
            </a:extLst>
          </p:cNvPr>
          <p:cNvSpPr txBox="1"/>
          <p:nvPr/>
        </p:nvSpPr>
        <p:spPr>
          <a:xfrm>
            <a:off x="521084" y="3832969"/>
            <a:ext cx="7495488" cy="61183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 algn="l">
              <a:lnSpc>
                <a:spcPct val="150000"/>
              </a:lnSpc>
              <a:buAutoNum type="arabicPeriod"/>
            </a:pPr>
            <a:r>
              <a:rPr lang="ko-KR" altLang="en-US" sz="1200">
                <a:solidFill>
                  <a:schemeClr val="tx1"/>
                </a:solidFill>
                <a:latin typeface="Arial"/>
                <a:ea typeface="맑은 고딕"/>
                <a:cs typeface="Arial"/>
              </a:rPr>
              <a:t>각도에 대해서만 세밀한 분류를 할 수 있도록 </a:t>
            </a:r>
            <a:r>
              <a:rPr lang="en-US" altLang="ko-KR" sz="1200">
                <a:solidFill>
                  <a:schemeClr val="tx1"/>
                </a:solidFill>
                <a:latin typeface="Arial"/>
                <a:ea typeface="맑은 고딕"/>
                <a:cs typeface="Arial"/>
              </a:rPr>
              <a:t>2</a:t>
            </a:r>
            <a:r>
              <a:rPr lang="ko-KR" altLang="en-US" sz="1200">
                <a:solidFill>
                  <a:schemeClr val="tx1"/>
                </a:solidFill>
                <a:latin typeface="Arial"/>
                <a:ea typeface="맑은 고딕"/>
                <a:cs typeface="Arial"/>
              </a:rPr>
              <a:t>중 분류 모델을 도입</a:t>
            </a:r>
            <a:endParaRPr lang="en-US" altLang="ko-KR" sz="1200">
              <a:solidFill>
                <a:schemeClr val="tx1"/>
              </a:solidFill>
              <a:latin typeface="Arial"/>
              <a:ea typeface="맑은 고딕"/>
              <a:cs typeface="Arial"/>
            </a:endParaRPr>
          </a:p>
          <a:p>
            <a:pPr marL="342900" indent="-342900" algn="l">
              <a:lnSpc>
                <a:spcPct val="150000"/>
              </a:lnSpc>
              <a:buAutoNum type="arabicPeriod"/>
            </a:pPr>
            <a:r>
              <a:rPr lang="ko-KR" altLang="en-US" sz="1200">
                <a:solidFill>
                  <a:schemeClr val="tx1"/>
                </a:solidFill>
                <a:latin typeface="Arial"/>
                <a:ea typeface="맑은 고딕"/>
                <a:cs typeface="Arial"/>
              </a:rPr>
              <a:t>하나의 모델에 의존하기 보다는 </a:t>
            </a:r>
            <a:r>
              <a:rPr lang="ko-KR" altLang="en-US" sz="1200" b="1">
                <a:solidFill>
                  <a:schemeClr val="tx1"/>
                </a:solidFill>
                <a:latin typeface="Arial"/>
                <a:ea typeface="맑은 고딕"/>
                <a:cs typeface="Arial"/>
              </a:rPr>
              <a:t>다른 데이터셋</a:t>
            </a:r>
            <a:r>
              <a:rPr lang="ko-KR" altLang="en-US" sz="1200">
                <a:solidFill>
                  <a:schemeClr val="tx1"/>
                </a:solidFill>
                <a:latin typeface="Arial"/>
                <a:ea typeface="맑은 고딕"/>
                <a:cs typeface="Arial"/>
              </a:rPr>
              <a:t>으로 학습한 두개의 모델로 듀얼 모델 프로세스 도입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3954F30-6E8E-F6F8-E2ED-C246138CFC75}"/>
              </a:ext>
            </a:extLst>
          </p:cNvPr>
          <p:cNvSpPr txBox="1"/>
          <p:nvPr/>
        </p:nvSpPr>
        <p:spPr>
          <a:xfrm>
            <a:off x="941279" y="4488077"/>
            <a:ext cx="8332698" cy="11658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/>
              <a:buChar char="•"/>
            </a:pPr>
            <a:r>
              <a:rPr lang="ko-KR" sz="1200">
                <a:solidFill>
                  <a:schemeClr val="tx1"/>
                </a:solidFill>
                <a:latin typeface="Arial"/>
                <a:cs typeface="Arial"/>
              </a:rPr>
              <a:t>듀얼 모델</a:t>
            </a:r>
            <a:r>
              <a:rPr lang="ko-KR" altLang="en-US" sz="1200">
                <a:solidFill>
                  <a:schemeClr val="tx1"/>
                </a:solidFill>
                <a:latin typeface="Arial"/>
                <a:ea typeface="맑은 고딕"/>
                <a:cs typeface="Arial"/>
              </a:rPr>
              <a:t> 프로세스</a:t>
            </a:r>
            <a:endParaRPr lang="en-US" altLang="ko-KR" sz="1200">
              <a:solidFill>
                <a:schemeClr val="tx1"/>
              </a:solidFill>
              <a:latin typeface="Arial"/>
              <a:ea typeface="맑은 고딕"/>
              <a:cs typeface="Arial"/>
            </a:endParaRPr>
          </a:p>
          <a:p>
            <a:pPr algn="l">
              <a:lnSpc>
                <a:spcPct val="150000"/>
              </a:lnSpc>
            </a:pPr>
            <a:r>
              <a:rPr lang="en-US" altLang="ko-KR" sz="1200">
                <a:solidFill>
                  <a:schemeClr val="tx1"/>
                </a:solidFill>
              </a:rPr>
              <a:t>    1. </a:t>
            </a:r>
            <a:r>
              <a:rPr lang="ko-KR" altLang="en-US" sz="1200">
                <a:solidFill>
                  <a:schemeClr val="tx1"/>
                </a:solidFill>
              </a:rPr>
              <a:t>먼저 정확도가 더 높은 모델을 첫번째 모델로 두고 분류를 진행</a:t>
            </a:r>
            <a:endParaRPr lang="en-US" altLang="ko-KR" sz="120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altLang="ko-KR" sz="1200">
                <a:solidFill>
                  <a:schemeClr val="tx1"/>
                </a:solidFill>
              </a:rPr>
              <a:t>    2. </a:t>
            </a:r>
            <a:r>
              <a:rPr lang="ko-KR" altLang="en-US" sz="1200">
                <a:solidFill>
                  <a:schemeClr val="tx1"/>
                </a:solidFill>
              </a:rPr>
              <a:t>첫번째 결과값에서 </a:t>
            </a:r>
            <a:r>
              <a:rPr lang="en-US" altLang="ko-KR" sz="1200" b="1">
                <a:solidFill>
                  <a:schemeClr val="tx1"/>
                </a:solidFill>
              </a:rPr>
              <a:t>NG</a:t>
            </a:r>
            <a:r>
              <a:rPr lang="ko-KR" altLang="en-US" sz="1200" b="1">
                <a:solidFill>
                  <a:schemeClr val="tx1"/>
                </a:solidFill>
              </a:rPr>
              <a:t>판정</a:t>
            </a:r>
            <a:r>
              <a:rPr lang="ko-KR" altLang="en-US" sz="1200">
                <a:solidFill>
                  <a:schemeClr val="tx1"/>
                </a:solidFill>
              </a:rPr>
              <a:t>을 했거나 </a:t>
            </a:r>
            <a:r>
              <a:rPr lang="en-US" altLang="ko-KR" sz="1200" b="1">
                <a:solidFill>
                  <a:schemeClr val="tx1"/>
                </a:solidFill>
              </a:rPr>
              <a:t>confidence</a:t>
            </a:r>
            <a:r>
              <a:rPr lang="ko-KR" altLang="en-US" sz="1200" b="1">
                <a:solidFill>
                  <a:schemeClr val="tx1"/>
                </a:solidFill>
              </a:rPr>
              <a:t>값이 </a:t>
            </a:r>
            <a:r>
              <a:rPr lang="en-US" altLang="ko-KR" sz="1200" b="1">
                <a:solidFill>
                  <a:schemeClr val="tx1"/>
                </a:solidFill>
              </a:rPr>
              <a:t>0.9 </a:t>
            </a:r>
            <a:r>
              <a:rPr lang="ko-KR" altLang="en-US" sz="1200" b="1">
                <a:solidFill>
                  <a:schemeClr val="tx1"/>
                </a:solidFill>
              </a:rPr>
              <a:t>이하</a:t>
            </a:r>
            <a:r>
              <a:rPr lang="ko-KR" altLang="en-US" sz="1200">
                <a:solidFill>
                  <a:schemeClr val="tx1"/>
                </a:solidFill>
              </a:rPr>
              <a:t>일 경우</a:t>
            </a:r>
            <a:r>
              <a:rPr lang="en-US" altLang="ko-KR" sz="1200">
                <a:solidFill>
                  <a:schemeClr val="tx1"/>
                </a:solidFill>
              </a:rPr>
              <a:t> </a:t>
            </a:r>
            <a:r>
              <a:rPr lang="ko-KR" altLang="en-US" sz="1200">
                <a:solidFill>
                  <a:schemeClr val="tx1"/>
                </a:solidFill>
              </a:rPr>
              <a:t>두번째 모델로 분류 진행</a:t>
            </a:r>
            <a:endParaRPr lang="en-US" altLang="ko-KR" sz="120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altLang="ko-KR" sz="1200">
                <a:solidFill>
                  <a:schemeClr val="tx1"/>
                </a:solidFill>
              </a:rPr>
              <a:t>    3. </a:t>
            </a:r>
            <a:r>
              <a:rPr lang="ko-KR" altLang="en-US" sz="1200">
                <a:solidFill>
                  <a:schemeClr val="tx1"/>
                </a:solidFill>
              </a:rPr>
              <a:t>두번째 모델 결과값을 최종 값으로 </a:t>
            </a:r>
            <a:r>
              <a:rPr lang="en-US" altLang="ko-KR" sz="1200">
                <a:solidFill>
                  <a:schemeClr val="tx1"/>
                </a:solidFill>
              </a:rPr>
              <a:t>return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39AF8D7F-B8F4-A39E-E86E-381377108EF1}"/>
              </a:ext>
            </a:extLst>
          </p:cNvPr>
          <p:cNvGrpSpPr/>
          <p:nvPr/>
        </p:nvGrpSpPr>
        <p:grpSpPr>
          <a:xfrm>
            <a:off x="526433" y="1868351"/>
            <a:ext cx="8460446" cy="1592360"/>
            <a:chOff x="619524" y="1431107"/>
            <a:chExt cx="7559962" cy="1275601"/>
          </a:xfrm>
        </p:grpSpPr>
        <p:cxnSp>
          <p:nvCxnSpPr>
            <p:cNvPr id="5" name="직선 화살표 연결선 4">
              <a:extLst>
                <a:ext uri="{FF2B5EF4-FFF2-40B4-BE49-F238E27FC236}">
                  <a16:creationId xmlns:a16="http://schemas.microsoft.com/office/drawing/2014/main" id="{E9C05664-EB19-17AB-FD9F-A35B1BBC60F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011234" y="1990648"/>
              <a:ext cx="2461098" cy="2918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pic>
          <p:nvPicPr>
            <p:cNvPr id="17" name="그림 16" descr="블랙, 어둠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9810A7D3-CE85-2A10-CC08-61E0CEF49C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9524" y="1585333"/>
              <a:ext cx="956553" cy="966281"/>
            </a:xfrm>
            <a:prstGeom prst="rect">
              <a:avLst/>
            </a:prstGeom>
          </p:spPr>
        </p:pic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1ED883A4-E632-501A-9F50-5950E2DB0846}"/>
                </a:ext>
              </a:extLst>
            </p:cNvPr>
            <p:cNvSpPr/>
            <p:nvPr/>
          </p:nvSpPr>
          <p:spPr bwMode="auto">
            <a:xfrm>
              <a:off x="1102664" y="1805827"/>
              <a:ext cx="379378" cy="359924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800" b="0" i="0" u="none" strike="noStrike" cap="none" normalizeH="0" baseline="0">
                <a:ln>
                  <a:noFill/>
                </a:ln>
                <a:solidFill>
                  <a:srgbClr val="00C0C0"/>
                </a:solidFill>
                <a:effectLst/>
                <a:latin typeface="Arial" charset="0"/>
              </a:endParaRPr>
            </a:p>
          </p:txBody>
        </p:sp>
        <p:pic>
          <p:nvPicPr>
            <p:cNvPr id="22" name="그림 21" descr="블랙, 어둠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B7C8DAA5-18BE-C54B-FD71-D49109BCFB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57269" y="1809070"/>
              <a:ext cx="372896" cy="265888"/>
            </a:xfrm>
            <a:prstGeom prst="rect">
              <a:avLst/>
            </a:prstGeom>
          </p:spPr>
        </p:pic>
        <p:pic>
          <p:nvPicPr>
            <p:cNvPr id="24" name="그림 23" descr="원, 흑백, 바퀴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ECC4318F-479F-5A96-CB53-6F2D063AD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91979" y="1769717"/>
              <a:ext cx="830678" cy="636749"/>
            </a:xfrm>
            <a:prstGeom prst="rect">
              <a:avLst/>
            </a:prstGeom>
          </p:spPr>
        </p:pic>
        <p:cxnSp>
          <p:nvCxnSpPr>
            <p:cNvPr id="26" name="직선 화살표 연결선 25">
              <a:extLst>
                <a:ext uri="{FF2B5EF4-FFF2-40B4-BE49-F238E27FC236}">
                  <a16:creationId xmlns:a16="http://schemas.microsoft.com/office/drawing/2014/main" id="{674EBE62-E379-3F1C-88DE-1AAE755D0BFD}"/>
                </a:ext>
              </a:extLst>
            </p:cNvPr>
            <p:cNvCxnSpPr/>
            <p:nvPr/>
          </p:nvCxnSpPr>
          <p:spPr bwMode="auto">
            <a:xfrm>
              <a:off x="2843917" y="2117112"/>
              <a:ext cx="350196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1BE7D882-41E7-41E2-61B3-30FF8440E63D}"/>
                </a:ext>
              </a:extLst>
            </p:cNvPr>
            <p:cNvSpPr/>
            <p:nvPr/>
          </p:nvSpPr>
          <p:spPr bwMode="auto">
            <a:xfrm>
              <a:off x="3239710" y="1462319"/>
              <a:ext cx="2830748" cy="175097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r>
                <a:rPr lang="ko-KR" altLang="en-US" sz="1000" err="1">
                  <a:solidFill>
                    <a:schemeClr val="tx1"/>
                  </a:solidFill>
                  <a:latin typeface="Arial"/>
                  <a:ea typeface="맑은 고딕"/>
                  <a:cs typeface="Arial"/>
                </a:rPr>
                <a:t>이종품</a:t>
              </a:r>
              <a:r>
                <a:rPr lang="ko-KR" altLang="en-US" sz="1000">
                  <a:solidFill>
                    <a:schemeClr val="tx1"/>
                  </a:solidFill>
                  <a:latin typeface="Arial"/>
                  <a:ea typeface="맑은 고딕"/>
                  <a:cs typeface="Arial"/>
                </a:rPr>
                <a:t> 분류 공정</a:t>
              </a:r>
              <a:endParaRPr lang="ko-KR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맑은 고딕"/>
                <a:cs typeface="Arial"/>
              </a:endParaRPr>
            </a:p>
          </p:txBody>
        </p:sp>
        <p:cxnSp>
          <p:nvCxnSpPr>
            <p:cNvPr id="30" name="직선 화살표 연결선 29">
              <a:extLst>
                <a:ext uri="{FF2B5EF4-FFF2-40B4-BE49-F238E27FC236}">
                  <a16:creationId xmlns:a16="http://schemas.microsoft.com/office/drawing/2014/main" id="{D5459444-881F-1155-5BFF-327C41E0407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579320" y="2117111"/>
              <a:ext cx="350196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FACAC0A8-1FAB-088A-B35C-7FE4A0B7E628}"/>
                </a:ext>
              </a:extLst>
            </p:cNvPr>
            <p:cNvSpPr/>
            <p:nvPr/>
          </p:nvSpPr>
          <p:spPr bwMode="auto">
            <a:xfrm>
              <a:off x="3243356" y="1738342"/>
              <a:ext cx="768485" cy="9144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r>
                <a:rPr lang="ko-KR" altLang="en-US" sz="1000">
                  <a:solidFill>
                    <a:srgbClr val="000000"/>
                  </a:solidFill>
                  <a:latin typeface="Arial"/>
                  <a:ea typeface="맑은 고딕"/>
                  <a:cs typeface="Arial"/>
                </a:rPr>
                <a:t>기존 4중 </a:t>
              </a:r>
              <a:endParaRPr lang="ko-KR" altLang="en-US" sz="1000">
                <a:solidFill>
                  <a:srgbClr val="000000"/>
                </a:solidFill>
                <a:latin typeface="Arial" charset="0"/>
                <a:ea typeface="맑은 고딕"/>
                <a:cs typeface="Arial"/>
              </a:endParaRPr>
            </a:p>
            <a:p>
              <a:r>
                <a:rPr lang="ko-KR" altLang="en-US" sz="1000">
                  <a:solidFill>
                    <a:srgbClr val="000000"/>
                  </a:solidFill>
                  <a:latin typeface="Arial"/>
                  <a:ea typeface="맑은 고딕"/>
                  <a:cs typeface="Arial"/>
                </a:rPr>
                <a:t>분류 모델</a:t>
              </a:r>
            </a:p>
            <a:p>
              <a:r>
                <a:rPr lang="ko-KR" altLang="en-US" sz="1000">
                  <a:solidFill>
                    <a:srgbClr val="000000"/>
                  </a:solidFill>
                  <a:latin typeface="Arial"/>
                  <a:ea typeface="맑은 고딕"/>
                  <a:cs typeface="Arial"/>
                </a:rPr>
                <a:t>(</a:t>
              </a:r>
              <a:r>
                <a:rPr lang="ko-KR" altLang="en-US" sz="1000" err="1">
                  <a:solidFill>
                    <a:srgbClr val="000000"/>
                  </a:solidFill>
                  <a:latin typeface="Arial"/>
                  <a:ea typeface="맑은 고딕"/>
                  <a:cs typeface="Arial"/>
                </a:rPr>
                <a:t>Inception</a:t>
              </a:r>
              <a:r>
                <a:rPr lang="ko-KR" altLang="en-US" sz="1000">
                  <a:solidFill>
                    <a:srgbClr val="000000"/>
                  </a:solidFill>
                  <a:latin typeface="Arial"/>
                  <a:ea typeface="맑은 고딕"/>
                  <a:cs typeface="Arial"/>
                </a:rPr>
                <a:t>)</a:t>
              </a:r>
              <a:endParaRPr lang="ko-KR" altLang="en-US" sz="1000">
                <a:solidFill>
                  <a:srgbClr val="000000"/>
                </a:solidFill>
                <a:latin typeface="Arial" charset="0"/>
                <a:ea typeface="맑은 고딕"/>
                <a:cs typeface="Arial"/>
              </a:endParaRPr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BF43D6F7-ABC1-D7D5-A28A-08437749FC52}"/>
                </a:ext>
              </a:extLst>
            </p:cNvPr>
            <p:cNvSpPr/>
            <p:nvPr/>
          </p:nvSpPr>
          <p:spPr bwMode="auto">
            <a:xfrm>
              <a:off x="4167484" y="1748068"/>
              <a:ext cx="875489" cy="41829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r>
                <a:rPr lang="ko-KR" altLang="en-US" sz="900">
                  <a:solidFill>
                    <a:srgbClr val="000000"/>
                  </a:solidFill>
                  <a:latin typeface="Arial"/>
                  <a:ea typeface="맑은 고딕"/>
                  <a:cs typeface="Arial"/>
                </a:rPr>
                <a:t>27산 각도 </a:t>
              </a:r>
              <a:endParaRPr lang="ko-KR" sz="900">
                <a:ea typeface="맑은 고딕" panose="020B0503020000020004" pitchFamily="34" charset="-127"/>
                <a:cs typeface="Arial" pitchFamily="34" charset="0"/>
              </a:endParaRPr>
            </a:p>
            <a:p>
              <a:r>
                <a:rPr lang="ko-KR" altLang="en-US" sz="900">
                  <a:solidFill>
                    <a:srgbClr val="000000"/>
                  </a:solidFill>
                  <a:latin typeface="Arial"/>
                  <a:ea typeface="맑은 고딕"/>
                  <a:cs typeface="Arial"/>
                </a:rPr>
                <a:t>분류 모델</a:t>
              </a:r>
              <a:endParaRPr lang="ko-KR" sz="900">
                <a:ea typeface="맑은 고딕"/>
                <a:cs typeface="Arial"/>
              </a:endParaRPr>
            </a:p>
            <a:p>
              <a:r>
                <a:rPr lang="ko-KR" altLang="en-US" sz="900">
                  <a:solidFill>
                    <a:srgbClr val="000000"/>
                  </a:solidFill>
                  <a:latin typeface="Arial"/>
                  <a:ea typeface="맑은 고딕"/>
                  <a:cs typeface="Arial"/>
                </a:rPr>
                <a:t>(</a:t>
              </a:r>
              <a:r>
                <a:rPr lang="ko-KR" altLang="en-US" sz="900" err="1">
                  <a:solidFill>
                    <a:srgbClr val="000000"/>
                  </a:solidFill>
                  <a:latin typeface="Arial"/>
                  <a:ea typeface="맑은 고딕"/>
                  <a:cs typeface="Arial"/>
                </a:rPr>
                <a:t>Inception_resnet</a:t>
              </a:r>
              <a:r>
                <a:rPr lang="ko-KR" altLang="en-US" sz="900">
                  <a:solidFill>
                    <a:srgbClr val="000000"/>
                  </a:solidFill>
                  <a:latin typeface="Arial"/>
                  <a:ea typeface="맑은 고딕"/>
                  <a:cs typeface="Arial"/>
                </a:rPr>
                <a:t>)</a:t>
              </a:r>
              <a:endParaRPr lang="ko-KR" sz="900">
                <a:ea typeface="맑은 고딕"/>
                <a:cs typeface="Arial"/>
              </a:endParaRP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2B6A0871-EC07-406B-4B6F-599606C00818}"/>
                </a:ext>
              </a:extLst>
            </p:cNvPr>
            <p:cNvSpPr/>
            <p:nvPr/>
          </p:nvSpPr>
          <p:spPr bwMode="auto">
            <a:xfrm>
              <a:off x="5179159" y="1748068"/>
              <a:ext cx="875489" cy="41829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r>
                <a:rPr lang="ko-KR" altLang="en-US" sz="900">
                  <a:solidFill>
                    <a:srgbClr val="000000"/>
                  </a:solidFill>
                  <a:latin typeface="Arial"/>
                  <a:ea typeface="맑은 고딕"/>
                  <a:cs typeface="Arial"/>
                </a:rPr>
                <a:t>27산 각도 </a:t>
              </a:r>
              <a:endParaRPr lang="ko-KR" sz="900">
                <a:ea typeface="맑은 고딕" panose="020B0503020000020004" pitchFamily="34" charset="-127"/>
                <a:cs typeface="Arial" pitchFamily="34" charset="0"/>
              </a:endParaRPr>
            </a:p>
            <a:p>
              <a:r>
                <a:rPr lang="ko-KR" altLang="en-US" sz="900">
                  <a:solidFill>
                    <a:srgbClr val="000000"/>
                  </a:solidFill>
                  <a:latin typeface="Arial"/>
                  <a:ea typeface="맑은 고딕"/>
                  <a:cs typeface="Arial"/>
                </a:rPr>
                <a:t>분류 모델</a:t>
              </a:r>
              <a:endParaRPr lang="ko-KR" sz="900">
                <a:ea typeface="맑은 고딕"/>
                <a:cs typeface="Arial"/>
              </a:endParaRPr>
            </a:p>
            <a:p>
              <a:r>
                <a:rPr lang="ko-KR" altLang="en-US" sz="900">
                  <a:solidFill>
                    <a:srgbClr val="000000"/>
                  </a:solidFill>
                  <a:latin typeface="Arial"/>
                  <a:ea typeface="맑은 고딕"/>
                  <a:cs typeface="Arial"/>
                </a:rPr>
                <a:t>(</a:t>
              </a:r>
              <a:r>
                <a:rPr lang="ko-KR" altLang="en-US" sz="900" err="1">
                  <a:solidFill>
                    <a:srgbClr val="000000"/>
                  </a:solidFill>
                  <a:latin typeface="Arial"/>
                  <a:ea typeface="맑은 고딕"/>
                  <a:cs typeface="Arial"/>
                </a:rPr>
                <a:t>Inception_resnet</a:t>
              </a:r>
              <a:r>
                <a:rPr lang="ko-KR" altLang="en-US" sz="900">
                  <a:solidFill>
                    <a:srgbClr val="000000"/>
                  </a:solidFill>
                  <a:latin typeface="Arial"/>
                  <a:ea typeface="맑은 고딕"/>
                  <a:cs typeface="Arial"/>
                </a:rPr>
                <a:t>)</a:t>
              </a:r>
              <a:endParaRPr lang="ko-KR" sz="900">
                <a:ea typeface="맑은 고딕"/>
                <a:cs typeface="Arial"/>
              </a:endParaRPr>
            </a:p>
          </p:txBody>
        </p:sp>
        <p:cxnSp>
          <p:nvCxnSpPr>
            <p:cNvPr id="38" name="직선 화살표 연결선 37">
              <a:extLst>
                <a:ext uri="{FF2B5EF4-FFF2-40B4-BE49-F238E27FC236}">
                  <a16:creationId xmlns:a16="http://schemas.microsoft.com/office/drawing/2014/main" id="{261F5AC9-29A0-6DDE-7384-7F7AF8D7E21C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011235" y="2477033"/>
              <a:ext cx="2461098" cy="1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89446ABE-1F62-B1C7-6DD6-71AFF3280A10}"/>
                </a:ext>
              </a:extLst>
            </p:cNvPr>
            <p:cNvSpPr txBox="1"/>
            <p:nvPr/>
          </p:nvSpPr>
          <p:spPr>
            <a:xfrm>
              <a:off x="6593877" y="1820216"/>
              <a:ext cx="1585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ko-KR" altLang="en-US" sz="1000">
                  <a:solidFill>
                    <a:srgbClr val="000000"/>
                  </a:solidFill>
                  <a:latin typeface="Arial"/>
                  <a:ea typeface="맑은 고딕"/>
                  <a:cs typeface="Arial"/>
                </a:rPr>
                <a:t>27산 공정일 때 </a:t>
              </a:r>
              <a:endParaRPr lang="ko-KR" altLang="en-US" sz="1000">
                <a:solidFill>
                  <a:srgbClr val="000000"/>
                </a:solidFill>
                <a:ea typeface="맑은 고딕" panose="020B0503020000020004" pitchFamily="34" charset="-127"/>
                <a:cs typeface="Arial" pitchFamily="34" charset="0"/>
              </a:endParaRPr>
            </a:p>
            <a:p>
              <a:pPr algn="l"/>
              <a:r>
                <a:rPr lang="ko-KR" altLang="en-US" sz="1000">
                  <a:solidFill>
                    <a:srgbClr val="000000"/>
                  </a:solidFill>
                  <a:latin typeface="Arial"/>
                  <a:ea typeface="맑은 고딕"/>
                  <a:cs typeface="Arial"/>
                </a:rPr>
                <a:t>최종 결과</a:t>
              </a:r>
              <a:endParaRPr lang="ko-KR" altLang="en-US" sz="1000">
                <a:solidFill>
                  <a:srgbClr val="000000"/>
                </a:solidFill>
                <a:ea typeface="맑은 고딕"/>
                <a:cs typeface="Arial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2373724-0B41-D410-B0F2-E7D90964F033}"/>
                </a:ext>
              </a:extLst>
            </p:cNvPr>
            <p:cNvSpPr txBox="1"/>
            <p:nvPr/>
          </p:nvSpPr>
          <p:spPr>
            <a:xfrm>
              <a:off x="6593876" y="2306598"/>
              <a:ext cx="1585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ko-KR" altLang="en-US" sz="1000">
                  <a:solidFill>
                    <a:srgbClr val="000000"/>
                  </a:solidFill>
                  <a:latin typeface="Arial"/>
                  <a:ea typeface="맑은 고딕"/>
                  <a:cs typeface="Arial"/>
                </a:rPr>
                <a:t>28산, 31산 공정일 때 </a:t>
              </a:r>
              <a:endParaRPr lang="ko-KR" altLang="en-US" sz="1000">
                <a:solidFill>
                  <a:srgbClr val="000000"/>
                </a:solidFill>
                <a:ea typeface="맑은 고딕" panose="020B0503020000020004" pitchFamily="34" charset="-127"/>
                <a:cs typeface="Arial" pitchFamily="34" charset="0"/>
              </a:endParaRPr>
            </a:p>
            <a:p>
              <a:pPr algn="l"/>
              <a:r>
                <a:rPr lang="ko-KR" altLang="en-US" sz="1000">
                  <a:solidFill>
                    <a:srgbClr val="000000"/>
                  </a:solidFill>
                  <a:latin typeface="Arial"/>
                  <a:ea typeface="맑은 고딕"/>
                  <a:cs typeface="Arial"/>
                </a:rPr>
                <a:t>최종 결과</a:t>
              </a:r>
              <a:endParaRPr lang="ko-KR" altLang="en-US" sz="1000">
                <a:solidFill>
                  <a:srgbClr val="000000"/>
                </a:solidFill>
                <a:ea typeface="맑은 고딕"/>
                <a:cs typeface="Arial"/>
              </a:endParaRPr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860D2321-3FB1-F989-1DB0-EF37CE46F3E1}"/>
                </a:ext>
              </a:extLst>
            </p:cNvPr>
            <p:cNvSpPr/>
            <p:nvPr/>
          </p:nvSpPr>
          <p:spPr bwMode="auto">
            <a:xfrm>
              <a:off x="4093311" y="1693349"/>
              <a:ext cx="3628416" cy="544750"/>
            </a:xfrm>
            <a:prstGeom prst="rect">
              <a:avLst/>
            </a:prstGeom>
            <a:noFill/>
            <a:ln w="28575" cap="flat" cmpd="sng" algn="ctr">
              <a:solidFill>
                <a:srgbClr val="00206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800" b="0" i="0" u="none" strike="noStrike" cap="none" normalizeH="0" baseline="0">
                <a:ln>
                  <a:noFill/>
                </a:ln>
                <a:solidFill>
                  <a:srgbClr val="00C0C0"/>
                </a:solidFill>
                <a:effectLst/>
                <a:latin typeface="Arial" charset="0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87FE116C-4562-E89C-DFFF-4601D7CC6357}"/>
                </a:ext>
              </a:extLst>
            </p:cNvPr>
            <p:cNvSpPr txBox="1"/>
            <p:nvPr/>
          </p:nvSpPr>
          <p:spPr>
            <a:xfrm>
              <a:off x="6477143" y="1431107"/>
              <a:ext cx="1420239" cy="24622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ko-KR" altLang="en-US" sz="1000">
                  <a:solidFill>
                    <a:srgbClr val="000000"/>
                  </a:solidFill>
                  <a:latin typeface="Arial"/>
                  <a:ea typeface="맑은 고딕"/>
                  <a:cs typeface="Arial"/>
                </a:rPr>
                <a:t>듀얼 모델 프로세스</a:t>
              </a:r>
              <a:endParaRPr lang="ko-KR" altLang="en-US" sz="1000">
                <a:solidFill>
                  <a:srgbClr val="000000"/>
                </a:solidFill>
                <a:ea typeface="맑은 고딕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75830296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EB048-E54E-57B5-DE33-518F6CCC2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B83A7700-1D74-E6BF-52C5-674753CCC5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12" y="1088974"/>
            <a:ext cx="4060579" cy="330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ko-KR" altLang="en-US" sz="1800" kern="0">
                <a:solidFill>
                  <a:schemeClr val="accent1">
                    <a:lumMod val="75000"/>
                  </a:schemeClr>
                </a:solidFill>
              </a:rPr>
              <a:t>세부 과정</a:t>
            </a:r>
            <a:endParaRPr lang="en-US" altLang="ko-KR" sz="1800" kern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023D046-E158-8AF5-6785-E7EABAB50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방법 및 구현 </a:t>
            </a:r>
            <a:r>
              <a:rPr lang="en-US" altLang="ko-KR"/>
              <a:t>(Methodology &amp; Implementation)</a:t>
            </a:r>
            <a:endParaRPr lang="ko-KR" altLang="en-US"/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57483B4C-FB57-4C45-26F1-5BF8749FA37B}"/>
              </a:ext>
            </a:extLst>
          </p:cNvPr>
          <p:cNvSpPr txBox="1"/>
          <p:nvPr/>
        </p:nvSpPr>
        <p:spPr>
          <a:xfrm>
            <a:off x="396765" y="1557424"/>
            <a:ext cx="8046844" cy="423105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ko-KR" altLang="en-US" sz="1200" b="1">
                <a:solidFill>
                  <a:schemeClr val="tx1"/>
                </a:solidFill>
                <a:latin typeface="맑은 고딕"/>
                <a:ea typeface="맑은 고딕"/>
                <a:cs typeface="Arial"/>
              </a:rPr>
              <a:t>모델 선정</a:t>
            </a:r>
            <a:endParaRPr lang="en-US" altLang="ko-KR" sz="1200" b="1">
              <a:solidFill>
                <a:schemeClr val="tx1"/>
              </a:solidFill>
              <a:latin typeface="맑은 고딕"/>
              <a:ea typeface="맑은 고딕"/>
              <a:cs typeface="Arial"/>
            </a:endParaRPr>
          </a:p>
          <a:p>
            <a:pPr algn="l">
              <a:lnSpc>
                <a:spcPct val="150000"/>
              </a:lnSpc>
            </a:pPr>
            <a:r>
              <a:rPr lang="en-US" altLang="ko-KR" sz="1200" b="1">
                <a:solidFill>
                  <a:schemeClr val="tx1"/>
                </a:solidFill>
                <a:latin typeface="맑은 고딕"/>
                <a:ea typeface="맑은 고딕"/>
                <a:cs typeface="Arial"/>
              </a:rPr>
              <a:t>    - </a:t>
            </a:r>
            <a:r>
              <a:rPr lang="ko-KR" altLang="en-US" sz="1200" b="1">
                <a:solidFill>
                  <a:schemeClr val="tx1"/>
                </a:solidFill>
                <a:latin typeface="맑은 고딕"/>
                <a:ea typeface="맑은 고딕"/>
                <a:cs typeface="Arial"/>
              </a:rPr>
              <a:t>모델</a:t>
            </a:r>
            <a:r>
              <a:rPr lang="en-US" altLang="ko-KR" sz="1200" b="1">
                <a:solidFill>
                  <a:schemeClr val="tx1"/>
                </a:solidFill>
                <a:latin typeface="맑은 고딕"/>
                <a:ea typeface="맑은 고딕"/>
                <a:cs typeface="Arial"/>
              </a:rPr>
              <a:t>: </a:t>
            </a:r>
            <a:r>
              <a:rPr lang="en-US" altLang="ko-KR" sz="1200" b="1">
                <a:solidFill>
                  <a:schemeClr val="tx1"/>
                </a:solidFill>
                <a:latin typeface="Arial"/>
                <a:ea typeface="맑은 고딕"/>
                <a:cs typeface="Arial"/>
              </a:rPr>
              <a:t>Inception </a:t>
            </a:r>
            <a:r>
              <a:rPr lang="en-US" altLang="ko-KR" sz="1200" b="1" err="1">
                <a:solidFill>
                  <a:schemeClr val="tx1"/>
                </a:solidFill>
                <a:latin typeface="Arial"/>
                <a:ea typeface="맑은 고딕"/>
                <a:cs typeface="Arial"/>
              </a:rPr>
              <a:t>ResNet</a:t>
            </a:r>
            <a:r>
              <a:rPr lang="en-US" altLang="ko-KR" sz="1200" b="1">
                <a:solidFill>
                  <a:schemeClr val="tx1"/>
                </a:solidFill>
                <a:latin typeface="Arial"/>
                <a:ea typeface="맑은 고딕"/>
                <a:cs typeface="Arial"/>
              </a:rPr>
              <a:t> v2</a:t>
            </a:r>
          </a:p>
          <a:p>
            <a:pPr algn="l">
              <a:lnSpc>
                <a:spcPct val="150000"/>
              </a:lnSpc>
            </a:pPr>
            <a:r>
              <a:rPr lang="en-US" altLang="ko-KR" sz="1200">
                <a:solidFill>
                  <a:schemeClr val="tx1"/>
                </a:solidFill>
                <a:latin typeface="Arial"/>
                <a:ea typeface="맑은 고딕"/>
                <a:cs typeface="Arial"/>
              </a:rPr>
              <a:t>  </a:t>
            </a:r>
          </a:p>
          <a:p>
            <a:pPr algn="l">
              <a:lnSpc>
                <a:spcPct val="150000"/>
              </a:lnSpc>
            </a:pPr>
            <a:r>
              <a:rPr lang="ko-KR" altLang="en-US" sz="1200" b="1">
                <a:solidFill>
                  <a:schemeClr val="tx1"/>
                </a:solidFill>
                <a:latin typeface="맑은 고딕"/>
                <a:ea typeface="맑은 고딕"/>
                <a:cs typeface="Arial"/>
              </a:rPr>
              <a:t>모델 선정 이유</a:t>
            </a:r>
            <a:endParaRPr lang="en-US" altLang="ko-KR" sz="1200" b="1">
              <a:solidFill>
                <a:schemeClr val="tx1"/>
              </a:solidFill>
              <a:latin typeface="맑은 고딕"/>
              <a:ea typeface="맑은 고딕"/>
              <a:cs typeface="Arial"/>
            </a:endParaRPr>
          </a:p>
          <a:p>
            <a:pPr marL="800100" lvl="1" indent="-342900" algn="l">
              <a:lnSpc>
                <a:spcPct val="150000"/>
              </a:lnSpc>
              <a:buAutoNum type="arabicPeriod"/>
            </a:pPr>
            <a:r>
              <a:rPr lang="en-US" altLang="ko-KR" sz="1200">
                <a:solidFill>
                  <a:schemeClr val="tx1"/>
                </a:solidFill>
                <a:latin typeface="Arial"/>
                <a:ea typeface="맑은 고딕"/>
                <a:cs typeface="Arial"/>
              </a:rPr>
              <a:t>Inception</a:t>
            </a:r>
            <a:r>
              <a:rPr lang="ko-KR" altLang="en-US" sz="1200">
                <a:solidFill>
                  <a:schemeClr val="tx1"/>
                </a:solidFill>
                <a:latin typeface="Arial"/>
                <a:ea typeface="맑은 고딕"/>
                <a:cs typeface="Arial"/>
              </a:rPr>
              <a:t>의 </a:t>
            </a:r>
            <a:r>
              <a:rPr lang="ko-KR" altLang="en-US" sz="1200" b="1">
                <a:solidFill>
                  <a:schemeClr val="tx1"/>
                </a:solidFill>
                <a:latin typeface="Arial"/>
                <a:ea typeface="맑은 고딕"/>
                <a:cs typeface="Arial"/>
              </a:rPr>
              <a:t>멀티 스케일</a:t>
            </a:r>
            <a:r>
              <a:rPr lang="ko-KR" altLang="en-US" sz="1200">
                <a:solidFill>
                  <a:schemeClr val="tx1"/>
                </a:solidFill>
                <a:latin typeface="Arial"/>
                <a:ea typeface="맑은 고딕"/>
                <a:cs typeface="Arial"/>
              </a:rPr>
              <a:t> 특징 추출 능력</a:t>
            </a:r>
            <a:endParaRPr lang="en-US" altLang="ko-KR" sz="1200">
              <a:solidFill>
                <a:schemeClr val="tx1"/>
              </a:solidFill>
              <a:latin typeface="Arial"/>
              <a:ea typeface="맑은 고딕"/>
              <a:cs typeface="Arial"/>
            </a:endParaRPr>
          </a:p>
          <a:p>
            <a:pPr lvl="2" algn="l">
              <a:lnSpc>
                <a:spcPct val="150000"/>
              </a:lnSpc>
            </a:pPr>
            <a:r>
              <a:rPr lang="en-US" altLang="ko-KR" sz="1200">
                <a:solidFill>
                  <a:schemeClr val="tx1"/>
                </a:solidFill>
                <a:latin typeface="Arial"/>
                <a:ea typeface="맑은 고딕"/>
                <a:cs typeface="Arial"/>
              </a:rPr>
              <a:t>- </a:t>
            </a:r>
            <a:r>
              <a:rPr lang="ko-KR" altLang="en-US" sz="1200">
                <a:solidFill>
                  <a:schemeClr val="tx1"/>
                </a:solidFill>
                <a:latin typeface="Arial"/>
                <a:ea typeface="맑은 고딕"/>
                <a:cs typeface="Arial"/>
              </a:rPr>
              <a:t>다양한 크기의 필터</a:t>
            </a:r>
            <a:r>
              <a:rPr lang="en-US" altLang="ko-KR" sz="1200">
                <a:solidFill>
                  <a:schemeClr val="tx1"/>
                </a:solidFill>
                <a:latin typeface="Arial"/>
                <a:ea typeface="맑은 고딕"/>
                <a:cs typeface="Arial"/>
              </a:rPr>
              <a:t>(1x1, 3x3, 5x5 </a:t>
            </a:r>
            <a:r>
              <a:rPr lang="ko-KR" altLang="en-US" sz="1200">
                <a:solidFill>
                  <a:schemeClr val="tx1"/>
                </a:solidFill>
                <a:latin typeface="Arial"/>
                <a:ea typeface="맑은 고딕"/>
                <a:cs typeface="Arial"/>
              </a:rPr>
              <a:t>등</a:t>
            </a:r>
            <a:r>
              <a:rPr lang="en-US" altLang="ko-KR" sz="1200">
                <a:solidFill>
                  <a:schemeClr val="tx1"/>
                </a:solidFill>
                <a:latin typeface="Arial"/>
                <a:ea typeface="맑은 고딕"/>
                <a:cs typeface="Arial"/>
              </a:rPr>
              <a:t>)</a:t>
            </a:r>
            <a:r>
              <a:rPr lang="ko-KR" altLang="en-US" sz="1200">
                <a:solidFill>
                  <a:schemeClr val="tx1"/>
                </a:solidFill>
                <a:latin typeface="Arial"/>
                <a:ea typeface="맑은 고딕"/>
                <a:cs typeface="Arial"/>
              </a:rPr>
              <a:t>를 병렬로 사용해 다양한 스케일의 특징을 동시에 잡아냄</a:t>
            </a:r>
            <a:r>
              <a:rPr lang="en-US" altLang="ko-KR" sz="1200">
                <a:solidFill>
                  <a:schemeClr val="tx1"/>
                </a:solidFill>
                <a:latin typeface="Arial"/>
                <a:ea typeface="맑은 고딕"/>
                <a:cs typeface="Arial"/>
              </a:rPr>
              <a:t>.</a:t>
            </a:r>
          </a:p>
          <a:p>
            <a:pPr marL="800100" lvl="1" indent="-342900" algn="l">
              <a:lnSpc>
                <a:spcPct val="150000"/>
              </a:lnSpc>
              <a:buAutoNum type="arabicPeriod"/>
            </a:pPr>
            <a:r>
              <a:rPr lang="en-US" altLang="ko-KR" sz="1200" err="1">
                <a:solidFill>
                  <a:schemeClr val="tx1"/>
                </a:solidFill>
                <a:latin typeface="Arial"/>
                <a:ea typeface="맑은 고딕"/>
                <a:cs typeface="Arial"/>
              </a:rPr>
              <a:t>ResNet</a:t>
            </a:r>
            <a:r>
              <a:rPr lang="ko-KR" altLang="en-US" sz="1200">
                <a:solidFill>
                  <a:schemeClr val="tx1"/>
                </a:solidFill>
                <a:latin typeface="Arial"/>
                <a:ea typeface="맑은 고딕"/>
                <a:cs typeface="Arial"/>
              </a:rPr>
              <a:t>의 </a:t>
            </a:r>
            <a:r>
              <a:rPr lang="ko-KR" altLang="en-US" sz="1200" b="1" err="1">
                <a:solidFill>
                  <a:schemeClr val="tx1"/>
                </a:solidFill>
                <a:latin typeface="Arial"/>
                <a:ea typeface="맑은 고딕"/>
                <a:cs typeface="Arial"/>
              </a:rPr>
              <a:t>잔차</a:t>
            </a:r>
            <a:r>
              <a:rPr lang="ko-KR" altLang="en-US" sz="1200" b="1">
                <a:solidFill>
                  <a:schemeClr val="tx1"/>
                </a:solidFill>
                <a:latin typeface="Arial"/>
                <a:ea typeface="맑은 고딕"/>
                <a:cs typeface="Arial"/>
              </a:rPr>
              <a:t> 연결</a:t>
            </a:r>
            <a:r>
              <a:rPr lang="en-US" altLang="ko-KR" sz="1200">
                <a:solidFill>
                  <a:schemeClr val="tx1"/>
                </a:solidFill>
                <a:latin typeface="Arial"/>
                <a:ea typeface="맑은 고딕"/>
                <a:cs typeface="Arial"/>
              </a:rPr>
              <a:t>(Residual Connection)</a:t>
            </a:r>
            <a:r>
              <a:rPr lang="ko-KR" altLang="en-US" sz="1200">
                <a:solidFill>
                  <a:schemeClr val="tx1"/>
                </a:solidFill>
                <a:latin typeface="Arial"/>
                <a:ea typeface="맑은 고딕"/>
                <a:cs typeface="Arial"/>
              </a:rPr>
              <a:t>로 학습 안정화</a:t>
            </a:r>
            <a:endParaRPr lang="en-US" altLang="ko-KR" sz="1200">
              <a:solidFill>
                <a:schemeClr val="tx1"/>
              </a:solidFill>
              <a:latin typeface="Arial"/>
              <a:ea typeface="맑은 고딕"/>
              <a:cs typeface="Arial"/>
            </a:endParaRPr>
          </a:p>
          <a:p>
            <a:pPr lvl="2" algn="l">
              <a:lnSpc>
                <a:spcPct val="150000"/>
              </a:lnSpc>
            </a:pPr>
            <a:r>
              <a:rPr lang="en-US" altLang="ko-KR" sz="1200">
                <a:solidFill>
                  <a:schemeClr val="tx1"/>
                </a:solidFill>
                <a:latin typeface="Arial"/>
                <a:ea typeface="맑은 고딕"/>
                <a:cs typeface="Arial"/>
              </a:rPr>
              <a:t>- </a:t>
            </a:r>
            <a:r>
              <a:rPr lang="ko-KR" altLang="en-US" sz="1200">
                <a:solidFill>
                  <a:schemeClr val="tx1"/>
                </a:solidFill>
                <a:latin typeface="Arial"/>
                <a:ea typeface="맑은 고딕"/>
                <a:cs typeface="Arial"/>
              </a:rPr>
              <a:t>깊은 네트워크에서 발생하는 기울기 소실 문제를 해결하여 더 깊고 복잡한 모델 학습 가능</a:t>
            </a:r>
            <a:r>
              <a:rPr lang="en-US" altLang="ko-KR" sz="1200">
                <a:solidFill>
                  <a:schemeClr val="tx1"/>
                </a:solidFill>
                <a:latin typeface="Arial"/>
                <a:ea typeface="맑은 고딕"/>
                <a:cs typeface="Arial"/>
              </a:rPr>
              <a:t>.</a:t>
            </a:r>
          </a:p>
          <a:p>
            <a:pPr marL="800100" lvl="1" indent="-342900" algn="l">
              <a:lnSpc>
                <a:spcPct val="150000"/>
              </a:lnSpc>
              <a:buAutoNum type="arabicPeriod"/>
            </a:pPr>
            <a:r>
              <a:rPr lang="ko-KR" altLang="en-US" sz="1200">
                <a:solidFill>
                  <a:schemeClr val="tx1"/>
                </a:solidFill>
                <a:latin typeface="Arial"/>
                <a:ea typeface="맑은 고딕"/>
                <a:cs typeface="Arial"/>
              </a:rPr>
              <a:t>효율성과 성능의 균형</a:t>
            </a:r>
            <a:endParaRPr lang="en-US" altLang="ko-KR" sz="1200">
              <a:solidFill>
                <a:schemeClr val="tx1"/>
              </a:solidFill>
              <a:latin typeface="Arial"/>
              <a:ea typeface="맑은 고딕"/>
              <a:cs typeface="Arial"/>
            </a:endParaRPr>
          </a:p>
          <a:p>
            <a:pPr lvl="2" algn="l">
              <a:lnSpc>
                <a:spcPct val="150000"/>
              </a:lnSpc>
            </a:pPr>
            <a:r>
              <a:rPr lang="en-US" altLang="ko-KR" sz="1200">
                <a:solidFill>
                  <a:schemeClr val="tx1"/>
                </a:solidFill>
                <a:latin typeface="Arial"/>
                <a:ea typeface="맑은 고딕"/>
                <a:cs typeface="Arial"/>
              </a:rPr>
              <a:t>- Inception-</a:t>
            </a:r>
            <a:r>
              <a:rPr lang="en-US" altLang="ko-KR" sz="1200" err="1">
                <a:solidFill>
                  <a:schemeClr val="tx1"/>
                </a:solidFill>
                <a:latin typeface="Arial"/>
                <a:ea typeface="맑은 고딕"/>
                <a:cs typeface="Arial"/>
              </a:rPr>
              <a:t>ResNet</a:t>
            </a:r>
            <a:r>
              <a:rPr lang="ko-KR" altLang="en-US" sz="1200">
                <a:solidFill>
                  <a:schemeClr val="tx1"/>
                </a:solidFill>
                <a:latin typeface="Arial"/>
                <a:ea typeface="맑은 고딕"/>
                <a:cs typeface="Arial"/>
              </a:rPr>
              <a:t>은 </a:t>
            </a:r>
            <a:r>
              <a:rPr lang="en-US" altLang="ko-KR" sz="1200">
                <a:solidFill>
                  <a:schemeClr val="tx1"/>
                </a:solidFill>
                <a:latin typeface="Arial"/>
                <a:ea typeface="맑은 고딕"/>
                <a:cs typeface="Arial"/>
              </a:rPr>
              <a:t>Inception</a:t>
            </a:r>
            <a:r>
              <a:rPr lang="ko-KR" altLang="en-US" sz="1200">
                <a:solidFill>
                  <a:schemeClr val="tx1"/>
                </a:solidFill>
                <a:latin typeface="Arial"/>
                <a:ea typeface="맑은 고딕"/>
                <a:cs typeface="Arial"/>
              </a:rPr>
              <a:t>의 다중 스케일 처리와 </a:t>
            </a:r>
            <a:r>
              <a:rPr lang="en-US" altLang="ko-KR" sz="1200" err="1">
                <a:solidFill>
                  <a:schemeClr val="tx1"/>
                </a:solidFill>
                <a:latin typeface="Arial"/>
                <a:ea typeface="맑은 고딕"/>
                <a:cs typeface="Arial"/>
              </a:rPr>
              <a:t>ResNet</a:t>
            </a:r>
            <a:r>
              <a:rPr lang="ko-KR" altLang="en-US" sz="1200">
                <a:solidFill>
                  <a:schemeClr val="tx1"/>
                </a:solidFill>
                <a:latin typeface="Arial"/>
                <a:ea typeface="맑은 고딕"/>
                <a:cs typeface="Arial"/>
              </a:rPr>
              <a:t>의 학습 안정성을 결합해</a:t>
            </a:r>
            <a:r>
              <a:rPr lang="en-US" altLang="ko-KR" sz="1200">
                <a:solidFill>
                  <a:schemeClr val="tx1"/>
                </a:solidFill>
                <a:latin typeface="Arial"/>
                <a:ea typeface="맑은 고딕"/>
                <a:cs typeface="Arial"/>
              </a:rPr>
              <a:t>, </a:t>
            </a:r>
            <a:r>
              <a:rPr lang="ko-KR" altLang="en-US" sz="1200">
                <a:solidFill>
                  <a:schemeClr val="tx1"/>
                </a:solidFill>
                <a:latin typeface="Arial"/>
                <a:ea typeface="맑은 고딕"/>
                <a:cs typeface="Arial"/>
              </a:rPr>
              <a:t>연산 효율성과 정확도를 모두 끌어올림</a:t>
            </a:r>
            <a:r>
              <a:rPr lang="en-US" altLang="ko-KR" sz="1200">
                <a:solidFill>
                  <a:schemeClr val="tx1"/>
                </a:solidFill>
                <a:latin typeface="Arial"/>
                <a:ea typeface="맑은 고딕"/>
                <a:cs typeface="Arial"/>
              </a:rPr>
              <a:t>.</a:t>
            </a:r>
          </a:p>
          <a:p>
            <a:pPr marL="800100" lvl="1" indent="-342900" algn="l">
              <a:lnSpc>
                <a:spcPct val="150000"/>
              </a:lnSpc>
              <a:buAutoNum type="arabicPeriod"/>
            </a:pPr>
            <a:r>
              <a:rPr lang="en-US" altLang="ko-KR" sz="1200">
                <a:solidFill>
                  <a:schemeClr val="tx1"/>
                </a:solidFill>
                <a:latin typeface="Arial"/>
                <a:ea typeface="맑은 고딕"/>
                <a:cs typeface="Arial"/>
              </a:rPr>
              <a:t>Fine-grained classification</a:t>
            </a:r>
            <a:r>
              <a:rPr lang="ko-KR" altLang="en-US" sz="1200">
                <a:solidFill>
                  <a:schemeClr val="tx1"/>
                </a:solidFill>
                <a:latin typeface="Arial"/>
                <a:ea typeface="맑은 고딕"/>
                <a:cs typeface="Arial"/>
              </a:rPr>
              <a:t>에 실제 사용 사례 많음</a:t>
            </a:r>
            <a:endParaRPr lang="en-US" altLang="ko-KR" sz="1200">
              <a:solidFill>
                <a:schemeClr val="tx1"/>
              </a:solidFill>
              <a:latin typeface="Arial"/>
              <a:ea typeface="맑은 고딕"/>
              <a:cs typeface="Arial"/>
            </a:endParaRPr>
          </a:p>
          <a:p>
            <a:pPr lvl="2" algn="l">
              <a:lnSpc>
                <a:spcPct val="150000"/>
              </a:lnSpc>
            </a:pPr>
            <a:r>
              <a:rPr lang="en-US" altLang="ko-KR" sz="1200">
                <a:solidFill>
                  <a:schemeClr val="tx1"/>
                </a:solidFill>
                <a:latin typeface="Arial"/>
                <a:ea typeface="맑은 고딕"/>
                <a:cs typeface="Arial"/>
              </a:rPr>
              <a:t>- </a:t>
            </a:r>
            <a:r>
              <a:rPr lang="ko-KR" altLang="en-US" sz="1200">
                <a:solidFill>
                  <a:schemeClr val="tx1"/>
                </a:solidFill>
                <a:latin typeface="Arial"/>
                <a:ea typeface="맑은 고딕"/>
                <a:cs typeface="Arial"/>
              </a:rPr>
              <a:t>논문이나 실제 응용 분야에서 </a:t>
            </a:r>
            <a:r>
              <a:rPr lang="en-US" altLang="ko-KR" sz="1200">
                <a:solidFill>
                  <a:schemeClr val="tx1"/>
                </a:solidFill>
                <a:latin typeface="Arial"/>
                <a:ea typeface="맑은 고딕"/>
                <a:cs typeface="Arial"/>
              </a:rPr>
              <a:t>Inception-</a:t>
            </a:r>
            <a:r>
              <a:rPr lang="en-US" altLang="ko-KR" sz="1200" err="1">
                <a:solidFill>
                  <a:schemeClr val="tx1"/>
                </a:solidFill>
                <a:latin typeface="Arial"/>
                <a:ea typeface="맑은 고딕"/>
                <a:cs typeface="Arial"/>
              </a:rPr>
              <a:t>ResNet</a:t>
            </a:r>
            <a:r>
              <a:rPr lang="ko-KR" altLang="en-US" sz="1200">
                <a:solidFill>
                  <a:schemeClr val="tx1"/>
                </a:solidFill>
                <a:latin typeface="Arial"/>
                <a:ea typeface="맑은 고딕"/>
                <a:cs typeface="Arial"/>
              </a:rPr>
              <a:t>은 꽃잎 종류</a:t>
            </a:r>
            <a:r>
              <a:rPr lang="en-US" altLang="ko-KR" sz="1200">
                <a:solidFill>
                  <a:schemeClr val="tx1"/>
                </a:solidFill>
                <a:latin typeface="Arial"/>
                <a:ea typeface="맑은 고딕"/>
                <a:cs typeface="Arial"/>
              </a:rPr>
              <a:t>, </a:t>
            </a:r>
            <a:r>
              <a:rPr lang="ko-KR" altLang="en-US" sz="1200">
                <a:solidFill>
                  <a:schemeClr val="tx1"/>
                </a:solidFill>
                <a:latin typeface="Arial"/>
                <a:ea typeface="맑은 고딕"/>
                <a:cs typeface="Arial"/>
              </a:rPr>
              <a:t>품종 분류</a:t>
            </a:r>
            <a:r>
              <a:rPr lang="en-US" altLang="ko-KR" sz="1200">
                <a:solidFill>
                  <a:schemeClr val="tx1"/>
                </a:solidFill>
                <a:latin typeface="Arial"/>
                <a:ea typeface="맑은 고딕"/>
                <a:cs typeface="Arial"/>
              </a:rPr>
              <a:t>, </a:t>
            </a:r>
            <a:r>
              <a:rPr lang="ko-KR" altLang="en-US" sz="1200">
                <a:solidFill>
                  <a:schemeClr val="tx1"/>
                </a:solidFill>
                <a:latin typeface="Arial"/>
                <a:ea typeface="맑은 고딕"/>
                <a:cs typeface="Arial"/>
              </a:rPr>
              <a:t>미세한 각도나 질감 구별 등 다양한 </a:t>
            </a:r>
            <a:r>
              <a:rPr lang="ko-KR" altLang="en-US" sz="1200" b="1">
                <a:solidFill>
                  <a:schemeClr val="tx1"/>
                </a:solidFill>
                <a:latin typeface="Arial"/>
                <a:ea typeface="맑은 고딕"/>
                <a:cs typeface="Arial"/>
              </a:rPr>
              <a:t>세밀한 문제</a:t>
            </a:r>
            <a:r>
              <a:rPr lang="ko-KR" altLang="en-US" sz="1200">
                <a:solidFill>
                  <a:schemeClr val="tx1"/>
                </a:solidFill>
                <a:latin typeface="Arial"/>
                <a:ea typeface="맑은 고딕"/>
                <a:cs typeface="Arial"/>
              </a:rPr>
              <a:t>에 많이 활용됨</a:t>
            </a:r>
            <a:r>
              <a:rPr lang="en-US" altLang="ko-KR" sz="1200">
                <a:solidFill>
                  <a:schemeClr val="tx1"/>
                </a:solidFill>
                <a:latin typeface="Arial"/>
                <a:ea typeface="맑은 고딕"/>
                <a:cs typeface="Arial"/>
              </a:rPr>
              <a:t>.</a:t>
            </a:r>
            <a:endParaRPr lang="ko-KR" altLang="en-US" sz="1200">
              <a:solidFill>
                <a:schemeClr val="tx1"/>
              </a:solidFill>
              <a:latin typeface="Arial"/>
              <a:ea typeface="맑은 고딕"/>
              <a:cs typeface="Arial"/>
            </a:endParaRPr>
          </a:p>
          <a:p>
            <a:pPr algn="l">
              <a:lnSpc>
                <a:spcPct val="150000"/>
              </a:lnSpc>
            </a:pPr>
            <a:endParaRPr lang="en-US" altLang="ko-KR" sz="1200" b="1">
              <a:solidFill>
                <a:schemeClr val="tx1"/>
              </a:solidFill>
              <a:latin typeface="맑은 고딕"/>
              <a:ea typeface="맑은 고딕"/>
              <a:cs typeface="Arial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C34C35C-BC75-A4A1-2FCF-832BF94D24C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273"/>
          <a:stretch>
            <a:fillRect/>
          </a:stretch>
        </p:blipFill>
        <p:spPr bwMode="auto">
          <a:xfrm>
            <a:off x="4683411" y="998973"/>
            <a:ext cx="4163396" cy="1901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5FFADC4-B455-201E-42F5-825D1C04E816}"/>
              </a:ext>
            </a:extLst>
          </p:cNvPr>
          <p:cNvSpPr txBox="1"/>
          <p:nvPr/>
        </p:nvSpPr>
        <p:spPr>
          <a:xfrm>
            <a:off x="264369" y="5795139"/>
            <a:ext cx="81900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1">
                <a:solidFill>
                  <a:schemeClr val="tx1"/>
                </a:solidFill>
              </a:rPr>
              <a:t>▶ 따라서 미세한 나사 각도 차이를 효과적으로 구분할 수 있다고 생각해 해당 모델을 선정</a:t>
            </a:r>
          </a:p>
        </p:txBody>
      </p:sp>
    </p:spTree>
    <p:extLst>
      <p:ext uri="{BB962C8B-B14F-4D97-AF65-F5344CB8AC3E}">
        <p14:creationId xmlns:p14="http://schemas.microsoft.com/office/powerpoint/2010/main" val="1697849106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710E7-ECF9-7CA4-7915-6E8BAC394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18E74651-DE29-CB6B-4362-71F58ABD33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12" y="1088974"/>
            <a:ext cx="4060579" cy="330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ko-KR" altLang="en-US" sz="1800" kern="0">
                <a:solidFill>
                  <a:schemeClr val="accent1">
                    <a:lumMod val="75000"/>
                  </a:schemeClr>
                </a:solidFill>
              </a:rPr>
              <a:t>세부 과정</a:t>
            </a:r>
            <a:endParaRPr lang="en-US" altLang="ko-KR" sz="1800" kern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BC390DB-7296-F60F-2E9D-C2879CC44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방법 및 구현 </a:t>
            </a:r>
            <a:r>
              <a:rPr lang="en-US" altLang="ko-KR"/>
              <a:t>(Methodology &amp; Implementation)</a:t>
            </a:r>
            <a:endParaRPr lang="ko-KR" altLang="en-US"/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C25DDE3D-9B98-43BB-1B56-6817E7DC04F2}"/>
              </a:ext>
            </a:extLst>
          </p:cNvPr>
          <p:cNvSpPr txBox="1"/>
          <p:nvPr/>
        </p:nvSpPr>
        <p:spPr>
          <a:xfrm>
            <a:off x="338400" y="1430964"/>
            <a:ext cx="8805600" cy="61061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ko-KR" altLang="en-US" sz="1200" b="1">
                <a:solidFill>
                  <a:schemeClr val="tx1"/>
                </a:solidFill>
                <a:latin typeface="맑은 고딕"/>
                <a:ea typeface="맑은 고딕"/>
                <a:cs typeface="Arial"/>
              </a:rPr>
              <a:t>데이터 </a:t>
            </a:r>
            <a:r>
              <a:rPr lang="ko-KR" altLang="en-US" sz="1200" b="1" err="1">
                <a:solidFill>
                  <a:schemeClr val="tx1"/>
                </a:solidFill>
                <a:latin typeface="맑은 고딕"/>
                <a:ea typeface="맑은 고딕"/>
                <a:cs typeface="Arial"/>
              </a:rPr>
              <a:t>전처리</a:t>
            </a:r>
            <a:endParaRPr lang="en-US" altLang="ko-KR" sz="1200" b="1">
              <a:solidFill>
                <a:schemeClr val="tx1"/>
              </a:solidFill>
              <a:latin typeface="맑은 고딕"/>
              <a:ea typeface="맑은 고딕"/>
              <a:cs typeface="Arial"/>
            </a:endParaRPr>
          </a:p>
          <a:p>
            <a:pPr algn="l">
              <a:lnSpc>
                <a:spcPct val="150000"/>
              </a:lnSpc>
            </a:pPr>
            <a:r>
              <a:rPr lang="en-US" altLang="ko-KR" sz="1200">
                <a:solidFill>
                  <a:schemeClr val="tx1"/>
                </a:solidFill>
                <a:latin typeface="맑은 고딕"/>
                <a:ea typeface="맑은 고딕"/>
                <a:cs typeface="Arial"/>
              </a:rPr>
              <a:t>    -  </a:t>
            </a:r>
            <a:r>
              <a:rPr lang="en-US" altLang="ko-KR" sz="1200" err="1">
                <a:solidFill>
                  <a:schemeClr val="tx1"/>
                </a:solidFill>
                <a:latin typeface="맑은 고딕"/>
                <a:ea typeface="맑은 고딕"/>
                <a:cs typeface="Arial"/>
              </a:rPr>
              <a:t>Inception_Resnet</a:t>
            </a:r>
            <a:r>
              <a:rPr lang="en-US" altLang="ko-KR" sz="1200">
                <a:solidFill>
                  <a:schemeClr val="tx1"/>
                </a:solidFill>
                <a:latin typeface="맑은 고딕"/>
                <a:ea typeface="맑은 고딕"/>
                <a:cs typeface="Arial"/>
              </a:rPr>
              <a:t> </a:t>
            </a:r>
            <a:r>
              <a:rPr lang="ko-KR" altLang="en-US" sz="1200">
                <a:solidFill>
                  <a:schemeClr val="tx1"/>
                </a:solidFill>
                <a:latin typeface="맑은 고딕"/>
                <a:ea typeface="맑은 고딕"/>
                <a:cs typeface="Arial"/>
              </a:rPr>
              <a:t>모델의</a:t>
            </a:r>
            <a:r>
              <a:rPr lang="en-US" altLang="ko-KR" sz="1200">
                <a:solidFill>
                  <a:schemeClr val="tx1"/>
                </a:solidFill>
                <a:latin typeface="맑은 고딕"/>
                <a:ea typeface="맑은 고딕"/>
                <a:cs typeface="Arial"/>
              </a:rPr>
              <a:t> </a:t>
            </a:r>
            <a:r>
              <a:rPr lang="ko-KR" altLang="en-US" sz="1200">
                <a:solidFill>
                  <a:schemeClr val="tx1"/>
                </a:solidFill>
                <a:latin typeface="맑은 고딕"/>
                <a:ea typeface="맑은 고딕"/>
                <a:cs typeface="Arial"/>
              </a:rPr>
              <a:t>입력 크기인 </a:t>
            </a:r>
            <a:r>
              <a:rPr lang="en-US" altLang="ko-KR" sz="1200">
                <a:solidFill>
                  <a:schemeClr val="tx1"/>
                </a:solidFill>
                <a:latin typeface="맑은 고딕"/>
                <a:ea typeface="맑은 고딕"/>
                <a:cs typeface="Arial"/>
              </a:rPr>
              <a:t>299x299 </a:t>
            </a:r>
            <a:r>
              <a:rPr lang="ko-KR" altLang="en-US" sz="1200">
                <a:solidFill>
                  <a:schemeClr val="tx1"/>
                </a:solidFill>
                <a:latin typeface="맑은 고딕"/>
                <a:ea typeface="맑은 고딕"/>
                <a:cs typeface="Arial"/>
              </a:rPr>
              <a:t>에 맞게 </a:t>
            </a:r>
            <a:r>
              <a:rPr lang="en-US" altLang="ko-KR" sz="1200">
                <a:solidFill>
                  <a:schemeClr val="tx1"/>
                </a:solidFill>
                <a:latin typeface="맑은 고딕"/>
                <a:ea typeface="맑은 고딕"/>
                <a:cs typeface="Arial"/>
              </a:rPr>
              <a:t>crop </a:t>
            </a:r>
            <a:r>
              <a:rPr lang="ko-KR" altLang="en-US" sz="1200">
                <a:solidFill>
                  <a:schemeClr val="tx1"/>
                </a:solidFill>
                <a:latin typeface="맑은 고딕"/>
                <a:ea typeface="맑은 고딕"/>
                <a:cs typeface="Arial"/>
              </a:rPr>
              <a:t>진행</a:t>
            </a:r>
            <a:endParaRPr lang="en-US" altLang="ko-KR" sz="1200">
              <a:solidFill>
                <a:schemeClr val="tx1"/>
              </a:solidFill>
              <a:latin typeface="맑은 고딕"/>
              <a:ea typeface="맑은 고딕"/>
              <a:cs typeface="Arial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B9F4C67-F30F-1830-B93C-8E7080A1E73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962" y="2117029"/>
            <a:ext cx="1691968" cy="1268976"/>
          </a:xfrm>
          <a:prstGeom prst="rect">
            <a:avLst/>
          </a:prstGeom>
        </p:spPr>
      </p:pic>
      <p:pic>
        <p:nvPicPr>
          <p:cNvPr id="8" name="그림 7" descr="원, 교통, 흑백, 바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E59D047-A47F-9B15-1074-5886BDF2B0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2841" y="2129751"/>
            <a:ext cx="1318319" cy="1318319"/>
          </a:xfrm>
          <a:prstGeom prst="rect">
            <a:avLst/>
          </a:prstGeom>
        </p:spPr>
      </p:pic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F1BDF390-0BC6-05C1-58D0-987979C4AE68}"/>
              </a:ext>
            </a:extLst>
          </p:cNvPr>
          <p:cNvCxnSpPr>
            <a:cxnSpLocks/>
          </p:cNvCxnSpPr>
          <p:nvPr/>
        </p:nvCxnSpPr>
        <p:spPr>
          <a:xfrm>
            <a:off x="3309534" y="2751517"/>
            <a:ext cx="230995" cy="0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4" name="TextBox 4">
            <a:extLst>
              <a:ext uri="{FF2B5EF4-FFF2-40B4-BE49-F238E27FC236}">
                <a16:creationId xmlns:a16="http://schemas.microsoft.com/office/drawing/2014/main" id="{166A20C5-C67A-703E-4B56-84149AD003A9}"/>
              </a:ext>
            </a:extLst>
          </p:cNvPr>
          <p:cNvSpPr txBox="1"/>
          <p:nvPr/>
        </p:nvSpPr>
        <p:spPr>
          <a:xfrm>
            <a:off x="396765" y="3522410"/>
            <a:ext cx="8805600" cy="33361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ko-KR" altLang="en-US" sz="1200" b="1">
                <a:solidFill>
                  <a:schemeClr val="tx1"/>
                </a:solidFill>
                <a:latin typeface="맑은 고딕"/>
                <a:ea typeface="맑은 고딕"/>
                <a:cs typeface="Arial"/>
              </a:rPr>
              <a:t>데이터셋 분류</a:t>
            </a:r>
            <a:endParaRPr lang="ko-KR" altLang="en-US" sz="1200">
              <a:solidFill>
                <a:schemeClr val="tx1"/>
              </a:solidFill>
              <a:latin typeface="맑은 고딕"/>
              <a:ea typeface="맑은 고딕"/>
              <a:cs typeface="Arial"/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7E0B5ED4-BFF6-0AE7-494C-6F084DB2BD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354429"/>
              </p:ext>
            </p:extLst>
          </p:nvPr>
        </p:nvGraphicFramePr>
        <p:xfrm>
          <a:off x="622569" y="3900790"/>
          <a:ext cx="7589561" cy="10383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16039">
                  <a:extLst>
                    <a:ext uri="{9D8B030D-6E8A-4147-A177-3AD203B41FA5}">
                      <a16:colId xmlns:a16="http://schemas.microsoft.com/office/drawing/2014/main" val="3465333988"/>
                    </a:ext>
                  </a:extLst>
                </a:gridCol>
                <a:gridCol w="2351642">
                  <a:extLst>
                    <a:ext uri="{9D8B030D-6E8A-4147-A177-3AD203B41FA5}">
                      <a16:colId xmlns:a16="http://schemas.microsoft.com/office/drawing/2014/main" val="4264502895"/>
                    </a:ext>
                  </a:extLst>
                </a:gridCol>
                <a:gridCol w="4021880">
                  <a:extLst>
                    <a:ext uri="{9D8B030D-6E8A-4147-A177-3AD203B41FA5}">
                      <a16:colId xmlns:a16="http://schemas.microsoft.com/office/drawing/2014/main" val="2831582973"/>
                    </a:ext>
                  </a:extLst>
                </a:gridCol>
              </a:tblGrid>
              <a:tr h="29055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200" b="1"/>
                        <a:t>항목</a:t>
                      </a:r>
                      <a:endParaRPr lang="ko-KR" sz="1200" b="1"/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200" b="1"/>
                        <a:t>첫번째 모델</a:t>
                      </a:r>
                      <a:endParaRPr lang="ko-KR" sz="1200" b="1"/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200" b="1"/>
                        <a:t>두번째 모델</a:t>
                      </a:r>
                      <a:endParaRPr lang="ko-KR" sz="1200" b="1"/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3042726"/>
                  </a:ext>
                </a:extLst>
              </a:tr>
              <a:tr h="29055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200"/>
                        <a:t>역할</a:t>
                      </a:r>
                      <a:endParaRPr lang="ko-KR" altLang="en-US" sz="120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sz="1200"/>
                        <a:t>기본 분류기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sz="1200"/>
                        <a:t>보완 분류기 </a:t>
                      </a:r>
                      <a:r>
                        <a:rPr lang="en-US" altLang="ko-KR" sz="1200"/>
                        <a:t>–</a:t>
                      </a:r>
                      <a:r>
                        <a:rPr lang="ko-KR" altLang="en-US" sz="1200"/>
                        <a:t> 모델 </a:t>
                      </a:r>
                      <a:r>
                        <a:rPr lang="ko-KR" altLang="en-US" sz="1200" err="1"/>
                        <a:t>드리프트</a:t>
                      </a:r>
                      <a:r>
                        <a:rPr lang="ko-KR" altLang="en-US" sz="1200"/>
                        <a:t> 상황 대응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5590858"/>
                  </a:ext>
                </a:extLst>
              </a:tr>
              <a:tr h="29055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200"/>
                        <a:t>수집 환경</a:t>
                      </a:r>
                      <a:endParaRPr lang="ko-KR" sz="1200"/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sz="1200"/>
                        <a:t>카메라 중앙 위치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sz="1200"/>
                        <a:t>카메라 중앙 위치(첫번째 모델에 사용하지 않은 데이터) </a:t>
                      </a:r>
                      <a:endParaRPr lang="ko-KR"/>
                    </a:p>
                    <a:p>
                      <a:pPr lvl="0">
                        <a:buNone/>
                      </a:pPr>
                      <a:r>
                        <a:rPr lang="ko-KR" altLang="en-US" sz="1200"/>
                        <a:t>+ 환경 변화 후 이미지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7617359"/>
                  </a:ext>
                </a:extLst>
              </a:tr>
            </a:tbl>
          </a:graphicData>
        </a:graphic>
      </p:graphicFrame>
      <p:pic>
        <p:nvPicPr>
          <p:cNvPr id="15" name="그림 14" descr="원, 흑백, 바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5ADC050-E887-8BC4-029E-543CE1D1F37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8540" y="5054781"/>
            <a:ext cx="1429322" cy="1113334"/>
          </a:xfrm>
          <a:prstGeom prst="rect">
            <a:avLst/>
          </a:prstGeom>
        </p:spPr>
      </p:pic>
      <p:pic>
        <p:nvPicPr>
          <p:cNvPr id="17" name="그림 16" descr="원, 자동차 부품, 흑백, 바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565C6B8-F05A-6EAC-A493-66305DB673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0330" y="5058381"/>
            <a:ext cx="1429967" cy="110895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8DE1EC7-CAA7-37C8-67F2-9D2D2BB8EBC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0591" y="5058381"/>
            <a:ext cx="1429968" cy="1108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305815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2570C-358A-513C-F7D8-F5040F850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17A7197E-6B51-536C-2F20-5071A22FA6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12" y="1088974"/>
            <a:ext cx="4060579" cy="330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ko-KR" altLang="en-US" sz="1800" kern="0">
                <a:solidFill>
                  <a:schemeClr val="accent1">
                    <a:lumMod val="75000"/>
                  </a:schemeClr>
                </a:solidFill>
              </a:rPr>
              <a:t>실험 구성</a:t>
            </a:r>
            <a:endParaRPr lang="en-US" altLang="ko-KR" sz="1800" kern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B294CA7-35BC-6A7D-0AC2-7E697D9C2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실험</a:t>
            </a:r>
            <a:r>
              <a:rPr lang="en-US" altLang="ko-KR"/>
              <a:t> </a:t>
            </a:r>
            <a:r>
              <a:rPr lang="ko-KR" altLang="en-US"/>
              <a:t>구성 및 평가 방법 </a:t>
            </a:r>
            <a:r>
              <a:rPr lang="en-US" altLang="ko-KR"/>
              <a:t>(Experiment Settings)</a:t>
            </a:r>
            <a:r>
              <a:rPr lang="ko-KR" altLang="en-US"/>
              <a:t> </a:t>
            </a: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46AAD5A5-432A-520B-839A-EDE443C2AC46}"/>
              </a:ext>
            </a:extLst>
          </p:cNvPr>
          <p:cNvSpPr txBox="1"/>
          <p:nvPr/>
        </p:nvSpPr>
        <p:spPr>
          <a:xfrm>
            <a:off x="470989" y="1633971"/>
            <a:ext cx="8202022" cy="176631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ko-KR" altLang="en-US" sz="1400" b="1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컴퓨팅 환경</a:t>
            </a:r>
          </a:p>
          <a:p>
            <a:pPr algn="l">
              <a:lnSpc>
                <a:spcPct val="150000"/>
              </a:lnSpc>
            </a:pPr>
            <a:r>
              <a:rPr lang="en-US" altLang="ko-KR" sz="12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    - OS: </a:t>
            </a:r>
            <a:r>
              <a:rPr lang="en-US" sz="120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Ubuntu 22.04.4 LTS</a:t>
            </a:r>
          </a:p>
          <a:p>
            <a:pPr algn="l">
              <a:lnSpc>
                <a:spcPct val="150000"/>
              </a:lnSpc>
            </a:pPr>
            <a:r>
              <a:rPr lang="en-US" altLang="ko-KR" sz="12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    - CPU: </a:t>
            </a:r>
            <a:r>
              <a:rPr lang="en-US" sz="120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AMD Ryzen </a:t>
            </a:r>
            <a:r>
              <a:rPr lang="en-US" sz="120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Threadripper</a:t>
            </a:r>
            <a:r>
              <a:rPr lang="en-US" sz="120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PRO 5975WX 32-Cores</a:t>
            </a:r>
            <a:endParaRPr lang="en-US"/>
          </a:p>
          <a:p>
            <a:pPr algn="l">
              <a:lnSpc>
                <a:spcPct val="150000"/>
              </a:lnSpc>
            </a:pPr>
            <a:r>
              <a:rPr lang="en-US" sz="120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    - GPU: NVIDIA RTX 5000 Ada Generation 32GB</a:t>
            </a:r>
          </a:p>
          <a:p>
            <a:pPr algn="l">
              <a:lnSpc>
                <a:spcPct val="150000"/>
              </a:lnSpc>
            </a:pPr>
            <a:r>
              <a:rPr lang="en-US" sz="120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    - RAM: 256GB</a:t>
            </a:r>
          </a:p>
          <a:p>
            <a:pPr algn="l">
              <a:lnSpc>
                <a:spcPct val="150000"/>
              </a:lnSpc>
            </a:pPr>
            <a:endParaRPr lang="en-US" sz="1200">
              <a:solidFill>
                <a:srgbClr val="000000"/>
              </a:solidFill>
              <a:latin typeface="Arial"/>
              <a:ea typeface="맑은 고딕"/>
              <a:cs typeface="Arial"/>
            </a:endParaRPr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9AD2D147-26CD-E8E3-3B21-9ABB42670D88}"/>
              </a:ext>
            </a:extLst>
          </p:cNvPr>
          <p:cNvSpPr txBox="1"/>
          <p:nvPr/>
        </p:nvSpPr>
        <p:spPr>
          <a:xfrm>
            <a:off x="470988" y="3647595"/>
            <a:ext cx="8202022" cy="1489318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ko-KR" altLang="en-US" sz="1400" b="1" err="1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하이퍼</a:t>
            </a:r>
            <a:r>
              <a:rPr lang="ko-KR" altLang="en-US" sz="1400" b="1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 파라미터</a:t>
            </a:r>
          </a:p>
          <a:p>
            <a:pPr algn="l">
              <a:lnSpc>
                <a:spcPct val="150000"/>
              </a:lnSpc>
            </a:pPr>
            <a:r>
              <a:rPr lang="en-US" altLang="ko-KR" sz="12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    - Learning Rate: </a:t>
            </a:r>
            <a:r>
              <a:rPr lang="en-US" sz="120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0.001</a:t>
            </a:r>
          </a:p>
          <a:p>
            <a:pPr algn="l">
              <a:lnSpc>
                <a:spcPct val="150000"/>
              </a:lnSpc>
            </a:pPr>
            <a:r>
              <a:rPr lang="en-US" sz="120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    - Batch Size: 32</a:t>
            </a:r>
          </a:p>
          <a:p>
            <a:pPr algn="l">
              <a:lnSpc>
                <a:spcPct val="150000"/>
              </a:lnSpc>
            </a:pPr>
            <a:r>
              <a:rPr lang="en-US" sz="120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    - Epoch </a:t>
            </a:r>
            <a:r>
              <a:rPr lang="ko-KR" altLang="en-US" sz="120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수</a:t>
            </a:r>
            <a:r>
              <a:rPr lang="en-US" sz="120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: 10</a:t>
            </a:r>
          </a:p>
          <a:p>
            <a:pPr algn="l">
              <a:lnSpc>
                <a:spcPct val="150000"/>
              </a:lnSpc>
            </a:pPr>
            <a:r>
              <a:rPr lang="en-US" sz="120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    - Optimizer: Adam</a:t>
            </a:r>
          </a:p>
        </p:txBody>
      </p:sp>
    </p:spTree>
    <p:extLst>
      <p:ext uri="{BB962C8B-B14F-4D97-AF65-F5344CB8AC3E}">
        <p14:creationId xmlns:p14="http://schemas.microsoft.com/office/powerpoint/2010/main" val="1725352234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8F7B2-4E9C-3990-CB40-20DEE1216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EEB009EF-C04C-39F4-91DF-8E64561224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12" y="1088974"/>
            <a:ext cx="4060579" cy="330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ko-KR" altLang="en-US" sz="1800" kern="0">
                <a:solidFill>
                  <a:schemeClr val="accent1">
                    <a:lumMod val="75000"/>
                  </a:schemeClr>
                </a:solidFill>
              </a:rPr>
              <a:t>실험 구성</a:t>
            </a:r>
            <a:endParaRPr lang="en-US" altLang="ko-KR" sz="1800" kern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32668BA-18C6-CF45-4CDD-7ACC85A42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실험</a:t>
            </a:r>
            <a:r>
              <a:rPr lang="en-US" altLang="ko-KR"/>
              <a:t> </a:t>
            </a:r>
            <a:r>
              <a:rPr lang="ko-KR" altLang="en-US"/>
              <a:t>구성 및 평가 방법 </a:t>
            </a:r>
            <a:r>
              <a:rPr lang="en-US" altLang="ko-KR"/>
              <a:t>(Experiment Settings)</a:t>
            </a:r>
            <a:r>
              <a:rPr lang="ko-KR" altLang="en-US"/>
              <a:t> </a:t>
            </a: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6D8D9A5E-32B5-036B-3C27-05844250729F}"/>
              </a:ext>
            </a:extLst>
          </p:cNvPr>
          <p:cNvSpPr txBox="1"/>
          <p:nvPr/>
        </p:nvSpPr>
        <p:spPr>
          <a:xfrm>
            <a:off x="470989" y="1419962"/>
            <a:ext cx="8202022" cy="314977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ko-KR" altLang="en-US" sz="1400" b="1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데</a:t>
            </a:r>
            <a:r>
              <a:rPr lang="en-US" altLang="ko-KR" sz="1400" b="1" err="1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이터셋</a:t>
            </a:r>
            <a:endParaRPr lang="en-US" altLang="ko-KR" sz="1200">
              <a:solidFill>
                <a:srgbClr val="000000"/>
              </a:solidFill>
              <a:latin typeface="맑은 고딕"/>
              <a:ea typeface="맑은 고딕"/>
              <a:cs typeface="Arial"/>
            </a:endParaRPr>
          </a:p>
          <a:p>
            <a:pPr algn="l">
              <a:lnSpc>
                <a:spcPct val="150000"/>
              </a:lnSpc>
            </a:pPr>
            <a:r>
              <a:rPr lang="en-US" altLang="ko-KR" sz="12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    - </a:t>
            </a:r>
            <a:r>
              <a:rPr lang="ko-KR" altLang="en-US" sz="12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데이터 종류</a:t>
            </a:r>
            <a:r>
              <a:rPr lang="en-US" altLang="ko-KR" sz="12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: </a:t>
            </a:r>
            <a:r>
              <a:rPr lang="ko-KR" altLang="en-US" sz="12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비정형 데이터</a:t>
            </a:r>
            <a:r>
              <a:rPr lang="en-US" altLang="ko-KR" sz="12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(</a:t>
            </a:r>
            <a:r>
              <a:rPr lang="ko-KR" altLang="en-US" sz="12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이미지</a:t>
            </a:r>
            <a:r>
              <a:rPr lang="en-US" altLang="ko-KR" sz="12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)</a:t>
            </a:r>
          </a:p>
          <a:p>
            <a:pPr algn="l">
              <a:lnSpc>
                <a:spcPct val="150000"/>
              </a:lnSpc>
            </a:pPr>
            <a:r>
              <a:rPr lang="en-US" altLang="ko-KR" sz="12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    - </a:t>
            </a:r>
            <a:r>
              <a:rPr lang="ko-KR" altLang="en-US" sz="12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클래스 수</a:t>
            </a:r>
            <a:r>
              <a:rPr lang="en-US" altLang="ko-KR" sz="12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: 4</a:t>
            </a:r>
            <a:r>
              <a:rPr lang="ko-KR" altLang="en-US" sz="12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개</a:t>
            </a:r>
            <a:endParaRPr lang="en-US" altLang="ko-KR" sz="1200">
              <a:solidFill>
                <a:srgbClr val="000000"/>
              </a:solidFill>
              <a:latin typeface="맑은 고딕"/>
              <a:ea typeface="맑은 고딕"/>
              <a:cs typeface="Arial"/>
            </a:endParaRPr>
          </a:p>
          <a:p>
            <a:pPr algn="l">
              <a:lnSpc>
                <a:spcPct val="150000"/>
              </a:lnSpc>
            </a:pPr>
            <a:r>
              <a:rPr lang="en-US" altLang="ko-KR" sz="12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    - Train </a:t>
            </a:r>
            <a:r>
              <a:rPr lang="ko-KR" altLang="en-US" sz="12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데이터</a:t>
            </a:r>
            <a:endParaRPr lang="en-US" altLang="ko-KR" sz="1200">
              <a:solidFill>
                <a:srgbClr val="000000"/>
              </a:solidFill>
              <a:latin typeface="맑은 고딕"/>
              <a:ea typeface="맑은 고딕"/>
              <a:cs typeface="Arial"/>
            </a:endParaRPr>
          </a:p>
          <a:p>
            <a:pPr algn="l">
              <a:lnSpc>
                <a:spcPct val="150000"/>
              </a:lnSpc>
            </a:pPr>
            <a:r>
              <a:rPr lang="en-US" altLang="ko-KR" sz="12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          - </a:t>
            </a:r>
            <a:r>
              <a:rPr lang="ko-KR" altLang="en-US" sz="12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수집 기간</a:t>
            </a:r>
            <a:r>
              <a:rPr lang="en-US" altLang="ko-KR" sz="12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: 2023-11-22 ~ 2024-01-27, 2024-12-02 ~ 2024-12-12(총 78일 </a:t>
            </a:r>
            <a:r>
              <a:rPr lang="en-US" altLang="ko-KR" sz="1200" err="1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분량</a:t>
            </a:r>
            <a:r>
              <a:rPr lang="en-US" altLang="ko-KR" sz="12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)</a:t>
            </a:r>
          </a:p>
          <a:p>
            <a:pPr algn="l">
              <a:lnSpc>
                <a:spcPct val="150000"/>
              </a:lnSpc>
            </a:pPr>
            <a:r>
              <a:rPr lang="en-US" altLang="ko-KR" sz="12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          - </a:t>
            </a:r>
            <a:r>
              <a:rPr lang="ko-KR" altLang="en-US" sz="12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데이터 수</a:t>
            </a:r>
            <a:r>
              <a:rPr lang="en-US" altLang="ko-KR" sz="12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: </a:t>
            </a:r>
            <a:r>
              <a:rPr lang="ko-KR" altLang="en-US" sz="12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총 </a:t>
            </a:r>
            <a:r>
              <a:rPr lang="en-US" altLang="ko-KR" sz="12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114,217 </a:t>
            </a:r>
            <a:r>
              <a:rPr lang="ko-KR" altLang="en-US" sz="12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장</a:t>
            </a:r>
            <a:endParaRPr lang="en-US" altLang="ko-KR" sz="1200">
              <a:solidFill>
                <a:srgbClr val="000000"/>
              </a:solidFill>
              <a:latin typeface="맑은 고딕"/>
              <a:ea typeface="맑은 고딕"/>
              <a:cs typeface="Arial"/>
            </a:endParaRPr>
          </a:p>
          <a:p>
            <a:pPr algn="l">
              <a:lnSpc>
                <a:spcPct val="150000"/>
              </a:lnSpc>
            </a:pPr>
            <a:r>
              <a:rPr lang="en-US" altLang="ko-KR" sz="12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	          27</a:t>
            </a:r>
            <a:r>
              <a:rPr lang="ko-KR" altLang="en-US" sz="12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산 </a:t>
            </a:r>
            <a:r>
              <a:rPr lang="en-US" altLang="ko-KR" sz="12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30</a:t>
            </a:r>
            <a:r>
              <a:rPr lang="ko-KR" altLang="en-US" sz="12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도</a:t>
            </a:r>
            <a:r>
              <a:rPr lang="en-US" altLang="ko-KR" sz="12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: 33,431</a:t>
            </a:r>
            <a:r>
              <a:rPr lang="ko-KR" altLang="en-US" sz="12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장</a:t>
            </a:r>
            <a:r>
              <a:rPr lang="en-US" altLang="ko-KR" sz="12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 / 27</a:t>
            </a:r>
            <a:r>
              <a:rPr lang="ko-KR" altLang="en-US" sz="12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산 </a:t>
            </a:r>
            <a:r>
              <a:rPr lang="en-US" altLang="ko-KR" sz="12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45</a:t>
            </a:r>
            <a:r>
              <a:rPr lang="ko-KR" altLang="en-US" sz="12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도</a:t>
            </a:r>
            <a:r>
              <a:rPr lang="en-US" altLang="ko-KR" sz="12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: 13,255</a:t>
            </a:r>
            <a:r>
              <a:rPr lang="ko-KR" altLang="en-US" sz="12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장</a:t>
            </a:r>
            <a:r>
              <a:rPr lang="en-US" altLang="ko-KR" sz="12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 / 28</a:t>
            </a:r>
            <a:r>
              <a:rPr lang="ko-KR" altLang="en-US" sz="12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산</a:t>
            </a:r>
            <a:r>
              <a:rPr lang="en-US" altLang="ko-KR" sz="12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: 60,939</a:t>
            </a:r>
            <a:r>
              <a:rPr lang="ko-KR" altLang="en-US" sz="12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장</a:t>
            </a:r>
            <a:r>
              <a:rPr lang="en-US" altLang="ko-KR" sz="12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 / 31</a:t>
            </a:r>
            <a:r>
              <a:rPr lang="ko-KR" altLang="en-US" sz="12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산</a:t>
            </a:r>
            <a:r>
              <a:rPr lang="en-US" altLang="ko-KR" sz="12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: 6,592</a:t>
            </a:r>
            <a:r>
              <a:rPr lang="ko-KR" altLang="en-US" sz="12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장</a:t>
            </a:r>
            <a:endParaRPr lang="en-US" altLang="ko-KR" sz="1200">
              <a:solidFill>
                <a:srgbClr val="000000"/>
              </a:solidFill>
              <a:latin typeface="맑은 고딕"/>
              <a:ea typeface="맑은 고딕"/>
              <a:cs typeface="Arial"/>
            </a:endParaRPr>
          </a:p>
          <a:p>
            <a:pPr algn="l">
              <a:lnSpc>
                <a:spcPct val="150000"/>
              </a:lnSpc>
            </a:pPr>
            <a:r>
              <a:rPr lang="en-US" altLang="ko-KR" sz="12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    - Test </a:t>
            </a:r>
            <a:r>
              <a:rPr lang="ko-KR" altLang="en-US" sz="12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데이터</a:t>
            </a:r>
            <a:endParaRPr lang="en-US" altLang="ko-KR" sz="1200">
              <a:solidFill>
                <a:srgbClr val="000000"/>
              </a:solidFill>
              <a:latin typeface="맑은 고딕"/>
              <a:ea typeface="맑은 고딕"/>
              <a:cs typeface="Arial"/>
            </a:endParaRPr>
          </a:p>
          <a:p>
            <a:pPr algn="l">
              <a:lnSpc>
                <a:spcPct val="150000"/>
              </a:lnSpc>
            </a:pPr>
            <a:r>
              <a:rPr lang="en-US" altLang="ko-KR" sz="12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          - </a:t>
            </a:r>
            <a:r>
              <a:rPr lang="ko-KR" altLang="en-US" sz="12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수집 기간</a:t>
            </a:r>
            <a:r>
              <a:rPr lang="en-US" altLang="ko-KR" sz="12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: 2024-12-18 ~ 2025-01-10</a:t>
            </a:r>
          </a:p>
          <a:p>
            <a:pPr algn="l">
              <a:lnSpc>
                <a:spcPct val="150000"/>
              </a:lnSpc>
            </a:pPr>
            <a:r>
              <a:rPr lang="en-US" altLang="ko-KR" sz="12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          - </a:t>
            </a:r>
            <a:r>
              <a:rPr lang="ko-KR" altLang="en-US" sz="12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데이터 수</a:t>
            </a:r>
            <a:r>
              <a:rPr lang="en-US" altLang="ko-KR" sz="12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: </a:t>
            </a:r>
            <a:r>
              <a:rPr lang="ko-KR" altLang="en-US" sz="12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총 </a:t>
            </a:r>
            <a:r>
              <a:rPr lang="en-US" altLang="ko-KR" sz="12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56,792</a:t>
            </a:r>
            <a:r>
              <a:rPr lang="ko-KR" altLang="en-US" sz="12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장</a:t>
            </a:r>
            <a:endParaRPr lang="en-US" altLang="ko-KR" sz="1200">
              <a:solidFill>
                <a:srgbClr val="000000"/>
              </a:solidFill>
              <a:latin typeface="맑은 고딕"/>
              <a:ea typeface="맑은 고딕"/>
              <a:cs typeface="Arial"/>
            </a:endParaRPr>
          </a:p>
          <a:p>
            <a:pPr algn="l">
              <a:lnSpc>
                <a:spcPct val="150000"/>
              </a:lnSpc>
            </a:pPr>
            <a:r>
              <a:rPr lang="en-US" altLang="ko-KR" sz="12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                           27</a:t>
            </a:r>
            <a:r>
              <a:rPr lang="ko-KR" altLang="en-US" sz="12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산 </a:t>
            </a:r>
            <a:r>
              <a:rPr lang="en-US" altLang="ko-KR" sz="12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30</a:t>
            </a:r>
            <a:r>
              <a:rPr lang="ko-KR" altLang="en-US" sz="12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도</a:t>
            </a:r>
            <a:r>
              <a:rPr lang="en-US" altLang="ko-KR" sz="12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: 27,894</a:t>
            </a:r>
            <a:r>
              <a:rPr lang="ko-KR" altLang="en-US" sz="12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장</a:t>
            </a:r>
            <a:r>
              <a:rPr lang="en-US" altLang="ko-KR" sz="12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 / 27</a:t>
            </a:r>
            <a:r>
              <a:rPr lang="ko-KR" altLang="en-US" sz="12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산 </a:t>
            </a:r>
            <a:r>
              <a:rPr lang="en-US" altLang="ko-KR" sz="12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45</a:t>
            </a:r>
            <a:r>
              <a:rPr lang="ko-KR" altLang="en-US" sz="12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도</a:t>
            </a:r>
            <a:r>
              <a:rPr lang="en-US" altLang="ko-KR" sz="12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: 5,472</a:t>
            </a:r>
            <a:r>
              <a:rPr lang="ko-KR" altLang="en-US" sz="12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장</a:t>
            </a:r>
            <a:r>
              <a:rPr lang="en-US" altLang="ko-KR" sz="12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 / 28</a:t>
            </a:r>
            <a:r>
              <a:rPr lang="ko-KR" altLang="en-US" sz="12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산</a:t>
            </a:r>
            <a:r>
              <a:rPr lang="en-US" altLang="ko-KR" sz="12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: 22,282</a:t>
            </a:r>
            <a:r>
              <a:rPr lang="ko-KR" altLang="en-US" sz="12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장</a:t>
            </a:r>
            <a:r>
              <a:rPr lang="en-US" altLang="ko-KR" sz="12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 / 31</a:t>
            </a:r>
            <a:r>
              <a:rPr lang="ko-KR" altLang="en-US" sz="12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산</a:t>
            </a:r>
            <a:r>
              <a:rPr lang="en-US" altLang="ko-KR" sz="12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: 1,144</a:t>
            </a:r>
            <a:r>
              <a:rPr lang="ko-KR" altLang="en-US" sz="12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장</a:t>
            </a:r>
            <a:endParaRPr lang="en-US" altLang="ko-KR" sz="1200">
              <a:solidFill>
                <a:srgbClr val="000000"/>
              </a:solidFill>
              <a:latin typeface="맑은 고딕"/>
              <a:ea typeface="맑은 고딕"/>
              <a:cs typeface="Arial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DE5CE8B-C939-787F-AD8D-740B6C12670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4120" y="4583314"/>
            <a:ext cx="1962017" cy="147151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4D147A4-734A-D2DA-C38D-1AB5DF5A1CF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1904" y="4583314"/>
            <a:ext cx="1962017" cy="147151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5F10742-AE01-6F70-05B3-2699384790D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956" y="4567776"/>
            <a:ext cx="1962017" cy="147151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AFF24FA-2257-1A08-412E-984E9C3F7D5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8038" y="4571429"/>
            <a:ext cx="1962017" cy="1471513"/>
          </a:xfrm>
          <a:prstGeom prst="rect">
            <a:avLst/>
          </a:prstGeom>
        </p:spPr>
      </p:pic>
      <p:sp>
        <p:nvSpPr>
          <p:cNvPr id="14" name="TextBox 7">
            <a:extLst>
              <a:ext uri="{FF2B5EF4-FFF2-40B4-BE49-F238E27FC236}">
                <a16:creationId xmlns:a16="http://schemas.microsoft.com/office/drawing/2014/main" id="{973E94B0-1079-E9A5-7CBA-CB4AF344639C}"/>
              </a:ext>
            </a:extLst>
          </p:cNvPr>
          <p:cNvSpPr txBox="1"/>
          <p:nvPr/>
        </p:nvSpPr>
        <p:spPr>
          <a:xfrm>
            <a:off x="1035672" y="5960908"/>
            <a:ext cx="1114584" cy="33361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1200">
                <a:solidFill>
                  <a:srgbClr val="000000"/>
                </a:solidFill>
                <a:latin typeface="+mj-ea"/>
                <a:cs typeface="Arial"/>
              </a:rPr>
              <a:t>27</a:t>
            </a:r>
            <a:r>
              <a:rPr lang="ko-KR" altLang="en-US" sz="1200">
                <a:solidFill>
                  <a:srgbClr val="000000"/>
                </a:solidFill>
                <a:latin typeface="+mj-ea"/>
                <a:cs typeface="Arial"/>
              </a:rPr>
              <a:t>산 </a:t>
            </a:r>
            <a:r>
              <a:rPr lang="en-US" altLang="ko-KR" sz="1200">
                <a:solidFill>
                  <a:srgbClr val="000000"/>
                </a:solidFill>
                <a:latin typeface="+mj-ea"/>
                <a:cs typeface="Arial"/>
              </a:rPr>
              <a:t>30</a:t>
            </a:r>
            <a:r>
              <a:rPr lang="ko-KR" altLang="en-US" sz="1200">
                <a:solidFill>
                  <a:srgbClr val="000000"/>
                </a:solidFill>
                <a:latin typeface="+mj-ea"/>
                <a:cs typeface="Arial"/>
              </a:rPr>
              <a:t>도</a:t>
            </a:r>
            <a:endParaRPr lang="en-US" altLang="ko-KR" sz="1200">
              <a:solidFill>
                <a:srgbClr val="000000"/>
              </a:solidFill>
              <a:latin typeface="+mj-ea"/>
              <a:cs typeface="Arial"/>
            </a:endParaRPr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DD4B43FF-6572-6CE7-C320-5210BFF44A03}"/>
              </a:ext>
            </a:extLst>
          </p:cNvPr>
          <p:cNvSpPr txBox="1"/>
          <p:nvPr/>
        </p:nvSpPr>
        <p:spPr>
          <a:xfrm>
            <a:off x="3077605" y="5960908"/>
            <a:ext cx="1114584" cy="33361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1200">
                <a:solidFill>
                  <a:srgbClr val="000000"/>
                </a:solidFill>
                <a:latin typeface="+mj-ea"/>
                <a:cs typeface="Arial"/>
              </a:rPr>
              <a:t>27</a:t>
            </a:r>
            <a:r>
              <a:rPr lang="ko-KR" altLang="en-US" sz="1200">
                <a:solidFill>
                  <a:srgbClr val="000000"/>
                </a:solidFill>
                <a:latin typeface="+mj-ea"/>
                <a:cs typeface="Arial"/>
              </a:rPr>
              <a:t>산 </a:t>
            </a:r>
            <a:r>
              <a:rPr lang="en-US" altLang="ko-KR" sz="1200">
                <a:solidFill>
                  <a:srgbClr val="000000"/>
                </a:solidFill>
                <a:latin typeface="+mj-ea"/>
                <a:cs typeface="Arial"/>
              </a:rPr>
              <a:t>45</a:t>
            </a:r>
            <a:r>
              <a:rPr lang="ko-KR" altLang="en-US" sz="1200">
                <a:solidFill>
                  <a:srgbClr val="000000"/>
                </a:solidFill>
                <a:latin typeface="+mj-ea"/>
                <a:cs typeface="Arial"/>
              </a:rPr>
              <a:t>도</a:t>
            </a:r>
            <a:endParaRPr lang="en-US" altLang="ko-KR" sz="1200">
              <a:solidFill>
                <a:srgbClr val="000000"/>
              </a:solidFill>
              <a:latin typeface="+mj-ea"/>
              <a:cs typeface="Arial"/>
            </a:endParaRPr>
          </a:p>
        </p:txBody>
      </p:sp>
      <p:sp>
        <p:nvSpPr>
          <p:cNvPr id="16" name="TextBox 7">
            <a:extLst>
              <a:ext uri="{FF2B5EF4-FFF2-40B4-BE49-F238E27FC236}">
                <a16:creationId xmlns:a16="http://schemas.microsoft.com/office/drawing/2014/main" id="{8942D31D-6674-637C-03BA-299F939A216A}"/>
              </a:ext>
            </a:extLst>
          </p:cNvPr>
          <p:cNvSpPr txBox="1"/>
          <p:nvPr/>
        </p:nvSpPr>
        <p:spPr>
          <a:xfrm>
            <a:off x="5192533" y="5956089"/>
            <a:ext cx="1114584" cy="33361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1200">
                <a:solidFill>
                  <a:srgbClr val="000000"/>
                </a:solidFill>
                <a:latin typeface="+mj-ea"/>
                <a:cs typeface="Arial"/>
              </a:rPr>
              <a:t>28</a:t>
            </a:r>
            <a:r>
              <a:rPr lang="ko-KR" altLang="en-US" sz="1200">
                <a:solidFill>
                  <a:srgbClr val="000000"/>
                </a:solidFill>
                <a:latin typeface="+mj-ea"/>
                <a:cs typeface="Arial"/>
              </a:rPr>
              <a:t>산</a:t>
            </a:r>
            <a:endParaRPr lang="en-US" altLang="ko-KR" sz="1200">
              <a:solidFill>
                <a:srgbClr val="000000"/>
              </a:solidFill>
              <a:latin typeface="+mj-ea"/>
              <a:cs typeface="Arial"/>
            </a:endParaRPr>
          </a:p>
        </p:txBody>
      </p:sp>
      <p:sp>
        <p:nvSpPr>
          <p:cNvPr id="17" name="TextBox 7">
            <a:extLst>
              <a:ext uri="{FF2B5EF4-FFF2-40B4-BE49-F238E27FC236}">
                <a16:creationId xmlns:a16="http://schemas.microsoft.com/office/drawing/2014/main" id="{EE1C2194-E2E6-0F90-4F55-7C86C96072BC}"/>
              </a:ext>
            </a:extLst>
          </p:cNvPr>
          <p:cNvSpPr txBox="1"/>
          <p:nvPr/>
        </p:nvSpPr>
        <p:spPr>
          <a:xfrm>
            <a:off x="7192794" y="5960908"/>
            <a:ext cx="1114584" cy="33361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1200">
                <a:solidFill>
                  <a:srgbClr val="000000"/>
                </a:solidFill>
                <a:latin typeface="+mj-ea"/>
                <a:cs typeface="Arial"/>
              </a:rPr>
              <a:t>31</a:t>
            </a:r>
            <a:r>
              <a:rPr lang="ko-KR" altLang="en-US" sz="1200">
                <a:solidFill>
                  <a:srgbClr val="000000"/>
                </a:solidFill>
                <a:latin typeface="+mj-ea"/>
                <a:cs typeface="Arial"/>
              </a:rPr>
              <a:t>산</a:t>
            </a:r>
            <a:endParaRPr lang="en-US" altLang="ko-KR" sz="1200">
              <a:solidFill>
                <a:srgbClr val="000000"/>
              </a:solidFill>
              <a:latin typeface="+mj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07822286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15F2B-FB2A-0C0C-920D-1B397085E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ECC8831B-30AA-9DE8-C328-3635A8ACD7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12" y="1088974"/>
            <a:ext cx="4060579" cy="330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ko-KR" altLang="en-US" sz="1800" kern="0">
                <a:solidFill>
                  <a:schemeClr val="accent1">
                    <a:lumMod val="75000"/>
                  </a:schemeClr>
                </a:solidFill>
              </a:rPr>
              <a:t>실험 결과</a:t>
            </a:r>
            <a:endParaRPr lang="en-US" altLang="ko-KR" sz="1800" kern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6200F8-6A1C-B776-8E39-024C95136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결과</a:t>
            </a:r>
            <a:r>
              <a:rPr lang="en-US" altLang="ko-KR"/>
              <a:t> </a:t>
            </a:r>
            <a:r>
              <a:rPr lang="ko-KR" altLang="en-US"/>
              <a:t>및 분석 </a:t>
            </a:r>
            <a:r>
              <a:rPr lang="en-US" altLang="ko-KR"/>
              <a:t>(Results &amp; Analysis)</a:t>
            </a:r>
            <a:endParaRPr lang="ko-KR" altLang="en-US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1FB72DDD-16C5-33B1-4E7B-74C3B2A304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9734852"/>
              </p:ext>
            </p:extLst>
          </p:nvPr>
        </p:nvGraphicFramePr>
        <p:xfrm>
          <a:off x="457200" y="1793166"/>
          <a:ext cx="8210730" cy="7416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40310">
                  <a:extLst>
                    <a:ext uri="{9D8B030D-6E8A-4147-A177-3AD203B41FA5}">
                      <a16:colId xmlns:a16="http://schemas.microsoft.com/office/drawing/2014/main" val="3465333988"/>
                    </a:ext>
                  </a:extLst>
                </a:gridCol>
                <a:gridCol w="597535">
                  <a:extLst>
                    <a:ext uri="{9D8B030D-6E8A-4147-A177-3AD203B41FA5}">
                      <a16:colId xmlns:a16="http://schemas.microsoft.com/office/drawing/2014/main" val="4264502895"/>
                    </a:ext>
                  </a:extLst>
                </a:gridCol>
                <a:gridCol w="597535">
                  <a:extLst>
                    <a:ext uri="{9D8B030D-6E8A-4147-A177-3AD203B41FA5}">
                      <a16:colId xmlns:a16="http://schemas.microsoft.com/office/drawing/2014/main" val="2831582973"/>
                    </a:ext>
                  </a:extLst>
                </a:gridCol>
                <a:gridCol w="597535">
                  <a:extLst>
                    <a:ext uri="{9D8B030D-6E8A-4147-A177-3AD203B41FA5}">
                      <a16:colId xmlns:a16="http://schemas.microsoft.com/office/drawing/2014/main" val="630831454"/>
                    </a:ext>
                  </a:extLst>
                </a:gridCol>
                <a:gridCol w="597535">
                  <a:extLst>
                    <a:ext uri="{9D8B030D-6E8A-4147-A177-3AD203B41FA5}">
                      <a16:colId xmlns:a16="http://schemas.microsoft.com/office/drawing/2014/main" val="1523974537"/>
                    </a:ext>
                  </a:extLst>
                </a:gridCol>
                <a:gridCol w="597535">
                  <a:extLst>
                    <a:ext uri="{9D8B030D-6E8A-4147-A177-3AD203B41FA5}">
                      <a16:colId xmlns:a16="http://schemas.microsoft.com/office/drawing/2014/main" val="2089784118"/>
                    </a:ext>
                  </a:extLst>
                </a:gridCol>
                <a:gridCol w="597535">
                  <a:extLst>
                    <a:ext uri="{9D8B030D-6E8A-4147-A177-3AD203B41FA5}">
                      <a16:colId xmlns:a16="http://schemas.microsoft.com/office/drawing/2014/main" val="1279885540"/>
                    </a:ext>
                  </a:extLst>
                </a:gridCol>
                <a:gridCol w="597535">
                  <a:extLst>
                    <a:ext uri="{9D8B030D-6E8A-4147-A177-3AD203B41FA5}">
                      <a16:colId xmlns:a16="http://schemas.microsoft.com/office/drawing/2014/main" val="755500958"/>
                    </a:ext>
                  </a:extLst>
                </a:gridCol>
                <a:gridCol w="597535">
                  <a:extLst>
                    <a:ext uri="{9D8B030D-6E8A-4147-A177-3AD203B41FA5}">
                      <a16:colId xmlns:a16="http://schemas.microsoft.com/office/drawing/2014/main" val="2193204835"/>
                    </a:ext>
                  </a:extLst>
                </a:gridCol>
                <a:gridCol w="597535">
                  <a:extLst>
                    <a:ext uri="{9D8B030D-6E8A-4147-A177-3AD203B41FA5}">
                      <a16:colId xmlns:a16="http://schemas.microsoft.com/office/drawing/2014/main" val="944709678"/>
                    </a:ext>
                  </a:extLst>
                </a:gridCol>
                <a:gridCol w="597535">
                  <a:extLst>
                    <a:ext uri="{9D8B030D-6E8A-4147-A177-3AD203B41FA5}">
                      <a16:colId xmlns:a16="http://schemas.microsoft.com/office/drawing/2014/main" val="3075026627"/>
                    </a:ext>
                  </a:extLst>
                </a:gridCol>
                <a:gridCol w="597535">
                  <a:extLst>
                    <a:ext uri="{9D8B030D-6E8A-4147-A177-3AD203B41FA5}">
                      <a16:colId xmlns:a16="http://schemas.microsoft.com/office/drawing/2014/main" val="1070732159"/>
                    </a:ext>
                  </a:extLst>
                </a:gridCol>
                <a:gridCol w="597535">
                  <a:extLst>
                    <a:ext uri="{9D8B030D-6E8A-4147-A177-3AD203B41FA5}">
                      <a16:colId xmlns:a16="http://schemas.microsoft.com/office/drawing/2014/main" val="2601804764"/>
                    </a:ext>
                  </a:extLst>
                </a:gridCol>
              </a:tblGrid>
              <a:tr h="18542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u="none" strike="noStrike">
                          <a:effectLst/>
                        </a:rPr>
                        <a:t>구분</a:t>
                      </a:r>
                      <a:endParaRPr lang="ko-KR" altLang="en-US" sz="11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12/18</a:t>
                      </a:r>
                      <a:endParaRPr lang="ko-KR" altLang="en-US" sz="1100" b="1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12/19</a:t>
                      </a:r>
                      <a:endParaRPr lang="ko-KR" altLang="en-US" sz="1100" b="1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12/20</a:t>
                      </a:r>
                      <a:endParaRPr lang="ko-KR" altLang="en-US" sz="1100" b="1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12/21</a:t>
                      </a:r>
                      <a:endParaRPr lang="ko-KR" altLang="en-US" sz="1100" b="1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12/23</a:t>
                      </a:r>
                      <a:endParaRPr lang="ko-KR" altLang="en-US" sz="1100" b="1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12/24</a:t>
                      </a:r>
                      <a:endParaRPr lang="ko-KR" altLang="en-US" sz="1100" b="1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12/25</a:t>
                      </a:r>
                      <a:endParaRPr lang="ko-KR" altLang="en-US" sz="1100" b="1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12/26</a:t>
                      </a:r>
                      <a:endParaRPr lang="ko-KR" altLang="en-US" sz="1100" b="1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12/27</a:t>
                      </a:r>
                      <a:endParaRPr lang="ko-KR" altLang="en-US" sz="1100" b="1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12/28</a:t>
                      </a:r>
                      <a:endParaRPr lang="ko-KR" altLang="en-US" sz="1100" b="1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12/30</a:t>
                      </a:r>
                      <a:endParaRPr lang="ko-KR" altLang="en-US" sz="1100" b="1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12/31</a:t>
                      </a:r>
                      <a:endParaRPr lang="ko-KR" altLang="en-US" sz="1100" b="1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3042726"/>
                  </a:ext>
                </a:extLst>
              </a:tr>
              <a:tr h="18542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적용 전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99.49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99.62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99.93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99.51</a:t>
                      </a:r>
                    </a:p>
                  </a:txBody>
                  <a:tcPr marL="9525" marR="9525" marT="9525" marB="0" anchor="ctr"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99.93</a:t>
                      </a:r>
                    </a:p>
                  </a:txBody>
                  <a:tcPr marL="9525" marR="9525" marT="9525" marB="0" anchor="ctr"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98.72</a:t>
                      </a:r>
                    </a:p>
                  </a:txBody>
                  <a:tcPr marL="9525" marR="9525" marT="9525" marB="0" anchor="ctr"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100</a:t>
                      </a:r>
                    </a:p>
                  </a:txBody>
                  <a:tcPr marL="9525" marR="9525" marT="9525" marB="0" anchor="ctr"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98.67</a:t>
                      </a:r>
                    </a:p>
                  </a:txBody>
                  <a:tcPr marL="9525" marR="9525" marT="9525" marB="0" anchor="ctr"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99.33</a:t>
                      </a:r>
                    </a:p>
                  </a:txBody>
                  <a:tcPr marL="9525" marR="9525" marT="9525" marB="0" anchor="ctr"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99.14</a:t>
                      </a:r>
                    </a:p>
                  </a:txBody>
                  <a:tcPr marL="9525" marR="9525" marT="9525" marB="0" anchor="ctr"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100</a:t>
                      </a:r>
                    </a:p>
                  </a:txBody>
                  <a:tcPr marL="9525" marR="9525" marT="9525" marB="0" anchor="ctr"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100</a:t>
                      </a:r>
                    </a:p>
                  </a:txBody>
                  <a:tcPr marL="9525" marR="9525" marT="9525" marB="0" anchor="ctr"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5590858"/>
                  </a:ext>
                </a:extLst>
              </a:tr>
              <a:tr h="18542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u="none" strike="noStrike">
                          <a:effectLst/>
                        </a:rPr>
                        <a:t>모델 1개 적용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99.89</a:t>
                      </a:r>
                      <a:endParaRPr lang="ko-KR" altLang="en-US"/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100</a:t>
                      </a:r>
                    </a:p>
                  </a:txBody>
                  <a:tcPr marL="9525" marR="9525" marT="9525" marB="0" anchor="ctr"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99.96</a:t>
                      </a:r>
                    </a:p>
                  </a:txBody>
                  <a:tcPr marL="9525" marR="9525" marT="9525" marB="0" anchor="ctr"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99.97</a:t>
                      </a:r>
                    </a:p>
                  </a:txBody>
                  <a:tcPr marL="9525" marR="9525" marT="9525" marB="0" anchor="ctr"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100</a:t>
                      </a:r>
                    </a:p>
                  </a:txBody>
                  <a:tcPr marL="9525" marR="9525" marT="9525" marB="0" anchor="ctr"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99.78</a:t>
                      </a:r>
                    </a:p>
                  </a:txBody>
                  <a:tcPr marL="9525" marR="9525" marT="9525" marB="0" anchor="ctr"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99.81</a:t>
                      </a:r>
                    </a:p>
                  </a:txBody>
                  <a:tcPr marL="9525" marR="9525" marT="9525" marB="0" anchor="ctr"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100</a:t>
                      </a:r>
                    </a:p>
                  </a:txBody>
                  <a:tcPr marL="9525" marR="9525" marT="9525" marB="0" anchor="ctr"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100</a:t>
                      </a:r>
                    </a:p>
                  </a:txBody>
                  <a:tcPr marL="9525" marR="9525" marT="9525" marB="0" anchor="ctr"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100</a:t>
                      </a:r>
                    </a:p>
                  </a:txBody>
                  <a:tcPr marL="9525" marR="9525" marT="9525" marB="0" anchor="ctr"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7617359"/>
                  </a:ext>
                </a:extLst>
              </a:tr>
              <a:tr h="18542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sz="1100" b="1" i="0" u="none" strike="noStrike" noProof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모델 </a:t>
                      </a:r>
                      <a:r>
                        <a:rPr lang="en-US" altLang="ko-KR" sz="1100" b="1" i="0" u="none" strike="noStrike" noProof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2</a:t>
                      </a:r>
                      <a:r>
                        <a:rPr lang="ko-KR" sz="1100" b="1" i="0" u="none" strike="noStrike" noProof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개 적용</a:t>
                      </a:r>
                      <a:endParaRPr lang="ko-KR" i="0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99.97</a:t>
                      </a:r>
                      <a:endParaRPr lang="ko-KR" altLang="en-US"/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99.89</a:t>
                      </a:r>
                      <a:endParaRPr lang="ko-KR" altLang="en-US"/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100</a:t>
                      </a:r>
                      <a:endParaRPr lang="ko-KR" altLang="en-US"/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100</a:t>
                      </a:r>
                      <a:endParaRPr lang="ko-KR" altLang="en-US"/>
                    </a:p>
                  </a:txBody>
                  <a:tcPr marL="9525" marR="9525" marT="9525" marB="0" anchor="ctr"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100</a:t>
                      </a:r>
                      <a:endParaRPr lang="ko-KR" altLang="en-US"/>
                    </a:p>
                  </a:txBody>
                  <a:tcPr marL="9525" marR="9525" marT="9525" marB="0" anchor="ctr"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99.97</a:t>
                      </a:r>
                      <a:endParaRPr lang="ko-KR" altLang="en-US"/>
                    </a:p>
                  </a:txBody>
                  <a:tcPr marL="9525" marR="9525" marT="9525" marB="0" anchor="ctr"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100</a:t>
                      </a:r>
                      <a:endParaRPr lang="ko-KR" altLang="en-US"/>
                    </a:p>
                  </a:txBody>
                  <a:tcPr marL="9525" marR="9525" marT="9525" marB="0" anchor="ctr"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99.78</a:t>
                      </a:r>
                      <a:endParaRPr lang="ko-KR" altLang="en-US"/>
                    </a:p>
                  </a:txBody>
                  <a:tcPr marL="9525" marR="9525" marT="9525" marB="0" anchor="ctr"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99.81</a:t>
                      </a:r>
                      <a:endParaRPr lang="ko-KR" altLang="en-US"/>
                    </a:p>
                  </a:txBody>
                  <a:tcPr marL="9525" marR="9525" marT="9525" marB="0" anchor="ctr"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100</a:t>
                      </a:r>
                      <a:endParaRPr lang="ko-KR" altLang="en-US"/>
                    </a:p>
                  </a:txBody>
                  <a:tcPr marL="9525" marR="9525" marT="9525" marB="0" anchor="ctr"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100</a:t>
                      </a:r>
                      <a:endParaRPr lang="ko-KR" altLang="en-US"/>
                    </a:p>
                  </a:txBody>
                  <a:tcPr marL="9525" marR="9525" marT="9525" marB="0" anchor="ctr"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100</a:t>
                      </a:r>
                      <a:endParaRPr lang="ko-KR" altLang="en-US"/>
                    </a:p>
                  </a:txBody>
                  <a:tcPr marL="9525" marR="9525" marT="9525" marB="0" anchor="ctr"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6188889"/>
                  </a:ext>
                </a:extLst>
              </a:tr>
            </a:tbl>
          </a:graphicData>
        </a:graphic>
      </p:graphicFrame>
      <p:sp>
        <p:nvSpPr>
          <p:cNvPr id="6" name="TextBox 7">
            <a:extLst>
              <a:ext uri="{FF2B5EF4-FFF2-40B4-BE49-F238E27FC236}">
                <a16:creationId xmlns:a16="http://schemas.microsoft.com/office/drawing/2014/main" id="{A0FBE3EC-582C-0488-3BF6-C43529B7B5CD}"/>
              </a:ext>
            </a:extLst>
          </p:cNvPr>
          <p:cNvSpPr txBox="1"/>
          <p:nvPr/>
        </p:nvSpPr>
        <p:spPr>
          <a:xfrm>
            <a:off x="459776" y="1463035"/>
            <a:ext cx="4567854" cy="30777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400" b="1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정확도</a:t>
            </a:r>
            <a:endParaRPr lang="en-US" altLang="ko-KR" sz="1400">
              <a:solidFill>
                <a:srgbClr val="000000"/>
              </a:solidFill>
              <a:highlight>
                <a:srgbClr val="FFFFFF"/>
              </a:highlight>
              <a:latin typeface="맑은 고딕"/>
              <a:ea typeface="맑은 고딕"/>
              <a:cs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A78FFF-8AD5-6605-28B9-F68BE0B5E2C3}"/>
              </a:ext>
            </a:extLst>
          </p:cNvPr>
          <p:cNvSpPr txBox="1"/>
          <p:nvPr/>
        </p:nvSpPr>
        <p:spPr>
          <a:xfrm>
            <a:off x="1419138" y="5539793"/>
            <a:ext cx="6300070" cy="69705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altLang="ko-KR" sz="140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- </a:t>
            </a:r>
            <a:r>
              <a:rPr lang="ko-KR" altLang="en-US" sz="140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최종적으로 정확도가 </a:t>
            </a:r>
            <a:r>
              <a:rPr lang="en-US" altLang="ko-KR" sz="140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99.42%</a:t>
            </a:r>
            <a:r>
              <a:rPr lang="ko-KR" altLang="en-US" sz="140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에서 </a:t>
            </a:r>
            <a:r>
              <a:rPr lang="en-US" altLang="ko-KR" sz="140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99.93%</a:t>
            </a:r>
            <a:r>
              <a:rPr lang="ko-KR" altLang="en-US" sz="140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로 </a:t>
            </a:r>
            <a:r>
              <a:rPr lang="en-US" altLang="ko-KR" sz="1400" b="1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0.51% </a:t>
            </a:r>
            <a:r>
              <a:rPr lang="ko-KR" altLang="en-US" sz="1400" b="1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향상</a:t>
            </a:r>
            <a:r>
              <a:rPr lang="ko-KR" altLang="en-US" sz="140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됨</a:t>
            </a:r>
            <a:r>
              <a:rPr lang="en-US" altLang="ko-KR" sz="140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.</a:t>
            </a:r>
            <a:endParaRPr lang="ko-KR" altLang="en-US"/>
          </a:p>
          <a:p>
            <a:pPr algn="l">
              <a:lnSpc>
                <a:spcPct val="150000"/>
              </a:lnSpc>
            </a:pPr>
            <a:r>
              <a:rPr lang="en-US" altLang="ko-KR" sz="140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- NG </a:t>
            </a:r>
            <a:r>
              <a:rPr lang="ko-KR" altLang="en-US" sz="140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이미지 수로는 </a:t>
            </a:r>
            <a:r>
              <a:rPr lang="en-US" altLang="ko-KR" sz="140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326</a:t>
            </a:r>
            <a:r>
              <a:rPr lang="ko-KR" altLang="en-US" sz="140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장에서 </a:t>
            </a:r>
            <a:r>
              <a:rPr lang="en-US" altLang="ko-KR" sz="140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40</a:t>
            </a:r>
            <a:r>
              <a:rPr lang="ko-KR" altLang="en-US" sz="140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장으로 줄어들어 </a:t>
            </a:r>
            <a:r>
              <a:rPr lang="ko-KR" altLang="ko-KR" sz="14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약 </a:t>
            </a:r>
            <a:r>
              <a:rPr lang="ko-KR" altLang="ko-KR" sz="1400" b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87.73% 감소</a:t>
            </a:r>
            <a:r>
              <a:rPr lang="ko-KR" altLang="ko-KR" sz="14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함</a:t>
            </a:r>
            <a:r>
              <a:rPr lang="en-US" altLang="ko-KR" sz="140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.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D1662151-75C9-C65B-E747-CE9AB634B5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6566577"/>
              </p:ext>
            </p:extLst>
          </p:nvPr>
        </p:nvGraphicFramePr>
        <p:xfrm>
          <a:off x="457199" y="2620017"/>
          <a:ext cx="6418125" cy="7416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40310">
                  <a:extLst>
                    <a:ext uri="{9D8B030D-6E8A-4147-A177-3AD203B41FA5}">
                      <a16:colId xmlns:a16="http://schemas.microsoft.com/office/drawing/2014/main" val="3465333988"/>
                    </a:ext>
                  </a:extLst>
                </a:gridCol>
                <a:gridCol w="597535">
                  <a:extLst>
                    <a:ext uri="{9D8B030D-6E8A-4147-A177-3AD203B41FA5}">
                      <a16:colId xmlns:a16="http://schemas.microsoft.com/office/drawing/2014/main" val="4264502895"/>
                    </a:ext>
                  </a:extLst>
                </a:gridCol>
                <a:gridCol w="597535">
                  <a:extLst>
                    <a:ext uri="{9D8B030D-6E8A-4147-A177-3AD203B41FA5}">
                      <a16:colId xmlns:a16="http://schemas.microsoft.com/office/drawing/2014/main" val="630831454"/>
                    </a:ext>
                  </a:extLst>
                </a:gridCol>
                <a:gridCol w="597535">
                  <a:extLst>
                    <a:ext uri="{9D8B030D-6E8A-4147-A177-3AD203B41FA5}">
                      <a16:colId xmlns:a16="http://schemas.microsoft.com/office/drawing/2014/main" val="1523974537"/>
                    </a:ext>
                  </a:extLst>
                </a:gridCol>
                <a:gridCol w="597535">
                  <a:extLst>
                    <a:ext uri="{9D8B030D-6E8A-4147-A177-3AD203B41FA5}">
                      <a16:colId xmlns:a16="http://schemas.microsoft.com/office/drawing/2014/main" val="2089784118"/>
                    </a:ext>
                  </a:extLst>
                </a:gridCol>
                <a:gridCol w="597535">
                  <a:extLst>
                    <a:ext uri="{9D8B030D-6E8A-4147-A177-3AD203B41FA5}">
                      <a16:colId xmlns:a16="http://schemas.microsoft.com/office/drawing/2014/main" val="1279885540"/>
                    </a:ext>
                  </a:extLst>
                </a:gridCol>
                <a:gridCol w="597535">
                  <a:extLst>
                    <a:ext uri="{9D8B030D-6E8A-4147-A177-3AD203B41FA5}">
                      <a16:colId xmlns:a16="http://schemas.microsoft.com/office/drawing/2014/main" val="755500958"/>
                    </a:ext>
                  </a:extLst>
                </a:gridCol>
                <a:gridCol w="597535">
                  <a:extLst>
                    <a:ext uri="{9D8B030D-6E8A-4147-A177-3AD203B41FA5}">
                      <a16:colId xmlns:a16="http://schemas.microsoft.com/office/drawing/2014/main" val="2193204835"/>
                    </a:ext>
                  </a:extLst>
                </a:gridCol>
                <a:gridCol w="597535">
                  <a:extLst>
                    <a:ext uri="{9D8B030D-6E8A-4147-A177-3AD203B41FA5}">
                      <a16:colId xmlns:a16="http://schemas.microsoft.com/office/drawing/2014/main" val="944709678"/>
                    </a:ext>
                  </a:extLst>
                </a:gridCol>
                <a:gridCol w="597535">
                  <a:extLst>
                    <a:ext uri="{9D8B030D-6E8A-4147-A177-3AD203B41FA5}">
                      <a16:colId xmlns:a16="http://schemas.microsoft.com/office/drawing/2014/main" val="3075026627"/>
                    </a:ext>
                  </a:extLst>
                </a:gridCol>
              </a:tblGrid>
              <a:tr h="18542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u="none" strike="noStrike">
                          <a:effectLst/>
                        </a:rPr>
                        <a:t>구분</a:t>
                      </a:r>
                      <a:endParaRPr lang="ko-KR" altLang="en-US" sz="11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1/1</a:t>
                      </a:r>
                      <a:endParaRPr lang="ko-KR" altLang="en-US" sz="1100" b="1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1/2</a:t>
                      </a:r>
                      <a:endParaRPr lang="ko-KR" altLang="en-US" sz="1100" b="1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1/3</a:t>
                      </a:r>
                      <a:endParaRPr lang="ko-KR" altLang="en-US" sz="1100" b="1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1/4</a:t>
                      </a:r>
                      <a:endParaRPr lang="ko-KR" altLang="en-US" sz="1100" b="1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1/6</a:t>
                      </a:r>
                      <a:endParaRPr lang="ko-KR" altLang="en-US" sz="1100" b="1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1/7</a:t>
                      </a:r>
                      <a:endParaRPr lang="ko-KR" altLang="en-US" sz="1100" b="1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1/8</a:t>
                      </a:r>
                      <a:endParaRPr lang="ko-KR" altLang="en-US" sz="1100" b="1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1/9</a:t>
                      </a:r>
                      <a:endParaRPr lang="ko-KR" altLang="en-US" sz="1100" b="1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1/10</a:t>
                      </a:r>
                      <a:endParaRPr lang="ko-KR" altLang="en-US" sz="1100" b="1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3042726"/>
                  </a:ext>
                </a:extLst>
              </a:tr>
              <a:tr h="18542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적용 전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99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99.53</a:t>
                      </a:r>
                    </a:p>
                  </a:txBody>
                  <a:tcPr marL="9525" marR="9525" marT="9525" marB="0" anchor="ctr"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98.98</a:t>
                      </a:r>
                    </a:p>
                  </a:txBody>
                  <a:tcPr marL="9525" marR="9525" marT="9525" marB="0" anchor="ctr"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99.49</a:t>
                      </a:r>
                    </a:p>
                  </a:txBody>
                  <a:tcPr marL="9525" marR="9525" marT="9525" marB="0" anchor="ctr"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100</a:t>
                      </a:r>
                    </a:p>
                  </a:txBody>
                  <a:tcPr marL="9525" marR="9525" marT="9525" marB="0" anchor="ctr"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98.26</a:t>
                      </a:r>
                    </a:p>
                  </a:txBody>
                  <a:tcPr marL="9525" marR="9525" marT="9525" marB="0" anchor="ctr"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99.45</a:t>
                      </a:r>
                    </a:p>
                  </a:txBody>
                  <a:tcPr marL="9525" marR="9525" marT="9525" marB="0" anchor="ctr"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5590858"/>
                  </a:ext>
                </a:extLst>
              </a:tr>
              <a:tr h="18542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u="none" strike="noStrike">
                          <a:effectLst/>
                        </a:rPr>
                        <a:t>모델 1개 적용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99.92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99.97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100</a:t>
                      </a:r>
                    </a:p>
                  </a:txBody>
                  <a:tcPr marL="9525" marR="9525" marT="9525" marB="0" anchor="ctr"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99.76</a:t>
                      </a:r>
                    </a:p>
                  </a:txBody>
                  <a:tcPr marL="9525" marR="9525" marT="9525" marB="0" anchor="ctr"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99.96</a:t>
                      </a:r>
                    </a:p>
                  </a:txBody>
                  <a:tcPr marL="9525" marR="9525" marT="9525" marB="0" anchor="ctr"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99.9</a:t>
                      </a:r>
                    </a:p>
                  </a:txBody>
                  <a:tcPr marL="9525" marR="9525" marT="9525" marB="0" anchor="ctr"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99.56</a:t>
                      </a:r>
                    </a:p>
                  </a:txBody>
                  <a:tcPr marL="9525" marR="9525" marT="9525" marB="0" anchor="ctr"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99.96</a:t>
                      </a:r>
                    </a:p>
                  </a:txBody>
                  <a:tcPr marL="9525" marR="9525" marT="9525" marB="0" anchor="ctr"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7617359"/>
                  </a:ext>
                </a:extLst>
              </a:tr>
              <a:tr h="18542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sz="1100" b="1" i="0" u="none" strike="noStrike" noProof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모델 </a:t>
                      </a:r>
                      <a:r>
                        <a:rPr lang="en-US" altLang="ko-KR" sz="1100" b="1" i="0" u="none" strike="noStrike" noProof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2</a:t>
                      </a:r>
                      <a:r>
                        <a:rPr lang="ko-KR" altLang="en-US" sz="1100" b="1" i="0" u="none" strike="noStrike" noProof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개 </a:t>
                      </a:r>
                      <a:r>
                        <a:rPr lang="ko-KR" altLang="en-US" sz="1100" b="1" u="none" strike="noStrike">
                          <a:effectLst/>
                        </a:rPr>
                        <a:t>적용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100</a:t>
                      </a:r>
                      <a:endParaRPr lang="ko-KR" altLang="en-US"/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100</a:t>
                      </a:r>
                      <a:endParaRPr lang="ko-KR" altLang="en-US"/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99.97</a:t>
                      </a:r>
                      <a:endParaRPr lang="ko-KR" altLang="en-US"/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100</a:t>
                      </a:r>
                      <a:endParaRPr lang="ko-KR" altLang="en-US"/>
                    </a:p>
                  </a:txBody>
                  <a:tcPr marL="9525" marR="9525" marT="9525" marB="0" anchor="ctr"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99.82</a:t>
                      </a:r>
                      <a:endParaRPr lang="ko-KR" altLang="en-US"/>
                    </a:p>
                  </a:txBody>
                  <a:tcPr marL="9525" marR="9525" marT="9525" marB="0" anchor="ctr"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99.96</a:t>
                      </a:r>
                      <a:endParaRPr lang="ko-KR" altLang="en-US"/>
                    </a:p>
                  </a:txBody>
                  <a:tcPr marL="9525" marR="9525" marT="9525" marB="0" anchor="ctr"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100</a:t>
                      </a:r>
                      <a:endParaRPr lang="ko-KR" altLang="en-US"/>
                    </a:p>
                  </a:txBody>
                  <a:tcPr marL="9525" marR="9525" marT="9525" marB="0" anchor="ctr"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99.56</a:t>
                      </a:r>
                      <a:endParaRPr lang="ko-KR" altLang="en-US"/>
                    </a:p>
                  </a:txBody>
                  <a:tcPr marL="9525" marR="9525" marT="9525" marB="0" anchor="ctr"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99.96</a:t>
                      </a:r>
                      <a:endParaRPr lang="ko-KR" altLang="en-US"/>
                    </a:p>
                  </a:txBody>
                  <a:tcPr marL="9525" marR="9525" marT="9525" marB="0" anchor="ctr"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6188889"/>
                  </a:ext>
                </a:extLst>
              </a:tr>
            </a:tbl>
          </a:graphicData>
        </a:graphic>
      </p:graphicFrame>
      <p:grpSp>
        <p:nvGrpSpPr>
          <p:cNvPr id="20" name="그룹 19">
            <a:extLst>
              <a:ext uri="{FF2B5EF4-FFF2-40B4-BE49-F238E27FC236}">
                <a16:creationId xmlns:a16="http://schemas.microsoft.com/office/drawing/2014/main" id="{42F7143D-4EF0-D143-DC57-E12CD69C61E1}"/>
              </a:ext>
            </a:extLst>
          </p:cNvPr>
          <p:cNvGrpSpPr/>
          <p:nvPr/>
        </p:nvGrpSpPr>
        <p:grpSpPr>
          <a:xfrm>
            <a:off x="1177224" y="3445179"/>
            <a:ext cx="6957790" cy="2171180"/>
            <a:chOff x="1576003" y="3569417"/>
            <a:chExt cx="6709312" cy="1972398"/>
          </a:xfrm>
        </p:grpSpPr>
        <p:pic>
          <p:nvPicPr>
            <p:cNvPr id="5" name="그림 4" descr="텍스트, 라인, 그래프, 도표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B1CF145B-483C-DBCF-D0A3-B808744592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915" t="7600" b="4497"/>
            <a:stretch>
              <a:fillRect/>
            </a:stretch>
          </p:blipFill>
          <p:spPr>
            <a:xfrm>
              <a:off x="1576003" y="3569747"/>
              <a:ext cx="5535049" cy="1972068"/>
            </a:xfrm>
            <a:prstGeom prst="rect">
              <a:avLst/>
            </a:prstGeom>
          </p:spPr>
        </p:pic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848AD833-49F6-5387-EF88-51EE25696CCA}"/>
                </a:ext>
              </a:extLst>
            </p:cNvPr>
            <p:cNvGrpSpPr/>
            <p:nvPr/>
          </p:nvGrpSpPr>
          <p:grpSpPr>
            <a:xfrm>
              <a:off x="7175648" y="3569417"/>
              <a:ext cx="1109667" cy="215444"/>
              <a:chOff x="7271341" y="3601315"/>
              <a:chExt cx="1109667" cy="215444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304C1F4-ACBC-3670-6346-C7A384467583}"/>
                  </a:ext>
                </a:extLst>
              </p:cNvPr>
              <p:cNvSpPr txBox="1"/>
              <p:nvPr/>
            </p:nvSpPr>
            <p:spPr>
              <a:xfrm>
                <a:off x="7325935" y="3601315"/>
                <a:ext cx="1055073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ko-KR" altLang="en-US" sz="800" b="1">
                    <a:solidFill>
                      <a:schemeClr val="tx1"/>
                    </a:solidFill>
                    <a:latin typeface="Arial"/>
                    <a:ea typeface="맑은 고딕"/>
                    <a:cs typeface="Arial"/>
                  </a:rPr>
                  <a:t>적용 전</a:t>
                </a:r>
                <a:endParaRPr lang="ko-KR" altLang="en-US" sz="800" b="1">
                  <a:solidFill>
                    <a:schemeClr val="tx1"/>
                  </a:solidFill>
                  <a:ea typeface="맑은 고딕"/>
                  <a:cs typeface="Arial"/>
                </a:endParaRPr>
              </a:p>
            </p:txBody>
          </p:sp>
          <p:sp>
            <p:nvSpPr>
              <p:cNvPr id="12" name="타원 11">
                <a:extLst>
                  <a:ext uri="{FF2B5EF4-FFF2-40B4-BE49-F238E27FC236}">
                    <a16:creationId xmlns:a16="http://schemas.microsoft.com/office/drawing/2014/main" id="{B0C27CAC-740D-28DD-CFD3-77579685B98B}"/>
                  </a:ext>
                </a:extLst>
              </p:cNvPr>
              <p:cNvSpPr/>
              <p:nvPr/>
            </p:nvSpPr>
            <p:spPr bwMode="auto">
              <a:xfrm>
                <a:off x="7271341" y="3640322"/>
                <a:ext cx="106327" cy="106326"/>
              </a:xfrm>
              <a:prstGeom prst="ellipse">
                <a:avLst/>
              </a:prstGeom>
              <a:solidFill>
                <a:srgbClr val="351EAD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ko-KR" altLang="en-US" sz="1800" b="0" i="0" u="none" strike="noStrike" cap="none" normalizeH="0" baseline="0">
                  <a:ln>
                    <a:noFill/>
                  </a:ln>
                  <a:solidFill>
                    <a:srgbClr val="00C0C0"/>
                  </a:solidFill>
                  <a:effectLst/>
                  <a:latin typeface="Arial" charset="0"/>
                </a:endParaRPr>
              </a:p>
            </p:txBody>
          </p:sp>
        </p:grp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9E0927AA-0DD2-C0EB-956B-DEE35D12183F}"/>
                </a:ext>
              </a:extLst>
            </p:cNvPr>
            <p:cNvGrpSpPr/>
            <p:nvPr/>
          </p:nvGrpSpPr>
          <p:grpSpPr>
            <a:xfrm>
              <a:off x="7175648" y="3782068"/>
              <a:ext cx="1109667" cy="215444"/>
              <a:chOff x="7271341" y="3601315"/>
              <a:chExt cx="1109667" cy="215444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7E386BC-8C4F-7FAC-7987-0EF53973E077}"/>
                  </a:ext>
                </a:extLst>
              </p:cNvPr>
              <p:cNvSpPr txBox="1"/>
              <p:nvPr/>
            </p:nvSpPr>
            <p:spPr>
              <a:xfrm>
                <a:off x="7325935" y="3601315"/>
                <a:ext cx="1055073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ko-KR" sz="800" b="1">
                    <a:solidFill>
                      <a:schemeClr val="tx1"/>
                    </a:solidFill>
                    <a:latin typeface="Arial"/>
                    <a:ea typeface="맑은 고딕"/>
                    <a:cs typeface="Arial"/>
                  </a:rPr>
                  <a:t>모델 1개 적용</a:t>
                </a:r>
                <a:endParaRPr lang="ko-KR" b="1">
                  <a:solidFill>
                    <a:schemeClr val="tx1"/>
                  </a:solidFill>
                  <a:ea typeface="맑은 고딕"/>
                  <a:cs typeface="Arial"/>
                </a:endParaRPr>
              </a:p>
            </p:txBody>
          </p:sp>
          <p:sp>
            <p:nvSpPr>
              <p:cNvPr id="16" name="타원 15">
                <a:extLst>
                  <a:ext uri="{FF2B5EF4-FFF2-40B4-BE49-F238E27FC236}">
                    <a16:creationId xmlns:a16="http://schemas.microsoft.com/office/drawing/2014/main" id="{92994F1E-E4E9-AE1A-E84B-4157EA892ED0}"/>
                  </a:ext>
                </a:extLst>
              </p:cNvPr>
              <p:cNvSpPr/>
              <p:nvPr/>
            </p:nvSpPr>
            <p:spPr bwMode="auto">
              <a:xfrm>
                <a:off x="7271341" y="3640322"/>
                <a:ext cx="106327" cy="106326"/>
              </a:xfrm>
              <a:prstGeom prst="ellipse">
                <a:avLst/>
              </a:prstGeom>
              <a:solidFill>
                <a:srgbClr val="506720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ko-KR" altLang="en-US" sz="1800" b="0" i="0" u="none" strike="noStrike" cap="none" normalizeH="0" baseline="0">
                  <a:ln>
                    <a:noFill/>
                  </a:ln>
                  <a:solidFill>
                    <a:srgbClr val="00C0C0"/>
                  </a:solidFill>
                  <a:effectLst/>
                  <a:latin typeface="Arial" charset="0"/>
                </a:endParaRPr>
              </a:p>
            </p:txBody>
          </p:sp>
        </p:grp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B8C8AED4-8FBF-A211-7FA5-842907C823CC}"/>
                </a:ext>
              </a:extLst>
            </p:cNvPr>
            <p:cNvGrpSpPr/>
            <p:nvPr/>
          </p:nvGrpSpPr>
          <p:grpSpPr>
            <a:xfrm>
              <a:off x="7175648" y="3994719"/>
              <a:ext cx="1109667" cy="215444"/>
              <a:chOff x="7271341" y="3601315"/>
              <a:chExt cx="1109667" cy="215444"/>
            </a:xfrm>
          </p:grpSpPr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7887F4B-D909-8D39-ECBE-0DEA7D701B3F}"/>
                  </a:ext>
                </a:extLst>
              </p:cNvPr>
              <p:cNvSpPr txBox="1"/>
              <p:nvPr/>
            </p:nvSpPr>
            <p:spPr>
              <a:xfrm>
                <a:off x="7325935" y="3601315"/>
                <a:ext cx="1055073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ko-KR" sz="800" b="1">
                    <a:solidFill>
                      <a:schemeClr val="tx1"/>
                    </a:solidFill>
                    <a:latin typeface="Arial"/>
                    <a:ea typeface="맑은 고딕"/>
                    <a:cs typeface="Arial"/>
                  </a:rPr>
                  <a:t>모델 </a:t>
                </a:r>
                <a:r>
                  <a:rPr lang="en-US" altLang="ko-KR" sz="800" b="1">
                    <a:solidFill>
                      <a:schemeClr val="tx1"/>
                    </a:solidFill>
                    <a:latin typeface="Arial"/>
                    <a:ea typeface="맑은 고딕"/>
                    <a:cs typeface="Arial"/>
                  </a:rPr>
                  <a:t>2</a:t>
                </a:r>
                <a:r>
                  <a:rPr lang="ko-KR" sz="800" b="1">
                    <a:solidFill>
                      <a:schemeClr val="tx1"/>
                    </a:solidFill>
                    <a:latin typeface="Arial"/>
                    <a:ea typeface="맑은 고딕"/>
                    <a:cs typeface="Arial"/>
                  </a:rPr>
                  <a:t>개 적용</a:t>
                </a:r>
                <a:endParaRPr lang="ko-KR" b="1">
                  <a:solidFill>
                    <a:schemeClr val="tx1"/>
                  </a:solidFill>
                  <a:ea typeface="맑은 고딕"/>
                  <a:cs typeface="Arial"/>
                </a:endParaRPr>
              </a:p>
            </p:txBody>
          </p:sp>
          <p:sp>
            <p:nvSpPr>
              <p:cNvPr id="19" name="타원 18">
                <a:extLst>
                  <a:ext uri="{FF2B5EF4-FFF2-40B4-BE49-F238E27FC236}">
                    <a16:creationId xmlns:a16="http://schemas.microsoft.com/office/drawing/2014/main" id="{ED045D2C-FD33-2F41-E35C-CAAB993DCE8D}"/>
                  </a:ext>
                </a:extLst>
              </p:cNvPr>
              <p:cNvSpPr/>
              <p:nvPr/>
            </p:nvSpPr>
            <p:spPr bwMode="auto">
              <a:xfrm>
                <a:off x="7271341" y="3640322"/>
                <a:ext cx="106327" cy="106326"/>
              </a:xfrm>
              <a:prstGeom prst="ellipse">
                <a:avLst/>
              </a:prstGeom>
              <a:solidFill>
                <a:srgbClr val="D45045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ko-KR" altLang="en-US" sz="1800" b="0" i="0" u="none" strike="noStrike" cap="none" normalizeH="0" baseline="0">
                  <a:ln>
                    <a:noFill/>
                  </a:ln>
                  <a:solidFill>
                    <a:srgbClr val="00C0C0"/>
                  </a:solidFill>
                  <a:effectLst/>
                  <a:latin typeface="Arial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43912297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6D6DD-56E2-D5F2-0ECE-CDAA43790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C410011B-75B5-E6F7-60F9-58CEB4EFB5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12" y="1088974"/>
            <a:ext cx="4060579" cy="330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ko-KR" altLang="en-US" sz="1800" kern="0">
                <a:solidFill>
                  <a:schemeClr val="accent1">
                    <a:lumMod val="75000"/>
                  </a:schemeClr>
                </a:solidFill>
              </a:rPr>
              <a:t>실험 결과</a:t>
            </a:r>
            <a:endParaRPr lang="en-US" altLang="ko-KR" sz="1800" kern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2DD9067-2614-41EA-D76F-E3978286C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결과</a:t>
            </a:r>
            <a:r>
              <a:rPr lang="en-US" altLang="ko-KR"/>
              <a:t> </a:t>
            </a:r>
            <a:r>
              <a:rPr lang="ko-KR" altLang="en-US"/>
              <a:t>및 분석 </a:t>
            </a:r>
            <a:r>
              <a:rPr lang="en-US" altLang="ko-KR"/>
              <a:t>(Results &amp; Analysis)</a:t>
            </a:r>
            <a:endParaRPr lang="ko-KR" altLang="en-US"/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DAEE683F-7F5F-BA05-538C-92287B946482}"/>
              </a:ext>
            </a:extLst>
          </p:cNvPr>
          <p:cNvSpPr txBox="1"/>
          <p:nvPr/>
        </p:nvSpPr>
        <p:spPr>
          <a:xfrm>
            <a:off x="459776" y="1550584"/>
            <a:ext cx="4567854" cy="30777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400" b="1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Confusion Matrix </a:t>
            </a:r>
            <a:r>
              <a:rPr lang="ko-KR" altLang="en-US" sz="1400" b="1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그래프</a:t>
            </a:r>
            <a:endParaRPr lang="en-US" altLang="ko-KR" sz="1400">
              <a:solidFill>
                <a:srgbClr val="000000"/>
              </a:solidFill>
              <a:highlight>
                <a:srgbClr val="FFFFFF"/>
              </a:highlight>
              <a:latin typeface="맑은 고딕"/>
              <a:ea typeface="맑은 고딕"/>
              <a:cs typeface="Arial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A50A308-1420-5894-E955-0D367C17F09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6675"/>
          <a:stretch>
            <a:fillRect/>
          </a:stretch>
        </p:blipFill>
        <p:spPr>
          <a:xfrm>
            <a:off x="6317224" y="2199332"/>
            <a:ext cx="2240596" cy="210363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40124FFC-C5D9-4C47-5FC9-5D09F011475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5892"/>
          <a:stretch>
            <a:fillRect/>
          </a:stretch>
        </p:blipFill>
        <p:spPr>
          <a:xfrm>
            <a:off x="747470" y="2196192"/>
            <a:ext cx="2248878" cy="2101564"/>
          </a:xfrm>
          <a:prstGeom prst="rect">
            <a:avLst/>
          </a:prstGeom>
        </p:spPr>
      </p:pic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276A689B-F3CC-8D8C-74CC-D96FA0C57D6B}"/>
              </a:ext>
            </a:extLst>
          </p:cNvPr>
          <p:cNvCxnSpPr>
            <a:cxnSpLocks/>
          </p:cNvCxnSpPr>
          <p:nvPr/>
        </p:nvCxnSpPr>
        <p:spPr>
          <a:xfrm>
            <a:off x="3265323" y="3207635"/>
            <a:ext cx="230995" cy="0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663E5D9-B8B2-1AAB-9906-13DA0014D2CB}"/>
              </a:ext>
            </a:extLst>
          </p:cNvPr>
          <p:cNvSpPr txBox="1"/>
          <p:nvPr/>
        </p:nvSpPr>
        <p:spPr>
          <a:xfrm>
            <a:off x="1377626" y="4549327"/>
            <a:ext cx="990011" cy="30777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9pPr>
          </a:lstStyle>
          <a:p>
            <a:r>
              <a:rPr lang="ko-KR" altLang="en-US" sz="14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변경 전</a:t>
            </a:r>
            <a:endParaRPr lang="en-US" altLang="ko-KR" sz="1400">
              <a:solidFill>
                <a:srgbClr val="000000"/>
              </a:solidFill>
              <a:latin typeface="맑은 고딕"/>
              <a:ea typeface="맑은 고딕"/>
              <a:cs typeface="Arial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C84B58E-31E0-57E8-78E6-10120DA8A987}"/>
              </a:ext>
            </a:extLst>
          </p:cNvPr>
          <p:cNvSpPr txBox="1"/>
          <p:nvPr/>
        </p:nvSpPr>
        <p:spPr>
          <a:xfrm>
            <a:off x="6724517" y="4549327"/>
            <a:ext cx="1612581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9pPr>
          </a:lstStyle>
          <a:p>
            <a:r>
              <a:rPr lang="ko-KR" sz="1400">
                <a:solidFill>
                  <a:srgbClr val="000000"/>
                </a:solidFill>
                <a:latin typeface="Malgun Gothic"/>
                <a:ea typeface="Malgun Gothic"/>
                <a:cs typeface="Arial"/>
              </a:rPr>
              <a:t>모델 </a:t>
            </a:r>
            <a:r>
              <a:rPr lang="en-US" altLang="ko-KR" sz="1400">
                <a:solidFill>
                  <a:srgbClr val="000000"/>
                </a:solidFill>
                <a:latin typeface="Malgun Gothic"/>
                <a:ea typeface="Malgun Gothic"/>
                <a:cs typeface="Arial"/>
              </a:rPr>
              <a:t>2</a:t>
            </a:r>
            <a:r>
              <a:rPr lang="ko-KR" sz="1400">
                <a:solidFill>
                  <a:srgbClr val="000000"/>
                </a:solidFill>
                <a:latin typeface="Malgun Gothic"/>
                <a:ea typeface="Malgun Gothic"/>
                <a:cs typeface="Arial"/>
              </a:rPr>
              <a:t>개 적용</a:t>
            </a:r>
          </a:p>
          <a:p>
            <a:endParaRPr lang="ko-KR" altLang="en-US" sz="1400">
              <a:solidFill>
                <a:srgbClr val="000000"/>
              </a:solidFill>
              <a:latin typeface="맑은 고딕"/>
              <a:ea typeface="맑은 고딕"/>
              <a:cs typeface="Arial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B3B98C8-E3A0-5313-2450-E7417142282E}"/>
              </a:ext>
            </a:extLst>
          </p:cNvPr>
          <p:cNvSpPr/>
          <p:nvPr/>
        </p:nvSpPr>
        <p:spPr bwMode="auto">
          <a:xfrm>
            <a:off x="1002657" y="2202390"/>
            <a:ext cx="1014371" cy="949333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rgbClr val="00C0C0"/>
              </a:solidFill>
              <a:effectLst/>
              <a:latin typeface="Arial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ED7FD97-A3A2-A429-3DEA-0302AC43D1AB}"/>
              </a:ext>
            </a:extLst>
          </p:cNvPr>
          <p:cNvSpPr/>
          <p:nvPr/>
        </p:nvSpPr>
        <p:spPr bwMode="auto">
          <a:xfrm>
            <a:off x="6535891" y="2206003"/>
            <a:ext cx="993801" cy="955449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rgbClr val="00C0C0"/>
              </a:solidFill>
              <a:effectLst/>
              <a:latin typeface="Arial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420FE7E-0D9F-DB9B-A51A-BBC512F26547}"/>
              </a:ext>
            </a:extLst>
          </p:cNvPr>
          <p:cNvSpPr txBox="1"/>
          <p:nvPr/>
        </p:nvSpPr>
        <p:spPr>
          <a:xfrm>
            <a:off x="1001143" y="5247241"/>
            <a:ext cx="6300070" cy="738664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9pPr>
          </a:lstStyle>
          <a:p>
            <a:pPr marL="285750" indent="-285750" algn="l">
              <a:buFontTx/>
              <a:buChar char="-"/>
            </a:pPr>
            <a:r>
              <a:rPr lang="ko-KR" altLang="en-US" sz="140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개선된 </a:t>
            </a:r>
            <a:r>
              <a:rPr lang="en-US" altLang="ko-KR" sz="140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27</a:t>
            </a:r>
            <a:r>
              <a:rPr lang="ko-KR" altLang="en-US" sz="140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산의 각도 분류 쪽에서 많이 개선된 것을 확인할 수 있다</a:t>
            </a:r>
            <a:r>
              <a:rPr lang="en-US" altLang="ko-KR" sz="140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.</a:t>
            </a:r>
          </a:p>
          <a:p>
            <a:pPr marL="285750" indent="-285750" algn="l">
              <a:buFontTx/>
              <a:buChar char="-"/>
            </a:pPr>
            <a:r>
              <a:rPr lang="en-US" altLang="ko-KR" sz="1400" err="1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모델</a:t>
            </a:r>
            <a:r>
              <a:rPr lang="en-US" altLang="ko-KR" sz="140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 1개 </a:t>
            </a:r>
            <a:r>
              <a:rPr lang="en-US" altLang="ko-KR" sz="1400" err="1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적용시</a:t>
            </a:r>
            <a:r>
              <a:rPr lang="en-US" altLang="ko-KR" sz="140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 </a:t>
            </a:r>
            <a:r>
              <a:rPr lang="en-US" altLang="ko-KR" sz="1400" err="1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각도</a:t>
            </a:r>
            <a:r>
              <a:rPr lang="en-US" altLang="ko-KR" sz="140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 </a:t>
            </a:r>
            <a:r>
              <a:rPr lang="en-US" altLang="ko-KR" sz="1400" err="1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분류에</a:t>
            </a:r>
            <a:r>
              <a:rPr lang="en-US" altLang="ko-KR" sz="140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 </a:t>
            </a:r>
            <a:r>
              <a:rPr lang="en-US" altLang="ko-KR" sz="1400" err="1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NG수는</a:t>
            </a:r>
            <a:r>
              <a:rPr lang="en-US" altLang="ko-KR" sz="140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 12개</a:t>
            </a:r>
          </a:p>
          <a:p>
            <a:pPr marL="285750" indent="-285750" algn="l">
              <a:buFontTx/>
              <a:buChar char="-"/>
            </a:pPr>
            <a:r>
              <a:rPr lang="en-US" altLang="ko-KR" sz="1400" err="1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모델</a:t>
            </a:r>
            <a:r>
              <a:rPr lang="en-US" altLang="ko-KR" sz="140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 2개 </a:t>
            </a:r>
            <a:r>
              <a:rPr lang="en-US" altLang="ko-KR" sz="1400" err="1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적용시</a:t>
            </a:r>
            <a:r>
              <a:rPr lang="en-US" altLang="ko-KR" sz="140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 </a:t>
            </a:r>
            <a:r>
              <a:rPr lang="en-US" altLang="ko-KR" sz="1400" err="1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각도</a:t>
            </a:r>
            <a:r>
              <a:rPr lang="en-US" altLang="ko-KR" sz="140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 </a:t>
            </a:r>
            <a:r>
              <a:rPr lang="en-US" altLang="ko-KR" sz="1400" err="1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분류에</a:t>
            </a:r>
            <a:r>
              <a:rPr lang="en-US" altLang="ko-KR" sz="140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 </a:t>
            </a:r>
            <a:r>
              <a:rPr lang="en-US" altLang="ko-KR" sz="1400" err="1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NG수는</a:t>
            </a:r>
            <a:r>
              <a:rPr lang="en-US" altLang="ko-KR" sz="140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 6개로 </a:t>
            </a:r>
            <a:r>
              <a:rPr lang="en-US" altLang="ko-KR" sz="1400" b="1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2배</a:t>
            </a:r>
            <a:r>
              <a:rPr lang="en-US" altLang="ko-KR" sz="140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가 </a:t>
            </a:r>
            <a:r>
              <a:rPr lang="en-US" altLang="ko-KR" sz="1400" err="1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차이가</a:t>
            </a:r>
            <a:r>
              <a:rPr lang="en-US" altLang="ko-KR" sz="140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 </a:t>
            </a:r>
            <a:r>
              <a:rPr lang="ko-KR" altLang="en-US" sz="140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남</a:t>
            </a:r>
            <a:endParaRPr lang="en-US" altLang="ko-KR" sz="1400">
              <a:solidFill>
                <a:srgbClr val="000000"/>
              </a:solidFill>
              <a:highlight>
                <a:srgbClr val="FFFFFF"/>
              </a:highlight>
              <a:latin typeface="맑은 고딕"/>
              <a:ea typeface="맑은 고딕"/>
              <a:cs typeface="Arial"/>
            </a:endParaRPr>
          </a:p>
        </p:txBody>
      </p:sp>
      <p:pic>
        <p:nvPicPr>
          <p:cNvPr id="3" name="그림 2" descr="텍스트, 스크린샷, 폰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7B5DD1F-D50D-C761-C971-2C9B04A027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0153" y="2209293"/>
            <a:ext cx="2246886" cy="2098945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FFDA4664-0B93-6009-B4A8-0F6921020EAA}"/>
              </a:ext>
            </a:extLst>
          </p:cNvPr>
          <p:cNvSpPr/>
          <p:nvPr/>
        </p:nvSpPr>
        <p:spPr bwMode="auto">
          <a:xfrm>
            <a:off x="3695414" y="2206003"/>
            <a:ext cx="1042439" cy="1004086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rgbClr val="00C0C0"/>
              </a:solidFill>
              <a:effectLst/>
              <a:latin typeface="Arial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4A8E2A-08F5-2FDF-E8E9-E920B8D44C13}"/>
              </a:ext>
            </a:extLst>
          </p:cNvPr>
          <p:cNvSpPr txBox="1"/>
          <p:nvPr/>
        </p:nvSpPr>
        <p:spPr>
          <a:xfrm>
            <a:off x="3971587" y="4549326"/>
            <a:ext cx="1437483" cy="30777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9pPr>
          </a:lstStyle>
          <a:p>
            <a:r>
              <a:rPr lang="ko-KR" altLang="en-US" sz="14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모델 1개 적용</a:t>
            </a:r>
          </a:p>
        </p:txBody>
      </p:sp>
    </p:spTree>
    <p:extLst>
      <p:ext uri="{BB962C8B-B14F-4D97-AF65-F5344CB8AC3E}">
        <p14:creationId xmlns:p14="http://schemas.microsoft.com/office/powerpoint/2010/main" val="3263193141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FA76A-1ED7-D4CB-C34D-00273B4D1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4CCF69B8-1F33-0D91-1CD8-EE497BD96B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12" y="1088974"/>
            <a:ext cx="4060579" cy="330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 marL="241300" indent="-241300">
              <a:lnSpc>
                <a:spcPct val="130000"/>
              </a:lnSpc>
              <a:spcBef>
                <a:spcPts val="600"/>
              </a:spcBef>
            </a:pPr>
            <a:r>
              <a:rPr lang="ko-KR" altLang="en-US" sz="1800" kern="0">
                <a:solidFill>
                  <a:schemeClr val="accent1">
                    <a:lumMod val="75000"/>
                  </a:schemeClr>
                </a:solidFill>
                <a:latin typeface="Corbel"/>
                <a:ea typeface="맑은 고딕"/>
              </a:rPr>
              <a:t> 실험 분석 및 결론</a:t>
            </a:r>
            <a:endParaRPr lang="en-US" altLang="ko-KR" sz="1800" kern="0">
              <a:solidFill>
                <a:schemeClr val="accent1">
                  <a:lumMod val="75000"/>
                </a:schemeClr>
              </a:solidFill>
              <a:latin typeface="Corbel"/>
              <a:ea typeface="맑은 고딕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E9D70D9-292C-1DF0-A4F2-60AFA38A2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결과</a:t>
            </a:r>
            <a:r>
              <a:rPr lang="en-US" altLang="ko-KR"/>
              <a:t> </a:t>
            </a:r>
            <a:r>
              <a:rPr lang="ko-KR" altLang="en-US"/>
              <a:t>및 분석 </a:t>
            </a:r>
            <a:r>
              <a:rPr lang="en-US" altLang="ko-KR"/>
              <a:t>(Results &amp; Analysis)</a:t>
            </a: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B5C318-2DFC-816B-B9EF-F19EFBAC78FA}"/>
              </a:ext>
            </a:extLst>
          </p:cNvPr>
          <p:cNvSpPr txBox="1"/>
          <p:nvPr/>
        </p:nvSpPr>
        <p:spPr>
          <a:xfrm>
            <a:off x="529356" y="1579050"/>
            <a:ext cx="7871282" cy="275569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sz="13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- </a:t>
            </a:r>
            <a:r>
              <a:rPr lang="ko-KR" altLang="en-US" sz="13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서로</a:t>
            </a:r>
            <a:r>
              <a:rPr lang="en-US" sz="13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 </a:t>
            </a:r>
            <a:r>
              <a:rPr lang="ko-KR" altLang="en-US" sz="13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다른</a:t>
            </a:r>
            <a:r>
              <a:rPr lang="en-US" sz="13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 </a:t>
            </a:r>
            <a:r>
              <a:rPr lang="ko-KR" altLang="en-US" sz="13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환경에서</a:t>
            </a:r>
            <a:r>
              <a:rPr lang="en-US" sz="13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 </a:t>
            </a:r>
            <a:r>
              <a:rPr lang="ko-KR" altLang="en-US" sz="13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수집된</a:t>
            </a:r>
            <a:r>
              <a:rPr lang="en-US" sz="13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 </a:t>
            </a:r>
            <a:r>
              <a:rPr lang="ko-KR" altLang="en-US" sz="13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데이터셋으로</a:t>
            </a:r>
            <a:r>
              <a:rPr lang="en-US" sz="13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 </a:t>
            </a:r>
            <a:r>
              <a:rPr lang="ko-KR" altLang="en-US" sz="13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학습한</a:t>
            </a:r>
            <a:r>
              <a:rPr lang="en-US" sz="13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 </a:t>
            </a:r>
            <a:r>
              <a:rPr lang="ko-KR" altLang="en-US" sz="1300" b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듀얼</a:t>
            </a:r>
            <a:r>
              <a:rPr lang="en-US" altLang="ko-KR" sz="1300" b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 </a:t>
            </a:r>
            <a:r>
              <a:rPr lang="en-US" altLang="ko-KR" sz="1300" b="1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분류</a:t>
            </a:r>
            <a:r>
              <a:rPr lang="en-US" altLang="ko-KR" sz="1300" b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 </a:t>
            </a:r>
            <a:r>
              <a:rPr lang="ko-KR" altLang="en-US" sz="1300" b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모델</a:t>
            </a:r>
            <a:r>
              <a:rPr lang="en-US" sz="1300" b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 </a:t>
            </a:r>
            <a:r>
              <a:rPr lang="ko-KR" altLang="en-US" sz="13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구조는</a:t>
            </a:r>
            <a:r>
              <a:rPr lang="en-US" sz="13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 </a:t>
            </a:r>
            <a:r>
              <a:rPr lang="ko-KR" altLang="en-US" sz="13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모델 </a:t>
            </a:r>
            <a:r>
              <a:rPr lang="ko-KR" altLang="en-US" sz="1300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드리프트</a:t>
            </a:r>
            <a:r>
              <a:rPr lang="en-US" altLang="ko-KR" sz="13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 </a:t>
            </a:r>
            <a:r>
              <a:rPr lang="en-US" altLang="ko-KR" sz="1300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발생시에도</a:t>
            </a:r>
            <a:r>
              <a:rPr lang="en-US" altLang="ko-KR" sz="13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 </a:t>
            </a:r>
            <a:r>
              <a:rPr lang="en-US" altLang="ko-KR" sz="1300" b="1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높은</a:t>
            </a:r>
            <a:r>
              <a:rPr lang="en-US" altLang="ko-KR" sz="1300" b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 </a:t>
            </a:r>
            <a:r>
              <a:rPr lang="en-US" altLang="ko-KR" sz="1300" b="1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정확도와</a:t>
            </a:r>
            <a:r>
              <a:rPr lang="en-US" altLang="ko-KR" sz="1300" b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 </a:t>
            </a:r>
            <a:r>
              <a:rPr lang="en-US" altLang="ko-KR" sz="1300" b="1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안정적인</a:t>
            </a:r>
            <a:r>
              <a:rPr lang="en-US" altLang="ko-KR" sz="1300" b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 </a:t>
            </a:r>
            <a:r>
              <a:rPr lang="en-US" altLang="ko-KR" sz="1300" b="1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성능을</a:t>
            </a:r>
            <a:r>
              <a:rPr lang="en-US" altLang="ko-KR" sz="1300" b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 </a:t>
            </a:r>
            <a:r>
              <a:rPr lang="en-US" altLang="ko-KR" sz="1300" b="1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유지</a:t>
            </a:r>
            <a:endParaRPr lang="en-US" altLang="ko-KR" sz="1300" b="1">
              <a:solidFill>
                <a:srgbClr val="000000"/>
              </a:solidFill>
              <a:highlight>
                <a:srgbClr val="FFFFFF"/>
              </a:highlight>
              <a:latin typeface="Arial"/>
              <a:ea typeface="Malgun Gothic"/>
              <a:cs typeface="Arial"/>
            </a:endParaRPr>
          </a:p>
          <a:p>
            <a:pPr algn="l">
              <a:lnSpc>
                <a:spcPct val="150000"/>
              </a:lnSpc>
            </a:pPr>
            <a:r>
              <a:rPr lang="en-US" sz="13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- Inception-</a:t>
            </a:r>
            <a:r>
              <a:rPr lang="en-US" sz="1300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ResNet</a:t>
            </a:r>
            <a:r>
              <a:rPr lang="en-US" sz="13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 </a:t>
            </a:r>
            <a:r>
              <a:rPr lang="ko-KR" altLang="en-US" sz="13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구조를</a:t>
            </a:r>
            <a:r>
              <a:rPr lang="en-US" sz="13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 </a:t>
            </a:r>
            <a:r>
              <a:rPr lang="ko-KR" altLang="en-US" sz="13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활용해</a:t>
            </a:r>
            <a:r>
              <a:rPr lang="en-US" sz="13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 </a:t>
            </a:r>
            <a:r>
              <a:rPr lang="en-US" altLang="ko-KR" sz="1300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나사</a:t>
            </a:r>
            <a:r>
              <a:rPr lang="en-US" altLang="ko-KR" sz="13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 </a:t>
            </a:r>
            <a:r>
              <a:rPr lang="en-US" altLang="ko-KR" sz="1300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각도</a:t>
            </a:r>
            <a:r>
              <a:rPr lang="en-US" altLang="ko-KR" sz="13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 </a:t>
            </a:r>
            <a:r>
              <a:rPr lang="en-US" altLang="ko-KR" sz="1300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차이</a:t>
            </a:r>
            <a:r>
              <a:rPr lang="en-US" altLang="ko-KR" sz="13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 등</a:t>
            </a:r>
            <a:r>
              <a:rPr lang="en-US" altLang="ko-KR" sz="1300" b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 </a:t>
            </a:r>
            <a:r>
              <a:rPr lang="en-US" altLang="ko-KR" sz="1300" b="1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미세한</a:t>
            </a:r>
            <a:r>
              <a:rPr lang="en-US" altLang="ko-KR" sz="1300" b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 </a:t>
            </a:r>
            <a:r>
              <a:rPr lang="en-US" altLang="ko-KR" sz="1300" b="1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특징</a:t>
            </a:r>
            <a:r>
              <a:rPr lang="en-US" altLang="ko-KR" sz="1300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도</a:t>
            </a:r>
            <a:r>
              <a:rPr lang="en-US" altLang="ko-KR" sz="13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 </a:t>
            </a:r>
            <a:r>
              <a:rPr lang="en-US" altLang="ko-KR" sz="1300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안정적으로</a:t>
            </a:r>
            <a:r>
              <a:rPr lang="en-US" altLang="ko-KR" sz="13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 </a:t>
            </a:r>
            <a:r>
              <a:rPr lang="en-US" altLang="ko-KR" sz="1300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추출</a:t>
            </a:r>
            <a:r>
              <a:rPr lang="en-US" altLang="ko-KR" sz="13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 </a:t>
            </a:r>
            <a:r>
              <a:rPr lang="en-US" altLang="ko-KR" sz="1300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가능</a:t>
            </a:r>
            <a:endParaRPr lang="en-US" altLang="ko-KR" sz="1300">
              <a:solidFill>
                <a:srgbClr val="000000"/>
              </a:solidFill>
              <a:highlight>
                <a:srgbClr val="FFFFFF"/>
              </a:highlight>
              <a:latin typeface="Arial"/>
              <a:ea typeface="Malgun Gothic"/>
              <a:cs typeface="Arial"/>
            </a:endParaRPr>
          </a:p>
          <a:p>
            <a:pPr algn="l">
              <a:lnSpc>
                <a:spcPct val="150000"/>
              </a:lnSpc>
            </a:pPr>
            <a:r>
              <a:rPr lang="en-US" altLang="ko-KR" sz="13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- </a:t>
            </a:r>
            <a:r>
              <a:rPr lang="ko-KR" sz="13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정확도가 </a:t>
            </a:r>
            <a:r>
              <a:rPr lang="en-US" altLang="ko-KR" sz="13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99.42%</a:t>
            </a:r>
            <a:r>
              <a:rPr lang="ko-KR" sz="13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에서 </a:t>
            </a:r>
            <a:r>
              <a:rPr lang="en-US" altLang="ko-KR" sz="13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99.93%</a:t>
            </a:r>
            <a:r>
              <a:rPr lang="ko-KR" sz="13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로 </a:t>
            </a:r>
            <a:r>
              <a:rPr lang="en-US" altLang="ko-KR" sz="1300" b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0.51% </a:t>
            </a:r>
            <a:r>
              <a:rPr lang="ko-KR" sz="1300" b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향상됨</a:t>
            </a:r>
            <a:r>
              <a:rPr lang="ko-KR" sz="13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에 따라 NG </a:t>
            </a:r>
            <a:r>
              <a:rPr lang="ko-KR" sz="1300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이미지수는</a:t>
            </a:r>
            <a:r>
              <a:rPr lang="ko-KR" sz="13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 326장에서 40장으로 </a:t>
            </a:r>
            <a:r>
              <a:rPr lang="ko-KR" sz="1300" b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약 87.73% 감소</a:t>
            </a:r>
            <a:r>
              <a:rPr lang="ko-KR" sz="13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함.</a:t>
            </a:r>
          </a:p>
          <a:p>
            <a:pPr algn="l">
              <a:lnSpc>
                <a:spcPct val="150000"/>
              </a:lnSpc>
            </a:pPr>
            <a:endParaRPr lang="ko-KR" altLang="en-US" sz="1300">
              <a:solidFill>
                <a:srgbClr val="000000"/>
              </a:solidFill>
              <a:highlight>
                <a:srgbClr val="FFFFFF"/>
              </a:highlight>
              <a:latin typeface="Arial"/>
              <a:ea typeface="Malgun Gothic"/>
              <a:cs typeface="Arial"/>
            </a:endParaRPr>
          </a:p>
          <a:p>
            <a:pPr algn="l">
              <a:lnSpc>
                <a:spcPct val="150000"/>
              </a:lnSpc>
            </a:pPr>
            <a:r>
              <a:rPr lang="en-US" altLang="ko-KR" sz="13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- </a:t>
            </a:r>
            <a:r>
              <a:rPr lang="en-US" altLang="ko-KR" sz="1300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최종적으로</a:t>
            </a:r>
            <a:r>
              <a:rPr lang="en-US" altLang="ko-KR" sz="13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 본 </a:t>
            </a:r>
            <a:r>
              <a:rPr lang="en-US" altLang="ko-KR" sz="1300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연구는</a:t>
            </a:r>
            <a:r>
              <a:rPr lang="en-US" altLang="ko-KR" sz="13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 </a:t>
            </a:r>
            <a:r>
              <a:rPr lang="ko-KR" sz="13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자동차 부품용 나사 공정에서 발생하는 </a:t>
            </a:r>
            <a:r>
              <a:rPr lang="ko-KR" altLang="en-US" sz="13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모델</a:t>
            </a:r>
            <a:r>
              <a:rPr lang="ko-KR" sz="13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 </a:t>
            </a:r>
            <a:r>
              <a:rPr lang="ko-KR" sz="1300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드리프트</a:t>
            </a:r>
            <a:r>
              <a:rPr lang="ko-KR" sz="13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 문제를 해결하기 위해 </a:t>
            </a:r>
            <a:r>
              <a:rPr lang="ko-KR" sz="1300" b="1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Inception-ResNet</a:t>
            </a:r>
            <a:r>
              <a:rPr lang="ko-KR" sz="1300" b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 기반의 듀얼 분류 모델을 적용</a:t>
            </a:r>
            <a:r>
              <a:rPr lang="ko-KR" sz="13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함으로써, 환경 </a:t>
            </a:r>
            <a:r>
              <a:rPr lang="ko-KR" altLang="en-US" sz="13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변화와 미세한 특징에도</a:t>
            </a:r>
            <a:r>
              <a:rPr lang="ko-KR" sz="13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 높은 분류 정확도와 안정성을 유지하며 </a:t>
            </a:r>
            <a:r>
              <a:rPr lang="ko-KR" sz="1300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이종품</a:t>
            </a:r>
            <a:r>
              <a:rPr lang="ko-KR" sz="13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 검출 성능을 효과적으로 </a:t>
            </a:r>
            <a:r>
              <a:rPr lang="ko-KR" altLang="en-US" sz="13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향상시킴</a:t>
            </a:r>
            <a:endParaRPr lang="ko-KR">
              <a:ea typeface="맑은 고딕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88713399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8F7B2-4E9C-3990-CB40-20DEE1216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EEB009EF-C04C-39F4-91DF-8E64561224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12" y="1088974"/>
            <a:ext cx="4060579" cy="330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 marL="241300" indent="-241300">
              <a:lnSpc>
                <a:spcPct val="130000"/>
              </a:lnSpc>
              <a:spcBef>
                <a:spcPts val="600"/>
              </a:spcBef>
            </a:pPr>
            <a:r>
              <a:rPr lang="ko-KR" altLang="en-US" sz="1800" kern="0">
                <a:solidFill>
                  <a:schemeClr val="accent1">
                    <a:lumMod val="75000"/>
                  </a:schemeClr>
                </a:solidFill>
                <a:latin typeface="Corbel"/>
                <a:ea typeface="맑은 고딕"/>
              </a:rPr>
              <a:t>한계점</a:t>
            </a:r>
            <a:endParaRPr lang="ko-KR" altLang="en-US" sz="1800" kern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32668BA-18C6-CF45-4CDD-7ACC85A42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한계점</a:t>
            </a:r>
            <a:r>
              <a:rPr lang="en-US" altLang="ko-KR"/>
              <a:t> </a:t>
            </a:r>
            <a:r>
              <a:rPr lang="ko-KR" altLang="en-US"/>
              <a:t>및 토론 </a:t>
            </a:r>
            <a:r>
              <a:rPr lang="en-US" altLang="ko-KR"/>
              <a:t>(Limitations &amp; Discussions)</a:t>
            </a:r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586E1D-51B1-3A11-0882-4C62FC6EA987}"/>
              </a:ext>
            </a:extLst>
          </p:cNvPr>
          <p:cNvSpPr txBox="1"/>
          <p:nvPr/>
        </p:nvSpPr>
        <p:spPr>
          <a:xfrm>
            <a:off x="441806" y="1569322"/>
            <a:ext cx="8036652" cy="282942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9pPr>
          </a:lstStyle>
          <a:p>
            <a:pPr algn="l">
              <a:lnSpc>
                <a:spcPct val="200000"/>
              </a:lnSpc>
            </a:pPr>
            <a:r>
              <a:rPr lang="en-US" altLang="ko-KR" sz="130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- </a:t>
            </a:r>
            <a:r>
              <a:rPr lang="en-US" altLang="ko-KR" sz="1300" err="1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미리</a:t>
            </a:r>
            <a:r>
              <a:rPr lang="en-US" altLang="ko-KR" sz="130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 </a:t>
            </a:r>
            <a:r>
              <a:rPr lang="en-US" altLang="ko-KR" sz="1300" err="1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학습된</a:t>
            </a:r>
            <a:r>
              <a:rPr lang="en-US" altLang="ko-KR" sz="130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 </a:t>
            </a:r>
            <a:r>
              <a:rPr lang="en-US" altLang="ko-KR" sz="1300" err="1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모델에</a:t>
            </a:r>
            <a:r>
              <a:rPr lang="en-US" altLang="ko-KR" sz="130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 </a:t>
            </a:r>
            <a:r>
              <a:rPr lang="en-US" altLang="ko-KR" sz="1300" err="1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의존</a:t>
            </a:r>
            <a:endParaRPr lang="en-US" altLang="ko-KR" sz="1300">
              <a:solidFill>
                <a:srgbClr val="000000"/>
              </a:solidFill>
              <a:highlight>
                <a:srgbClr val="FFFFFF"/>
              </a:highlight>
              <a:latin typeface="맑은 고딕"/>
              <a:ea typeface="맑은 고딕"/>
              <a:cs typeface="Arial"/>
            </a:endParaRPr>
          </a:p>
          <a:p>
            <a:pPr algn="l">
              <a:lnSpc>
                <a:spcPct val="200000"/>
              </a:lnSpc>
            </a:pPr>
            <a:r>
              <a:rPr lang="en-US" altLang="ko-KR" sz="130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 - </a:t>
            </a:r>
            <a:r>
              <a:rPr lang="en-US" altLang="ko-KR" sz="1300" err="1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두개의</a:t>
            </a:r>
            <a:r>
              <a:rPr lang="en-US" altLang="ko-KR" sz="130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 </a:t>
            </a:r>
            <a:r>
              <a:rPr lang="en-US" altLang="ko-KR" sz="1300" err="1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모델을</a:t>
            </a:r>
            <a:r>
              <a:rPr lang="en-US" altLang="ko-KR" sz="130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 </a:t>
            </a:r>
            <a:r>
              <a:rPr lang="en-US" altLang="ko-KR" sz="1300" err="1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미리</a:t>
            </a:r>
            <a:r>
              <a:rPr lang="en-US" altLang="ko-KR" sz="130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 </a:t>
            </a:r>
            <a:r>
              <a:rPr lang="en-US" altLang="ko-KR" sz="1300" err="1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학습해</a:t>
            </a:r>
            <a:r>
              <a:rPr lang="en-US" altLang="ko-KR" sz="130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 </a:t>
            </a:r>
            <a:r>
              <a:rPr lang="en-US" altLang="ko-KR" sz="1300" err="1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사용하는</a:t>
            </a:r>
            <a:r>
              <a:rPr lang="en-US" altLang="ko-KR" sz="130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 </a:t>
            </a:r>
            <a:r>
              <a:rPr lang="en-US" altLang="ko-KR" sz="1300" err="1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구조이므로</a:t>
            </a:r>
            <a:r>
              <a:rPr lang="en-US" altLang="ko-KR" sz="130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, </a:t>
            </a:r>
            <a:r>
              <a:rPr lang="en-US" altLang="ko-KR" sz="1300" err="1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새로운</a:t>
            </a:r>
            <a:r>
              <a:rPr lang="en-US" altLang="ko-KR" sz="130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 </a:t>
            </a:r>
            <a:r>
              <a:rPr lang="en-US" altLang="ko-KR" sz="1300" err="1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환경</a:t>
            </a:r>
            <a:r>
              <a:rPr lang="en-US" altLang="ko-KR" sz="130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 </a:t>
            </a:r>
            <a:r>
              <a:rPr lang="en-US" altLang="ko-KR" sz="1300" err="1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변화가</a:t>
            </a:r>
            <a:r>
              <a:rPr lang="en-US" altLang="ko-KR" sz="130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 </a:t>
            </a:r>
            <a:r>
              <a:rPr lang="en-US" altLang="ko-KR" sz="1300" err="1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생길때마다</a:t>
            </a:r>
            <a:r>
              <a:rPr lang="en-US" altLang="ko-KR" sz="1300" b="1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 </a:t>
            </a:r>
            <a:r>
              <a:rPr lang="en-US" altLang="ko-KR" sz="1300" b="1" err="1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추가</a:t>
            </a:r>
            <a:r>
              <a:rPr lang="en-US" altLang="ko-KR" sz="1300" b="1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 </a:t>
            </a:r>
            <a:r>
              <a:rPr lang="en-US" altLang="ko-KR" sz="1300" b="1" err="1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학습</a:t>
            </a:r>
            <a:r>
              <a:rPr lang="en-US" altLang="ko-KR" sz="1300" err="1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이</a:t>
            </a:r>
            <a:r>
              <a:rPr lang="en-US" altLang="ko-KR" sz="130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 </a:t>
            </a:r>
            <a:r>
              <a:rPr lang="en-US" altLang="ko-KR" sz="1300" err="1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필요</a:t>
            </a:r>
            <a:endParaRPr lang="en-US" altLang="ko-KR" sz="1300">
              <a:solidFill>
                <a:srgbClr val="000000"/>
              </a:solidFill>
              <a:highlight>
                <a:srgbClr val="FFFFFF"/>
              </a:highlight>
              <a:latin typeface="맑은 고딕"/>
              <a:ea typeface="맑은 고딕"/>
              <a:cs typeface="Arial"/>
            </a:endParaRPr>
          </a:p>
          <a:p>
            <a:pPr algn="l">
              <a:lnSpc>
                <a:spcPct val="200000"/>
              </a:lnSpc>
            </a:pPr>
            <a:r>
              <a:rPr lang="en-US" altLang="ko-KR" sz="130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   - </a:t>
            </a:r>
            <a:r>
              <a:rPr lang="en-US" altLang="ko-KR" sz="1300" b="1" err="1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실시간</a:t>
            </a:r>
            <a:r>
              <a:rPr lang="en-US" altLang="ko-KR" sz="1300" b="1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 </a:t>
            </a:r>
            <a:r>
              <a:rPr lang="en-US" altLang="ko-KR" sz="1300" b="1" err="1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환경</a:t>
            </a:r>
            <a:r>
              <a:rPr lang="en-US" altLang="ko-KR" sz="1300" b="1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 </a:t>
            </a:r>
            <a:r>
              <a:rPr lang="en-US" altLang="ko-KR" sz="1300" b="1" err="1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변화</a:t>
            </a:r>
            <a:r>
              <a:rPr lang="en-US" altLang="ko-KR" sz="1300" err="1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에</a:t>
            </a:r>
            <a:r>
              <a:rPr lang="en-US" altLang="ko-KR" sz="130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 </a:t>
            </a:r>
            <a:r>
              <a:rPr lang="en-US" altLang="ko-KR" sz="1300" err="1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적응하는데</a:t>
            </a:r>
            <a:r>
              <a:rPr lang="en-US" altLang="ko-KR" sz="130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 </a:t>
            </a:r>
            <a:r>
              <a:rPr lang="en-US" altLang="ko-KR" sz="1300" err="1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한계가</a:t>
            </a:r>
            <a:r>
              <a:rPr lang="en-US" altLang="ko-KR" sz="130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 </a:t>
            </a:r>
            <a:r>
              <a:rPr lang="en-US" altLang="ko-KR" sz="1300" err="1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있음</a:t>
            </a:r>
            <a:r>
              <a:rPr lang="en-US" altLang="ko-KR" sz="130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.</a:t>
            </a:r>
          </a:p>
          <a:p>
            <a:pPr algn="l">
              <a:lnSpc>
                <a:spcPct val="200000"/>
              </a:lnSpc>
            </a:pPr>
            <a:endParaRPr lang="en-US" altLang="ko-KR" sz="1300">
              <a:solidFill>
                <a:srgbClr val="000000"/>
              </a:solidFill>
              <a:highlight>
                <a:srgbClr val="FFFFFF"/>
              </a:highlight>
              <a:latin typeface="맑은 고딕"/>
              <a:ea typeface="맑은 고딕"/>
              <a:cs typeface="Arial"/>
            </a:endParaRPr>
          </a:p>
          <a:p>
            <a:pPr algn="l">
              <a:lnSpc>
                <a:spcPct val="200000"/>
              </a:lnSpc>
            </a:pPr>
            <a:r>
              <a:rPr lang="en-US" sz="13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- </a:t>
            </a:r>
            <a:r>
              <a:rPr lang="ko-KR" altLang="en-US" sz="13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모델</a:t>
            </a:r>
            <a:r>
              <a:rPr lang="en-US" sz="13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 </a:t>
            </a:r>
            <a:r>
              <a:rPr lang="ko-KR" altLang="en-US" sz="13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유지</a:t>
            </a:r>
            <a:r>
              <a:rPr lang="en-US" sz="13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 </a:t>
            </a:r>
            <a:r>
              <a:rPr lang="ko-KR" altLang="en-US" sz="13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관리의</a:t>
            </a:r>
            <a:r>
              <a:rPr lang="en-US" sz="13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 </a:t>
            </a:r>
            <a:r>
              <a:rPr lang="ko-KR" altLang="en-US" sz="13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복잡성</a:t>
            </a:r>
          </a:p>
          <a:p>
            <a:pPr algn="l">
              <a:lnSpc>
                <a:spcPct val="200000"/>
              </a:lnSpc>
            </a:pPr>
            <a:r>
              <a:rPr lang="en-US" altLang="ko-KR" sz="13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   - 두 </a:t>
            </a:r>
            <a:r>
              <a:rPr lang="en-US" altLang="ko-KR" sz="1300" err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개의</a:t>
            </a:r>
            <a:r>
              <a:rPr lang="en-US" altLang="ko-KR" sz="13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 </a:t>
            </a:r>
            <a:r>
              <a:rPr lang="en-US" altLang="ko-KR" sz="1300" err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독립된</a:t>
            </a:r>
            <a:r>
              <a:rPr lang="en-US" altLang="ko-KR" sz="13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 </a:t>
            </a:r>
            <a:r>
              <a:rPr lang="en-US" altLang="ko-KR" sz="1300" err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모델을</a:t>
            </a:r>
            <a:r>
              <a:rPr lang="en-US" altLang="ko-KR" sz="13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 </a:t>
            </a:r>
            <a:r>
              <a:rPr lang="en-US" altLang="ko-KR" sz="1300" err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운영하기</a:t>
            </a:r>
            <a:r>
              <a:rPr lang="en-US" altLang="ko-KR" sz="13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 </a:t>
            </a:r>
            <a:r>
              <a:rPr lang="en-US" altLang="ko-KR" sz="1300" err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때문에</a:t>
            </a:r>
            <a:r>
              <a:rPr lang="en-US" altLang="ko-KR" sz="13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 </a:t>
            </a:r>
            <a:r>
              <a:rPr lang="en-US" altLang="ko-KR" sz="1300" err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모델</a:t>
            </a:r>
            <a:r>
              <a:rPr lang="en-US" altLang="ko-KR" sz="13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 </a:t>
            </a:r>
            <a:r>
              <a:rPr lang="en-US" altLang="ko-KR" sz="1300" err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버전</a:t>
            </a:r>
            <a:r>
              <a:rPr lang="en-US" altLang="ko-KR" sz="13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 </a:t>
            </a:r>
            <a:r>
              <a:rPr lang="en-US" altLang="ko-KR" sz="1300" err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업데이트</a:t>
            </a:r>
            <a:r>
              <a:rPr lang="en-US" altLang="ko-KR" sz="13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, </a:t>
            </a:r>
            <a:r>
              <a:rPr lang="en-US" altLang="ko-KR" sz="1300" err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추론</a:t>
            </a:r>
            <a:r>
              <a:rPr lang="en-US" altLang="ko-KR" sz="13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 </a:t>
            </a:r>
            <a:r>
              <a:rPr lang="en-US" altLang="ko-KR" sz="1300" err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시스템</a:t>
            </a:r>
            <a:r>
              <a:rPr lang="en-US" altLang="ko-KR" sz="13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 </a:t>
            </a:r>
            <a:r>
              <a:rPr lang="en-US" altLang="ko-KR" sz="1300" err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구성</a:t>
            </a:r>
            <a:r>
              <a:rPr lang="en-US" altLang="ko-KR" sz="13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 등 </a:t>
            </a:r>
            <a:r>
              <a:rPr lang="en-US" altLang="ko-KR" sz="1300" err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시스템</a:t>
            </a:r>
            <a:r>
              <a:rPr lang="en-US" altLang="ko-KR" sz="13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 </a:t>
            </a:r>
            <a:r>
              <a:rPr lang="en-US" altLang="ko-KR" sz="1300" err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복잡성이</a:t>
            </a:r>
            <a:r>
              <a:rPr lang="en-US" altLang="ko-KR" sz="13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 </a:t>
            </a:r>
            <a:r>
              <a:rPr lang="en-US" altLang="ko-KR" sz="1300" err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증가하면서</a:t>
            </a:r>
            <a:r>
              <a:rPr lang="en-US" altLang="ko-KR" sz="13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 </a:t>
            </a:r>
            <a:r>
              <a:rPr lang="en-US" altLang="ko-KR" sz="1300" b="1" err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운영</a:t>
            </a:r>
            <a:r>
              <a:rPr lang="en-US" altLang="ko-KR" sz="1300" b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 </a:t>
            </a:r>
            <a:r>
              <a:rPr lang="en-US" altLang="ko-KR" sz="1300" b="1" err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비용이</a:t>
            </a:r>
            <a:r>
              <a:rPr lang="en-US" altLang="ko-KR" sz="1300" b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 </a:t>
            </a:r>
            <a:r>
              <a:rPr lang="en-US" altLang="ko-KR" sz="1300" b="1" err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늘어날</a:t>
            </a:r>
            <a:r>
              <a:rPr lang="en-US" altLang="ko-KR" sz="1300" b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 수 </a:t>
            </a:r>
            <a:r>
              <a:rPr lang="en-US" altLang="ko-KR" sz="1300" b="1" err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있음</a:t>
            </a:r>
            <a:r>
              <a:rPr lang="en-US" altLang="ko-KR" sz="1300" b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42009923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15F2B-FB2A-0C0C-920D-1B397085E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ECC8831B-30AA-9DE8-C328-3635A8ACD7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12" y="1088974"/>
            <a:ext cx="4060579" cy="330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 marL="241300" indent="-241300">
              <a:lnSpc>
                <a:spcPct val="130000"/>
              </a:lnSpc>
              <a:spcBef>
                <a:spcPts val="600"/>
              </a:spcBef>
            </a:pPr>
            <a:r>
              <a:rPr lang="ko-KR" altLang="en-US" sz="1800" kern="0">
                <a:solidFill>
                  <a:schemeClr val="accent1">
                    <a:lumMod val="75000"/>
                  </a:schemeClr>
                </a:solidFill>
                <a:latin typeface="Corbel"/>
                <a:ea typeface="맑은 고딕"/>
              </a:rPr>
              <a:t>향후 연구 방향</a:t>
            </a:r>
            <a:endParaRPr lang="en-US" altLang="ko-KR" sz="1800" kern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6200F8-6A1C-B776-8E39-024C95136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향후 연구 방향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8D2FAF-DA27-D8E8-8711-DB093F8CD5D0}"/>
              </a:ext>
            </a:extLst>
          </p:cNvPr>
          <p:cNvSpPr txBox="1"/>
          <p:nvPr/>
        </p:nvSpPr>
        <p:spPr>
          <a:xfrm>
            <a:off x="441806" y="1569322"/>
            <a:ext cx="8036652" cy="3229538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rgbClr val="00C0C0"/>
                </a:solidFill>
                <a:latin typeface="Arial" pitchFamily="34" charset="0"/>
                <a:ea typeface="+mn-ea"/>
                <a:cs typeface="+mn-cs"/>
              </a:defRPr>
            </a:lvl9pPr>
          </a:lstStyle>
          <a:p>
            <a:pPr algn="l">
              <a:lnSpc>
                <a:spcPct val="200000"/>
              </a:lnSpc>
            </a:pPr>
            <a:r>
              <a:rPr lang="en-US" altLang="ko-KR" sz="130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- </a:t>
            </a:r>
            <a:r>
              <a:rPr lang="en-US" altLang="ko-KR" sz="1300" err="1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온라인</a:t>
            </a:r>
            <a:r>
              <a:rPr lang="en-US" altLang="ko-KR" sz="130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 </a:t>
            </a:r>
            <a:r>
              <a:rPr lang="en-US" altLang="ko-KR" sz="1300" err="1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강화</a:t>
            </a:r>
            <a:r>
              <a:rPr lang="en-US" altLang="ko-KR" sz="130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 </a:t>
            </a:r>
            <a:r>
              <a:rPr lang="en-US" altLang="ko-KR" sz="1300" err="1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학습</a:t>
            </a:r>
            <a:r>
              <a:rPr lang="en-US" altLang="ko-KR" sz="130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 </a:t>
            </a:r>
            <a:r>
              <a:rPr lang="en-US" altLang="ko-KR" sz="1300" err="1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기반</a:t>
            </a:r>
            <a:r>
              <a:rPr lang="en-US" altLang="ko-KR" sz="130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 </a:t>
            </a:r>
            <a:r>
              <a:rPr lang="en-US" altLang="ko-KR" sz="1300" err="1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적응형</a:t>
            </a:r>
            <a:r>
              <a:rPr lang="en-US" altLang="ko-KR" sz="130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 </a:t>
            </a:r>
            <a:r>
              <a:rPr lang="en-US" altLang="ko-KR" sz="1300" err="1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분류</a:t>
            </a:r>
            <a:r>
              <a:rPr lang="en-US" altLang="ko-KR" sz="130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 </a:t>
            </a:r>
            <a:r>
              <a:rPr lang="en-US" altLang="ko-KR" sz="1300" err="1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모델</a:t>
            </a:r>
            <a:r>
              <a:rPr lang="en-US" altLang="ko-KR" sz="130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 </a:t>
            </a:r>
            <a:r>
              <a:rPr lang="en-US" altLang="ko-KR" sz="1300" err="1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개발</a:t>
            </a:r>
            <a:endParaRPr lang="en-US" altLang="ko-KR" sz="1300">
              <a:solidFill>
                <a:srgbClr val="000000"/>
              </a:solidFill>
              <a:highlight>
                <a:srgbClr val="FFFFFF"/>
              </a:highlight>
              <a:latin typeface="맑은 고딕"/>
              <a:ea typeface="맑은 고딕"/>
              <a:cs typeface="Arial"/>
            </a:endParaRPr>
          </a:p>
          <a:p>
            <a:pPr algn="l">
              <a:lnSpc>
                <a:spcPct val="200000"/>
              </a:lnSpc>
            </a:pPr>
            <a:r>
              <a:rPr lang="en-US" altLang="ko-KR" sz="130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  - </a:t>
            </a:r>
            <a:r>
              <a:rPr lang="en-US" altLang="ko-KR" sz="1300" err="1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정적인</a:t>
            </a:r>
            <a:r>
              <a:rPr lang="en-US" altLang="ko-KR" sz="130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 </a:t>
            </a:r>
            <a:r>
              <a:rPr lang="en-US" altLang="ko-KR" sz="1300" err="1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모델이</a:t>
            </a:r>
            <a:r>
              <a:rPr lang="en-US" altLang="ko-KR" sz="130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 </a:t>
            </a:r>
            <a:r>
              <a:rPr lang="en-US" altLang="ko-KR" sz="1300" err="1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아니라</a:t>
            </a:r>
            <a:r>
              <a:rPr lang="en-US" altLang="ko-KR" sz="130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 </a:t>
            </a:r>
            <a:r>
              <a:rPr lang="en-US" altLang="ko-KR" sz="1300" err="1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실시간</a:t>
            </a:r>
            <a:r>
              <a:rPr lang="en-US" altLang="ko-KR" sz="130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 </a:t>
            </a:r>
            <a:r>
              <a:rPr lang="en-US" altLang="ko-KR" sz="1300" err="1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공정</a:t>
            </a:r>
            <a:r>
              <a:rPr lang="en-US" altLang="ko-KR" sz="130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 </a:t>
            </a:r>
            <a:r>
              <a:rPr lang="en-US" altLang="ko-KR" sz="1300" err="1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변화에</a:t>
            </a:r>
            <a:r>
              <a:rPr lang="en-US" altLang="ko-KR" sz="130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 </a:t>
            </a:r>
            <a:r>
              <a:rPr lang="en-US" altLang="ko-KR" sz="1300" err="1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적응하는</a:t>
            </a:r>
            <a:r>
              <a:rPr lang="en-US" altLang="ko-KR" sz="130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 </a:t>
            </a:r>
            <a:r>
              <a:rPr lang="en-US" altLang="ko-KR" sz="1300" b="1" err="1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온라인</a:t>
            </a:r>
            <a:r>
              <a:rPr lang="en-US" altLang="ko-KR" sz="1300" b="1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/</a:t>
            </a:r>
            <a:r>
              <a:rPr lang="en-US" altLang="ko-KR" sz="1300" b="1" err="1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지속</a:t>
            </a:r>
            <a:r>
              <a:rPr lang="en-US" altLang="ko-KR" sz="1300" b="1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 </a:t>
            </a:r>
            <a:r>
              <a:rPr lang="en-US" altLang="ko-KR" sz="1300" b="1" err="1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학습</a:t>
            </a:r>
            <a:r>
              <a:rPr lang="en-US" altLang="ko-KR" sz="1300" b="1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 </a:t>
            </a:r>
            <a:r>
              <a:rPr lang="en-US" altLang="ko-KR" sz="1300" b="1" err="1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구조</a:t>
            </a:r>
            <a:r>
              <a:rPr lang="en-US" altLang="ko-KR" sz="1300" b="1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 </a:t>
            </a:r>
            <a:r>
              <a:rPr lang="en-US" altLang="ko-KR" sz="1300" b="1" err="1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설계</a:t>
            </a:r>
            <a:r>
              <a:rPr lang="en-US" altLang="ko-KR" sz="1300" err="1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가</a:t>
            </a:r>
            <a:r>
              <a:rPr lang="en-US" altLang="ko-KR" sz="130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 </a:t>
            </a:r>
            <a:r>
              <a:rPr lang="en-US" altLang="ko-KR" sz="1300" err="1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  <a:cs typeface="Arial"/>
              </a:rPr>
              <a:t>필요</a:t>
            </a:r>
            <a:endParaRPr lang="en-US" altLang="ko-KR" sz="1300">
              <a:solidFill>
                <a:srgbClr val="000000"/>
              </a:solidFill>
              <a:highlight>
                <a:srgbClr val="FFFFFF"/>
              </a:highlight>
              <a:latin typeface="맑은 고딕"/>
              <a:ea typeface="맑은 고딕"/>
              <a:cs typeface="Arial"/>
            </a:endParaRPr>
          </a:p>
          <a:p>
            <a:pPr algn="l">
              <a:lnSpc>
                <a:spcPct val="200000"/>
              </a:lnSpc>
            </a:pPr>
            <a:endParaRPr lang="en-US" altLang="ko-KR" sz="1300">
              <a:solidFill>
                <a:srgbClr val="000000"/>
              </a:solidFill>
              <a:highlight>
                <a:srgbClr val="FFFFFF"/>
              </a:highlight>
              <a:latin typeface="맑은 고딕"/>
              <a:ea typeface="맑은 고딕"/>
              <a:cs typeface="Arial"/>
            </a:endParaRPr>
          </a:p>
          <a:p>
            <a:pPr algn="l">
              <a:lnSpc>
                <a:spcPct val="200000"/>
              </a:lnSpc>
            </a:pPr>
            <a:r>
              <a:rPr lang="en-US" sz="13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- </a:t>
            </a:r>
            <a:r>
              <a:rPr lang="ko-KR" altLang="en-US" sz="13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모델</a:t>
            </a:r>
            <a:r>
              <a:rPr lang="en-US" sz="13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 </a:t>
            </a:r>
            <a:r>
              <a:rPr lang="en-US" sz="1300" err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구조</a:t>
            </a:r>
            <a:r>
              <a:rPr lang="en-US" sz="13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 </a:t>
            </a:r>
            <a:r>
              <a:rPr lang="ko-KR" altLang="en-US" sz="13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최적화</a:t>
            </a:r>
          </a:p>
          <a:p>
            <a:pPr algn="l">
              <a:lnSpc>
                <a:spcPct val="200000"/>
              </a:lnSpc>
            </a:pPr>
            <a:r>
              <a:rPr lang="ko-KR" altLang="en-US" sz="13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   - </a:t>
            </a:r>
            <a:r>
              <a:rPr lang="ko-KR" sz="13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최종</a:t>
            </a:r>
            <a:r>
              <a:rPr lang="ko-KR" altLang="en-US" sz="13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 </a:t>
            </a:r>
            <a:r>
              <a:rPr lang="ko-KR" sz="13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결과 도출 </a:t>
            </a:r>
            <a:r>
              <a:rPr lang="ko-KR" altLang="en-US" sz="13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시 </a:t>
            </a:r>
            <a:r>
              <a:rPr lang="ko-KR" altLang="en-US" sz="1300" b="1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예측 신뢰도를 기반</a:t>
            </a:r>
            <a:r>
              <a:rPr lang="ko-KR" altLang="en-US" sz="13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으로 결과를 좀 더 다양한 조합으로 연구해볼 필요가 있어 보임</a:t>
            </a:r>
          </a:p>
          <a:p>
            <a:pPr algn="l">
              <a:lnSpc>
                <a:spcPct val="200000"/>
              </a:lnSpc>
            </a:pPr>
            <a:r>
              <a:rPr lang="ko-KR" altLang="en-US" sz="13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Arial"/>
              </a:rPr>
              <a:t>   - </a:t>
            </a:r>
            <a:r>
              <a:rPr lang="ko-KR" sz="13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모델 학습 시 </a:t>
            </a:r>
            <a:r>
              <a:rPr lang="ko-KR" altLang="en-US" sz="13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모델별로 </a:t>
            </a:r>
            <a:r>
              <a:rPr lang="ko-KR" altLang="en-US" sz="1300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하이퍼</a:t>
            </a:r>
            <a:r>
              <a:rPr lang="ko-KR" altLang="en-US" sz="13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 파라미터</a:t>
            </a:r>
            <a:r>
              <a:rPr lang="ko-KR" sz="13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 설정을 </a:t>
            </a:r>
            <a:r>
              <a:rPr lang="ko-KR" altLang="en-US" sz="13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다르게 적용하여</a:t>
            </a:r>
            <a:r>
              <a:rPr lang="ko-KR" sz="13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 성능을 </a:t>
            </a:r>
            <a:r>
              <a:rPr lang="ko-KR" sz="1300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비교·분석함으로써</a:t>
            </a:r>
            <a:r>
              <a:rPr lang="ko-KR" sz="13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, 최적의 학습 조건을 도출하고 모델의 </a:t>
            </a:r>
            <a:r>
              <a:rPr lang="ko-KR" sz="1300" b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일반화 성능을 향상</a:t>
            </a:r>
            <a:r>
              <a:rPr lang="ko-KR" sz="13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Malgun Gothic"/>
                <a:cs typeface="Arial"/>
              </a:rPr>
              <a:t>시키는 방향의 연구도 유의미할 것으로 판단</a:t>
            </a:r>
          </a:p>
          <a:p>
            <a:pPr algn="l">
              <a:lnSpc>
                <a:spcPct val="200000"/>
              </a:lnSpc>
            </a:pPr>
            <a:endParaRPr lang="ko-KR" altLang="en-US" sz="1300">
              <a:solidFill>
                <a:srgbClr val="000000"/>
              </a:solidFill>
              <a:highlight>
                <a:srgbClr val="FFFFFF"/>
              </a:highlight>
              <a:latin typeface="Malgun Gothic"/>
              <a:ea typeface="Malgun Gothic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02156685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A7D46-C139-9199-B45A-7A777DE93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098DF2-0FED-0E54-CAA4-04A96F7E0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참고</a:t>
            </a:r>
            <a:r>
              <a:rPr lang="en-US" altLang="ko-KR"/>
              <a:t> </a:t>
            </a:r>
            <a:r>
              <a:rPr lang="ko-KR" altLang="en-US"/>
              <a:t>문헌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BBB39C0-3920-3DAD-648B-9FDF3B3768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971" y="865955"/>
            <a:ext cx="8354367" cy="55050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 marL="358775" indent="-358775">
              <a:lnSpc>
                <a:spcPct val="130000"/>
              </a:lnSpc>
              <a:spcBef>
                <a:spcPts val="600"/>
              </a:spcBef>
              <a:buNone/>
            </a:pPr>
            <a:r>
              <a:rPr lang="en-US" altLang="ko-KR" sz="1300" b="0" kern="0">
                <a:latin typeface="Malgun Gothic"/>
                <a:ea typeface="Malgun Gothic"/>
                <a:cs typeface="Arial"/>
              </a:rPr>
              <a:t>[1] </a:t>
            </a:r>
            <a:r>
              <a:rPr lang="en-US" altLang="ko-KR" sz="1300" b="0" kern="0" err="1">
                <a:latin typeface="Malgun Gothic"/>
                <a:ea typeface="Malgun Gothic"/>
                <a:cs typeface="Arial"/>
              </a:rPr>
              <a:t>위신환</a:t>
            </a:r>
            <a:r>
              <a:rPr lang="en-US" altLang="ko-KR" sz="1300" b="0" kern="0">
                <a:latin typeface="Malgun Gothic"/>
                <a:ea typeface="Malgun Gothic"/>
                <a:cs typeface="Arial"/>
              </a:rPr>
              <a:t>. "</a:t>
            </a:r>
            <a:r>
              <a:rPr lang="ko-KR" altLang="en-US" sz="1300" b="0" kern="0" err="1">
                <a:latin typeface="Malgun Gothic"/>
                <a:ea typeface="Malgun Gothic"/>
                <a:cs typeface="Arial"/>
              </a:rPr>
              <a:t>미래차</a:t>
            </a:r>
            <a:r>
              <a:rPr lang="ko-KR" altLang="en-US" sz="1300" b="0" kern="0">
                <a:latin typeface="Malgun Gothic"/>
                <a:ea typeface="Malgun Gothic"/>
                <a:cs typeface="Arial"/>
              </a:rPr>
              <a:t> 신뢰성 기술 동향과 대응 방향" 한국자동차연구원 (2020)</a:t>
            </a:r>
          </a:p>
          <a:p>
            <a:pPr marL="358775" indent="-358775">
              <a:lnSpc>
                <a:spcPct val="130000"/>
              </a:lnSpc>
              <a:spcBef>
                <a:spcPts val="600"/>
              </a:spcBef>
              <a:buNone/>
            </a:pPr>
            <a:r>
              <a:rPr lang="en-US" altLang="ko-KR" sz="1300" b="0" kern="0">
                <a:latin typeface="Malgun Gothic"/>
                <a:ea typeface="Malgun Gothic"/>
                <a:cs typeface="Arial"/>
              </a:rPr>
              <a:t>[2] </a:t>
            </a:r>
            <a:r>
              <a:rPr lang="ko-KR" altLang="en-US" sz="1300" b="0" kern="0">
                <a:latin typeface="Malgun Gothic"/>
                <a:ea typeface="Malgun Gothic"/>
                <a:cs typeface="Arial"/>
              </a:rPr>
              <a:t>김용민. "자동차 부품 사출제조공정의 </a:t>
            </a:r>
            <a:r>
              <a:rPr lang="en-US" altLang="ko-KR" sz="1300" b="0" kern="0">
                <a:latin typeface="Malgun Gothic"/>
                <a:ea typeface="Malgun Gothic"/>
                <a:cs typeface="Arial"/>
              </a:rPr>
              <a:t>AI </a:t>
            </a:r>
            <a:r>
              <a:rPr lang="ko-KR" altLang="en-US" sz="1300" b="0" kern="0">
                <a:latin typeface="Malgun Gothic"/>
                <a:ea typeface="Malgun Gothic"/>
                <a:cs typeface="Arial"/>
              </a:rPr>
              <a:t>기반 </a:t>
            </a:r>
            <a:r>
              <a:rPr lang="en-US" altLang="ko-KR" sz="1300" b="0" kern="0">
                <a:latin typeface="Malgun Gothic"/>
                <a:ea typeface="Malgun Gothic"/>
                <a:cs typeface="Arial"/>
              </a:rPr>
              <a:t>Vision </a:t>
            </a:r>
            <a:r>
              <a:rPr lang="ko-KR" altLang="en-US" sz="1300" b="0" kern="0" err="1">
                <a:latin typeface="Malgun Gothic"/>
                <a:ea typeface="Malgun Gothic"/>
                <a:cs typeface="Arial"/>
              </a:rPr>
              <a:t>불량검출</a:t>
            </a:r>
            <a:r>
              <a:rPr lang="ko-KR" altLang="en-US" sz="1300" b="0" kern="0">
                <a:latin typeface="Malgun Gothic"/>
                <a:ea typeface="Malgun Gothic"/>
                <a:cs typeface="Arial"/>
              </a:rPr>
              <a:t> 연구" 한국생산제조학회</a:t>
            </a:r>
            <a:r>
              <a:rPr lang="en-US" altLang="ko-KR" sz="1300" b="0" kern="0">
                <a:latin typeface="Malgun Gothic"/>
                <a:ea typeface="Malgun Gothic"/>
                <a:cs typeface="Arial"/>
              </a:rPr>
              <a:t> (2022)</a:t>
            </a:r>
          </a:p>
          <a:p>
            <a:pPr marL="358775" indent="-358775">
              <a:lnSpc>
                <a:spcPct val="130000"/>
              </a:lnSpc>
              <a:spcBef>
                <a:spcPts val="600"/>
              </a:spcBef>
              <a:buNone/>
            </a:pPr>
            <a:r>
              <a:rPr lang="en-US" altLang="ko-KR" sz="1300" b="0" kern="0">
                <a:latin typeface="Malgun Gothic"/>
                <a:ea typeface="Malgun Gothic"/>
                <a:cs typeface="Arial"/>
              </a:rPr>
              <a:t>[3] </a:t>
            </a:r>
            <a:r>
              <a:rPr lang="en-US" altLang="ko-KR" sz="1300" b="0" kern="0" err="1">
                <a:latin typeface="Malgun Gothic"/>
                <a:ea typeface="Malgun Gothic"/>
                <a:cs typeface="Arial"/>
              </a:rPr>
              <a:t>sk</a:t>
            </a:r>
            <a:r>
              <a:rPr lang="en-US" altLang="ko-KR" sz="1300" b="0" kern="0">
                <a:latin typeface="Malgun Gothic"/>
                <a:ea typeface="Malgun Gothic"/>
                <a:cs typeface="Arial"/>
              </a:rPr>
              <a:t> </a:t>
            </a:r>
            <a:r>
              <a:rPr lang="ko-KR" sz="1300" b="0" kern="0">
                <a:latin typeface="Malgun Gothic"/>
                <a:ea typeface="Malgun Gothic"/>
                <a:cs typeface="Arial"/>
              </a:rPr>
              <a:t>주식회사</a:t>
            </a:r>
            <a:r>
              <a:rPr lang="en-US" altLang="ko-KR" sz="1300" b="0" kern="0">
                <a:latin typeface="Malgun Gothic"/>
                <a:ea typeface="Malgun Gothic"/>
                <a:cs typeface="Arial"/>
              </a:rPr>
              <a:t>.</a:t>
            </a:r>
            <a:r>
              <a:rPr lang="ko-KR" sz="1300" b="0" kern="0">
                <a:latin typeface="Malgun Gothic"/>
                <a:ea typeface="Malgun Gothic"/>
                <a:cs typeface="Arial"/>
              </a:rPr>
              <a:t> "</a:t>
            </a:r>
            <a:r>
              <a:rPr lang="ko-KR" altLang="en-US" sz="1300" b="0" kern="0">
                <a:latin typeface="Malgun Gothic"/>
                <a:ea typeface="Malgun Gothic"/>
                <a:cs typeface="Arial"/>
              </a:rPr>
              <a:t>선택이 아닌 필수</a:t>
            </a:r>
            <a:r>
              <a:rPr lang="en-US" altLang="ko-KR" sz="1300" b="0" kern="0">
                <a:latin typeface="Malgun Gothic"/>
                <a:ea typeface="Malgun Gothic"/>
                <a:cs typeface="Arial"/>
              </a:rPr>
              <a:t>, </a:t>
            </a:r>
            <a:r>
              <a:rPr lang="ko-KR" altLang="en-US" sz="1300" b="0" kern="0">
                <a:latin typeface="Malgun Gothic"/>
                <a:ea typeface="Malgun Gothic"/>
                <a:cs typeface="Arial"/>
              </a:rPr>
              <a:t>제조업계의 생성형 </a:t>
            </a:r>
            <a:r>
              <a:rPr lang="en-US" altLang="ko-KR" sz="1300" b="0" kern="0">
                <a:latin typeface="Malgun Gothic"/>
                <a:ea typeface="Malgun Gothic"/>
                <a:cs typeface="Arial"/>
              </a:rPr>
              <a:t>AI </a:t>
            </a:r>
            <a:r>
              <a:rPr lang="ko-KR" altLang="en-US" sz="1300" b="0" kern="0">
                <a:latin typeface="Malgun Gothic"/>
                <a:ea typeface="Malgun Gothic"/>
                <a:cs typeface="Arial"/>
              </a:rPr>
              <a:t>도입 사례 살펴보기"</a:t>
            </a:r>
            <a:r>
              <a:rPr lang="en-US" altLang="ko-KR" sz="1300" b="0" kern="0">
                <a:latin typeface="Malgun Gothic"/>
                <a:ea typeface="Malgun Gothic"/>
                <a:cs typeface="Arial"/>
              </a:rPr>
              <a:t> (2024)</a:t>
            </a:r>
            <a:endParaRPr lang="en-US" sz="1300" b="0" kern="0">
              <a:latin typeface="Malgun Gothic"/>
              <a:ea typeface="Malgun Gothic"/>
              <a:cs typeface="Arial"/>
            </a:endParaRPr>
          </a:p>
          <a:p>
            <a:pPr marL="358775" indent="-358775">
              <a:lnSpc>
                <a:spcPct val="130000"/>
              </a:lnSpc>
              <a:spcBef>
                <a:spcPts val="600"/>
              </a:spcBef>
              <a:buNone/>
            </a:pPr>
            <a:r>
              <a:rPr lang="en-US" sz="1300" b="0" kern="0">
                <a:latin typeface="Malgun Gothic"/>
                <a:ea typeface="Malgun Gothic"/>
                <a:cs typeface="Arial"/>
              </a:rPr>
              <a:t>[4] </a:t>
            </a:r>
            <a:r>
              <a:rPr lang="en-US" sz="1300" b="0" kern="0" err="1">
                <a:latin typeface="Malgun Gothic"/>
                <a:ea typeface="Malgun Gothic"/>
                <a:cs typeface="Arial"/>
              </a:rPr>
              <a:t>Soshi</a:t>
            </a:r>
            <a:r>
              <a:rPr lang="en-US" sz="1300" b="0" kern="0">
                <a:latin typeface="Malgun Gothic"/>
                <a:ea typeface="Malgun Gothic"/>
                <a:cs typeface="Arial"/>
              </a:rPr>
              <a:t> </a:t>
            </a:r>
            <a:r>
              <a:rPr lang="en-US" sz="1300" b="0" kern="0" err="1">
                <a:latin typeface="Malgun Gothic"/>
                <a:ea typeface="Malgun Gothic"/>
                <a:cs typeface="Arial"/>
              </a:rPr>
              <a:t>Oketani</a:t>
            </a:r>
            <a:r>
              <a:rPr lang="en-US" sz="1300" b="0" kern="0">
                <a:latin typeface="Malgun Gothic"/>
                <a:ea typeface="Malgun Gothic"/>
                <a:cs typeface="Arial"/>
              </a:rPr>
              <a:t>.</a:t>
            </a:r>
            <a:r>
              <a:rPr lang="en-US" sz="1300" b="0" kern="0">
                <a:latin typeface="Corbel"/>
                <a:ea typeface="Malgun Gothic"/>
                <a:cs typeface="Arial"/>
              </a:rPr>
              <a:t> "</a:t>
            </a:r>
            <a:r>
              <a:rPr lang="en-US" sz="1300" b="0" kern="0">
                <a:latin typeface="Malgun Gothic"/>
                <a:ea typeface="Malgun Gothic"/>
                <a:cs typeface="Arial"/>
              </a:rPr>
              <a:t>Development of the AI-fact Image Inspection System" Sanken Technical Report vol.56 (2024)</a:t>
            </a:r>
          </a:p>
          <a:p>
            <a:pPr marL="358775" indent="-358775">
              <a:lnSpc>
                <a:spcPct val="130000"/>
              </a:lnSpc>
              <a:spcBef>
                <a:spcPts val="600"/>
              </a:spcBef>
              <a:buNone/>
            </a:pPr>
            <a:r>
              <a:rPr lang="en-US" sz="1300" b="0" kern="0">
                <a:latin typeface="Malgun Gothic"/>
                <a:ea typeface="Malgun Gothic"/>
                <a:cs typeface="Arial"/>
              </a:rPr>
              <a:t>[5] Christian Szegedy, Sergey Ioffe, Vincent </a:t>
            </a:r>
            <a:r>
              <a:rPr lang="en-US" sz="1300" b="0" kern="0" err="1">
                <a:latin typeface="Malgun Gothic"/>
                <a:ea typeface="Malgun Gothic"/>
                <a:cs typeface="Arial"/>
              </a:rPr>
              <a:t>Vanhoucke</a:t>
            </a:r>
            <a:r>
              <a:rPr lang="en-US" sz="1300" b="0" kern="0">
                <a:latin typeface="Malgun Gothic"/>
                <a:ea typeface="Malgun Gothic"/>
                <a:cs typeface="Arial"/>
              </a:rPr>
              <a:t>, Alex Alemi. "Inception-v4, Inception-</a:t>
            </a:r>
            <a:r>
              <a:rPr lang="en-US" sz="1300" b="0" kern="0" err="1">
                <a:latin typeface="Malgun Gothic"/>
                <a:ea typeface="Malgun Gothic"/>
                <a:cs typeface="Arial"/>
              </a:rPr>
              <a:t>ResNet</a:t>
            </a:r>
            <a:r>
              <a:rPr lang="en-US" sz="1300" b="0" kern="0">
                <a:latin typeface="Malgun Gothic"/>
                <a:ea typeface="Malgun Gothic"/>
                <a:cs typeface="Arial"/>
              </a:rPr>
              <a:t> and the Impact of Residual Connections on Learning" AAAI (2016)</a:t>
            </a:r>
          </a:p>
          <a:p>
            <a:pPr marL="358775" indent="-358775">
              <a:lnSpc>
                <a:spcPct val="130000"/>
              </a:lnSpc>
              <a:spcBef>
                <a:spcPts val="600"/>
              </a:spcBef>
              <a:buNone/>
            </a:pPr>
            <a:r>
              <a:rPr lang="en-US" sz="1300" b="0" kern="0">
                <a:latin typeface="Malgun Gothic"/>
                <a:ea typeface="Malgun Gothic"/>
                <a:cs typeface="Arial"/>
              </a:rPr>
              <a:t>[6] </a:t>
            </a:r>
            <a:r>
              <a:rPr lang="ko-KR" altLang="en-US" sz="1300" b="0" kern="0">
                <a:latin typeface="Malgun Gothic"/>
                <a:ea typeface="Malgun Gothic"/>
                <a:cs typeface="Arial"/>
              </a:rPr>
              <a:t>이예은</a:t>
            </a:r>
            <a:r>
              <a:rPr lang="en-US" sz="1300" b="0" kern="0">
                <a:latin typeface="Malgun Gothic"/>
                <a:ea typeface="Malgun Gothic"/>
                <a:cs typeface="Arial"/>
              </a:rPr>
              <a:t>, </a:t>
            </a:r>
            <a:r>
              <a:rPr lang="ko-KR" altLang="en-US" sz="1300" b="0" kern="0">
                <a:latin typeface="Malgun Gothic"/>
                <a:ea typeface="Malgun Gothic"/>
                <a:cs typeface="Arial"/>
              </a:rPr>
              <a:t>이태진.</a:t>
            </a:r>
            <a:r>
              <a:rPr lang="en-US" sz="1300" b="0" kern="0">
                <a:latin typeface="Malgun Gothic"/>
                <a:ea typeface="Malgun Gothic"/>
                <a:cs typeface="Arial"/>
              </a:rPr>
              <a:t> "A Study on Efficient AI Model Drift Detection Methods for </a:t>
            </a:r>
            <a:r>
              <a:rPr lang="en-US" sz="1300" b="0" kern="0" err="1">
                <a:latin typeface="Malgun Gothic"/>
                <a:ea typeface="Malgun Gothic"/>
                <a:cs typeface="Arial"/>
              </a:rPr>
              <a:t>MLOps</a:t>
            </a:r>
            <a:r>
              <a:rPr lang="en-US" sz="1300" b="0" kern="0">
                <a:latin typeface="Malgun Gothic"/>
                <a:ea typeface="Malgun Gothic"/>
                <a:cs typeface="Arial"/>
              </a:rPr>
              <a:t>" KCI (2023)</a:t>
            </a:r>
          </a:p>
          <a:p>
            <a:pPr marL="358775" indent="-358775">
              <a:lnSpc>
                <a:spcPct val="130000"/>
              </a:lnSpc>
              <a:spcBef>
                <a:spcPts val="600"/>
              </a:spcBef>
              <a:buNone/>
            </a:pPr>
            <a:r>
              <a:rPr lang="en-US" sz="1300" b="0" kern="0">
                <a:latin typeface="Malgun Gothic"/>
                <a:ea typeface="Malgun Gothic"/>
                <a:cs typeface="Arial"/>
              </a:rPr>
              <a:t>[7] Alex Mak, Shubham Sahoo, Shivani Pandey, </a:t>
            </a:r>
            <a:r>
              <a:rPr lang="en-US" sz="1300" b="0" kern="0" err="1">
                <a:latin typeface="Malgun Gothic"/>
                <a:ea typeface="Malgun Gothic"/>
                <a:cs typeface="Arial"/>
              </a:rPr>
              <a:t>Yidan</a:t>
            </a:r>
            <a:r>
              <a:rPr lang="en-US" sz="1300" b="0" kern="0">
                <a:latin typeface="Malgun Gothic"/>
                <a:ea typeface="Malgun Gothic"/>
                <a:cs typeface="Arial"/>
              </a:rPr>
              <a:t> Yue, </a:t>
            </a:r>
            <a:r>
              <a:rPr lang="en-US" sz="1300" b="0" kern="0" err="1">
                <a:latin typeface="Malgun Gothic"/>
                <a:ea typeface="Malgun Gothic"/>
                <a:cs typeface="Arial"/>
              </a:rPr>
              <a:t>Linglong</a:t>
            </a:r>
            <a:r>
              <a:rPr lang="en-US" sz="1300" b="0" kern="0">
                <a:latin typeface="Malgun Gothic"/>
                <a:ea typeface="Malgun Gothic"/>
                <a:cs typeface="Arial"/>
              </a:rPr>
              <a:t> Kong. "Statistical </a:t>
            </a:r>
            <a:r>
              <a:rPr lang="en-US" sz="1300" b="0" kern="0" err="1">
                <a:latin typeface="Malgun Gothic"/>
                <a:ea typeface="Malgun Gothic"/>
                <a:cs typeface="Arial"/>
              </a:rPr>
              <a:t>Undersampling</a:t>
            </a:r>
            <a:r>
              <a:rPr lang="en-US" sz="1300" b="0" kern="0">
                <a:latin typeface="Malgun Gothic"/>
                <a:ea typeface="Malgun Gothic"/>
                <a:cs typeface="Arial"/>
              </a:rPr>
              <a:t> with Mutual Information and Support Points" </a:t>
            </a:r>
            <a:r>
              <a:rPr lang="en-US" sz="1300" b="0" kern="0" err="1">
                <a:latin typeface="Malgun Gothic"/>
                <a:ea typeface="Malgun Gothic"/>
                <a:cs typeface="Arial"/>
              </a:rPr>
              <a:t>arXiv</a:t>
            </a:r>
            <a:r>
              <a:rPr lang="en-US" sz="1300" b="0" kern="0">
                <a:latin typeface="Malgun Gothic"/>
                <a:ea typeface="Malgun Gothic"/>
                <a:cs typeface="Arial"/>
              </a:rPr>
              <a:t> (2024)</a:t>
            </a:r>
          </a:p>
          <a:p>
            <a:pPr marL="358775" indent="-358775">
              <a:lnSpc>
                <a:spcPct val="130000"/>
              </a:lnSpc>
              <a:spcBef>
                <a:spcPts val="600"/>
              </a:spcBef>
              <a:buNone/>
            </a:pPr>
            <a:r>
              <a:rPr lang="en-US" sz="1300" b="0" kern="0">
                <a:latin typeface="Malgun Gothic"/>
                <a:ea typeface="Malgun Gothic"/>
                <a:cs typeface="Arial"/>
              </a:rPr>
              <a:t>[8] Amaninder Singh Gill. "Comparison of Explainable AI for Image Classification to Human Perception : A case study of threaded fasteners." </a:t>
            </a:r>
            <a:r>
              <a:rPr lang="en-US" sz="1300" b="0" i="1" kern="0">
                <a:latin typeface="Malgun Gothic"/>
                <a:ea typeface="Malgun Gothic"/>
                <a:cs typeface="Arial"/>
              </a:rPr>
              <a:t>IMECE </a:t>
            </a:r>
            <a:r>
              <a:rPr lang="en-US" sz="1300" b="0" kern="0">
                <a:latin typeface="Malgun Gothic"/>
                <a:ea typeface="Malgun Gothic"/>
                <a:cs typeface="Arial"/>
              </a:rPr>
              <a:t>2024-146133 (2024)</a:t>
            </a:r>
          </a:p>
          <a:p>
            <a:pPr marL="358775" indent="-358775">
              <a:lnSpc>
                <a:spcPct val="130000"/>
              </a:lnSpc>
              <a:spcBef>
                <a:spcPts val="600"/>
              </a:spcBef>
              <a:buNone/>
            </a:pPr>
            <a:r>
              <a:rPr lang="en-US" sz="1300" b="0" kern="0">
                <a:latin typeface="Malgun Gothic"/>
                <a:ea typeface="Malgun Gothic"/>
                <a:cs typeface="Arial"/>
              </a:rPr>
              <a:t>[9] </a:t>
            </a:r>
            <a:r>
              <a:rPr lang="en-US" sz="1300" b="0" kern="0" err="1">
                <a:latin typeface="Malgun Gothic"/>
                <a:ea typeface="Malgun Gothic"/>
                <a:cs typeface="Arial"/>
              </a:rPr>
              <a:t>Xianyou</a:t>
            </a:r>
            <a:r>
              <a:rPr lang="en-US" sz="1300" b="0" kern="0">
                <a:latin typeface="Malgun Gothic"/>
                <a:ea typeface="Malgun Gothic"/>
                <a:cs typeface="Arial"/>
              </a:rPr>
              <a:t> Li, Shun Wang, and Ke Xu. "Automatic Measurement of External Thread at the End of Sucker Rod Based on Machine Vision." </a:t>
            </a:r>
            <a:r>
              <a:rPr lang="en-US" sz="1300" b="0" i="1" kern="0">
                <a:latin typeface="Malgun Gothic"/>
                <a:ea typeface="Malgun Gothic"/>
                <a:cs typeface="Arial"/>
              </a:rPr>
              <a:t>MDPI </a:t>
            </a:r>
            <a:r>
              <a:rPr lang="en-US" sz="1300" b="0" kern="0">
                <a:latin typeface="Malgun Gothic"/>
                <a:ea typeface="Malgun Gothic"/>
                <a:cs typeface="Arial"/>
              </a:rPr>
              <a:t>10.3390 (2022)</a:t>
            </a:r>
          </a:p>
          <a:p>
            <a:pPr marL="358775" indent="-358775">
              <a:lnSpc>
                <a:spcPct val="130000"/>
              </a:lnSpc>
              <a:spcBef>
                <a:spcPts val="600"/>
              </a:spcBef>
              <a:buNone/>
            </a:pPr>
            <a:r>
              <a:rPr lang="en-US" sz="1300" b="0" kern="0">
                <a:latin typeface="Malgun Gothic"/>
                <a:ea typeface="Malgun Gothic"/>
                <a:cs typeface="Arial"/>
              </a:rPr>
              <a:t>[10] Peng </a:t>
            </a:r>
            <a:r>
              <a:rPr lang="en-US" sz="1300" b="0" kern="0" err="1">
                <a:latin typeface="Malgun Gothic"/>
                <a:ea typeface="Malgun Gothic"/>
                <a:cs typeface="Arial"/>
              </a:rPr>
              <a:t>Erbao</a:t>
            </a:r>
            <a:r>
              <a:rPr lang="en-US" sz="1300" b="0" kern="0">
                <a:latin typeface="Malgun Gothic"/>
                <a:ea typeface="Malgun Gothic"/>
                <a:cs typeface="Arial"/>
              </a:rPr>
              <a:t>, and Zhang </a:t>
            </a:r>
            <a:r>
              <a:rPr lang="en-US" sz="1300" b="0" kern="0" err="1">
                <a:latin typeface="Malgun Gothic"/>
                <a:ea typeface="Malgun Gothic"/>
                <a:cs typeface="Arial"/>
              </a:rPr>
              <a:t>Guotong</a:t>
            </a:r>
            <a:r>
              <a:rPr lang="en-US" sz="1300" b="0" kern="0">
                <a:latin typeface="Malgun Gothic"/>
                <a:ea typeface="Malgun Gothic"/>
                <a:cs typeface="Arial"/>
              </a:rPr>
              <a:t>. "Image Processing Technology Research of On-Line Thread Processing." </a:t>
            </a:r>
            <a:r>
              <a:rPr lang="en-US" sz="1300" b="0" i="1" kern="0">
                <a:latin typeface="Malgun Gothic"/>
                <a:ea typeface="Malgun Gothic"/>
                <a:cs typeface="Arial"/>
              </a:rPr>
              <a:t>Energy Procedia </a:t>
            </a:r>
            <a:r>
              <a:rPr lang="en-US" sz="1300" b="0" kern="0">
                <a:latin typeface="Malgun Gothic"/>
                <a:ea typeface="Malgun Gothic"/>
                <a:cs typeface="Arial"/>
              </a:rPr>
              <a:t>1048-1415 (2012)</a:t>
            </a:r>
          </a:p>
          <a:p>
            <a:pPr marL="358775" indent="-358775">
              <a:lnSpc>
                <a:spcPct val="130000"/>
              </a:lnSpc>
              <a:spcBef>
                <a:spcPts val="600"/>
              </a:spcBef>
              <a:buNone/>
            </a:pPr>
            <a:r>
              <a:rPr lang="en-US" sz="1300" b="0" kern="0">
                <a:latin typeface="Malgun Gothic"/>
                <a:ea typeface="Malgun Gothic"/>
                <a:cs typeface="Arial"/>
              </a:rPr>
              <a:t>[11] Jianming Zhang; </a:t>
            </a:r>
            <a:r>
              <a:rPr lang="en-US" sz="1300" b="0" kern="0" err="1">
                <a:latin typeface="Malgun Gothic"/>
                <a:ea typeface="Malgun Gothic"/>
                <a:cs typeface="Arial"/>
              </a:rPr>
              <a:t>Xiaokang</a:t>
            </a:r>
            <a:r>
              <a:rPr lang="en-US" sz="1300" b="0" kern="0">
                <a:latin typeface="Malgun Gothic"/>
                <a:ea typeface="Malgun Gothic"/>
                <a:cs typeface="Arial"/>
              </a:rPr>
              <a:t> Jin; Juan Sun; Jin Wang; Keqin Li "Dual Model Learning Combined With Multiple Feature Selection for Accurate Visual </a:t>
            </a:r>
            <a:r>
              <a:rPr lang="en-US" sz="1300" b="0" kern="0" err="1">
                <a:latin typeface="Malgun Gothic"/>
                <a:ea typeface="Malgun Gothic"/>
                <a:cs typeface="Arial"/>
              </a:rPr>
              <a:t>Tracking“IEEE</a:t>
            </a:r>
            <a:r>
              <a:rPr lang="en-US" sz="1300" b="0" kern="0">
                <a:latin typeface="Malgun Gothic"/>
                <a:ea typeface="Malgun Gothic"/>
                <a:cs typeface="Arial"/>
              </a:rPr>
              <a:t> Access 10.1109/ACCESS.2019.2908668 (2019)</a:t>
            </a:r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1788113435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9951C254-D3FE-4F55-B884-40C49A86022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34" b="31683"/>
          <a:stretch/>
        </p:blipFill>
        <p:spPr>
          <a:xfrm>
            <a:off x="7452032" y="6399033"/>
            <a:ext cx="1444806" cy="26736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A742296-B25A-27A7-7E69-7939DB0BA19F}"/>
              </a:ext>
            </a:extLst>
          </p:cNvPr>
          <p:cNvSpPr txBox="1"/>
          <p:nvPr/>
        </p:nvSpPr>
        <p:spPr>
          <a:xfrm>
            <a:off x="1016960" y="2078985"/>
            <a:ext cx="7110079" cy="2133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100" marR="0" indent="0" algn="ctr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5400" b="1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감사합니다</a:t>
            </a:r>
            <a:endParaRPr lang="en-US" altLang="ko-KR" sz="5400" b="1">
              <a:solidFill>
                <a:srgbClr val="00206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  <a:p>
            <a:pPr marL="38100" marR="0" indent="0" algn="ctr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5400" b="1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Q&amp;A</a:t>
            </a:r>
            <a:endParaRPr lang="ko-KR" altLang="en-US" sz="5400" b="1">
              <a:solidFill>
                <a:srgbClr val="00206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093233912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1_Default Design">
  <a:themeElements>
    <a:clrScheme name="파랑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 2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rgbClr val="00C0C0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rgbClr val="00C0C0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37121"/>
        </a:accent1>
        <a:accent2>
          <a:srgbClr val="FFBC17"/>
        </a:accent2>
        <a:accent3>
          <a:srgbClr val="FFFFFF"/>
        </a:accent3>
        <a:accent4>
          <a:srgbClr val="000000"/>
        </a:accent4>
        <a:accent5>
          <a:srgbClr val="F8BBAB"/>
        </a:accent5>
        <a:accent6>
          <a:srgbClr val="E7AA14"/>
        </a:accent6>
        <a:hlink>
          <a:srgbClr val="0CA8CA"/>
        </a:hlink>
        <a:folHlink>
          <a:srgbClr val="B9D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37121"/>
        </a:accent1>
        <a:accent2>
          <a:srgbClr val="FFBC17"/>
        </a:accent2>
        <a:accent3>
          <a:srgbClr val="FFFFFF"/>
        </a:accent3>
        <a:accent4>
          <a:srgbClr val="000000"/>
        </a:accent4>
        <a:accent5>
          <a:srgbClr val="F8BBAB"/>
        </a:accent5>
        <a:accent6>
          <a:srgbClr val="E7AA14"/>
        </a:accent6>
        <a:hlink>
          <a:srgbClr val="0CA8CA"/>
        </a:hlink>
        <a:folHlink>
          <a:srgbClr val="B1A79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Default Design">
  <a:themeElements>
    <a:clrScheme name="파랑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 2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rgbClr val="00C0C0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rgbClr val="00C0C0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37121"/>
        </a:accent1>
        <a:accent2>
          <a:srgbClr val="FFBC17"/>
        </a:accent2>
        <a:accent3>
          <a:srgbClr val="FFFFFF"/>
        </a:accent3>
        <a:accent4>
          <a:srgbClr val="000000"/>
        </a:accent4>
        <a:accent5>
          <a:srgbClr val="F8BBAB"/>
        </a:accent5>
        <a:accent6>
          <a:srgbClr val="E7AA14"/>
        </a:accent6>
        <a:hlink>
          <a:srgbClr val="0CA8CA"/>
        </a:hlink>
        <a:folHlink>
          <a:srgbClr val="B9D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37121"/>
        </a:accent1>
        <a:accent2>
          <a:srgbClr val="FFBC17"/>
        </a:accent2>
        <a:accent3>
          <a:srgbClr val="FFFFFF"/>
        </a:accent3>
        <a:accent4>
          <a:srgbClr val="000000"/>
        </a:accent4>
        <a:accent5>
          <a:srgbClr val="F8BBAB"/>
        </a:accent5>
        <a:accent6>
          <a:srgbClr val="E7AA14"/>
        </a:accent6>
        <a:hlink>
          <a:srgbClr val="0CA8CA"/>
        </a:hlink>
        <a:folHlink>
          <a:srgbClr val="B1A79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Macintosh HD:Applications:Microsoft Office 2004:Templates:Presentations:Designs:Calm Seas</Template>
  <TotalTime>1</TotalTime>
  <Words>1265</Words>
  <Application>Microsoft Office PowerPoint</Application>
  <PresentationFormat>화면 슬라이드 쇼(4:3)</PresentationFormat>
  <Paragraphs>352</Paragraphs>
  <Slides>19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19</vt:i4>
      </vt:variant>
    </vt:vector>
  </HeadingPairs>
  <TitlesOfParts>
    <vt:vector size="32" baseType="lpstr">
      <vt:lpstr>Wingdings,Sans-Serif</vt:lpstr>
      <vt:lpstr>굴림</vt:lpstr>
      <vt:lpstr>나눔고딕 ExtraBold</vt:lpstr>
      <vt:lpstr>맑은 고딕</vt:lpstr>
      <vt:lpstr>맑은 고딕</vt:lpstr>
      <vt:lpstr>Arial</vt:lpstr>
      <vt:lpstr>Calibri</vt:lpstr>
      <vt:lpstr>Cambria</vt:lpstr>
      <vt:lpstr>Corbel</vt:lpstr>
      <vt:lpstr>Times New Roman</vt:lpstr>
      <vt:lpstr>Wingdings</vt:lpstr>
      <vt:lpstr>1_Default Design</vt:lpstr>
      <vt:lpstr>2_Default Design</vt:lpstr>
      <vt:lpstr>PowerPoint 프레젠테이션</vt:lpstr>
      <vt:lpstr>목차</vt:lpstr>
      <vt:lpstr>목차</vt:lpstr>
      <vt:lpstr>프로젝트 #2 개요</vt:lpstr>
      <vt:lpstr>서론 (Introduction)</vt:lpstr>
      <vt:lpstr>서론 (Introduction)</vt:lpstr>
      <vt:lpstr>방법 및 구현 (Methodology &amp; Implementation)</vt:lpstr>
      <vt:lpstr>방법 및 구현 (Methodology &amp; Implementation)</vt:lpstr>
      <vt:lpstr>방법 및 구현 (Methodology &amp; Implementation)</vt:lpstr>
      <vt:lpstr>방법 및 구현 (Methodology &amp; Implementation)</vt:lpstr>
      <vt:lpstr>실험 구성 및 평가 방법 (Experiment Settings) </vt:lpstr>
      <vt:lpstr>실험 구성 및 평가 방법 (Experiment Settings) </vt:lpstr>
      <vt:lpstr>결과 및 분석 (Results &amp; Analysis)</vt:lpstr>
      <vt:lpstr>결과 및 분석 (Results &amp; Analysis)</vt:lpstr>
      <vt:lpstr>결과 및 분석 (Results &amp; Analysis)</vt:lpstr>
      <vt:lpstr>한계점 및 토론 (Limitations &amp; Discussions)</vt:lpstr>
      <vt:lpstr>향후 연구 방향</vt:lpstr>
      <vt:lpstr>참고 문헌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이광연</dc:creator>
  <cp:lastModifiedBy>user</cp:lastModifiedBy>
  <cp:revision>10</cp:revision>
  <cp:lastPrinted>2023-01-25T05:07:50Z</cp:lastPrinted>
  <dcterms:created xsi:type="dcterms:W3CDTF">2004-08-18T11:28:05Z</dcterms:created>
  <dcterms:modified xsi:type="dcterms:W3CDTF">2025-06-16T14:16:47Z</dcterms:modified>
</cp:coreProperties>
</file>